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889d3a6b6044ccc" /><Relationship Type="http://schemas.openxmlformats.org/officeDocument/2006/relationships/extended-properties" Target="/docProps/app.xml" Id="R6e8fbe5aa4384256" /><Relationship Type="http://schemas.openxmlformats.org/officeDocument/2006/relationships/officeDocument" Target="/ppt/presentation.xml" Id="Rfc440126298b41f4" /></Relationships>
</file>

<file path=ppt/presentation.xml><?xml version="1.0" encoding="utf-8"?>
<p:presentation xmlns:p="http://schemas.openxmlformats.org/presentationml/2006/main">
  <p:sldMasterIdLst>
    <p:sldMasterId xmlns:r="http://schemas.openxmlformats.org/officeDocument/2006/relationships" id="2147483648" r:id="R2e33d7ed1dd44e87"/>
  </p:sldMasterIdLst>
  <p:notesMasterIdLst>
    <p:notesMasterId xmlns:r="http://schemas.openxmlformats.org/officeDocument/2006/relationships" r:id="R368ee1d340d749ab"/>
  </p:notesMasterIdLst>
  <p:sldIdLst>
    <p:sldId xmlns:r="http://schemas.openxmlformats.org/officeDocument/2006/relationships" id="256" r:id="Rae3c9deb2f524950"/>
    <p:sldId xmlns:r="http://schemas.openxmlformats.org/officeDocument/2006/relationships" id="257" r:id="Ra62f8a7673ba48ec"/>
    <p:sldId xmlns:r="http://schemas.openxmlformats.org/officeDocument/2006/relationships" id="258" r:id="R4229ac9707db4082"/>
    <p:sldId xmlns:r="http://schemas.openxmlformats.org/officeDocument/2006/relationships" id="259" r:id="R9bf0c03bb62145a6"/>
    <p:sldId xmlns:r="http://schemas.openxmlformats.org/officeDocument/2006/relationships" id="260" r:id="R9533d5beabbd4bb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1adf4c460f24165" /><Relationship Type="http://schemas.openxmlformats.org/officeDocument/2006/relationships/slideMaster" Target="/ppt/slideMasters/slideMaster1.xml" Id="R2e33d7ed1dd44e87" /><Relationship Type="http://schemas.openxmlformats.org/officeDocument/2006/relationships/notesMaster" Target="/ppt/notesMasters/notesMaster1.xml" Id="R368ee1d340d749ab" /><Relationship Type="http://schemas.openxmlformats.org/officeDocument/2006/relationships/presProps" Target="/ppt/presProps.xml" Id="R6a9c6343c90e4416" /><Relationship Type="http://schemas.openxmlformats.org/officeDocument/2006/relationships/tableStyles" Target="/ppt/tableStyles.xml" Id="Rd314f2847cb1403a" /><Relationship Type="http://schemas.openxmlformats.org/officeDocument/2006/relationships/slide" Target="/ppt/slides/slide1.xml" Id="Rae3c9deb2f524950" /><Relationship Type="http://schemas.openxmlformats.org/officeDocument/2006/relationships/slide" Target="/ppt/slides/slide2.xml" Id="Ra62f8a7673ba48ec" /><Relationship Type="http://schemas.openxmlformats.org/officeDocument/2006/relationships/slide" Target="/ppt/slides/slide3.xml" Id="R4229ac9707db4082" /><Relationship Type="http://schemas.openxmlformats.org/officeDocument/2006/relationships/slide" Target="/ppt/slides/slide4.xml" Id="R9bf0c03bb62145a6" /><Relationship Type="http://schemas.openxmlformats.org/officeDocument/2006/relationships/slide" Target="/ppt/slides/slide5.xml" Id="R9533d5beabbd4bb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73601e446a4e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85e4ce90c244cc" /><Relationship Type="http://schemas.openxmlformats.org/officeDocument/2006/relationships/notesMaster" Target="/ppt/notesMasters/notesMaster1.xml" Id="R6c6e3e35a11846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c3572bf32e4287" /><Relationship Type="http://schemas.openxmlformats.org/officeDocument/2006/relationships/notesMaster" Target="/ppt/notesMasters/notesMaster1.xml" Id="Rc0d7696db34446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27a156c044c46c6" /><Relationship Type="http://schemas.openxmlformats.org/officeDocument/2006/relationships/notesMaster" Target="/ppt/notesMasters/notesMaster1.xml" Id="R31d7c9a625ac49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68f4ca33ff4ea6" /><Relationship Type="http://schemas.openxmlformats.org/officeDocument/2006/relationships/notesMaster" Target="/ppt/notesMasters/notesMaster1.xml" Id="R895f8bed586246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ef8b4a5caf84d6a" /><Relationship Type="http://schemas.openxmlformats.org/officeDocument/2006/relationships/notesMaster" Target="/ppt/notesMasters/notesMaster1.xml" Id="R06028189ee75423d"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Cedarbridge Bank is a fictional customer. The target user is an operations analyst, with a policy triage lead reviewing recommendations. The example policies cover AI use, vendor intake and review procedure. Sources: documents/01_ai_use_policy.md, documents/02_vendor_intake_policy.md and documents/03_review_procedure.md.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 proposed pilot would compare manual and assisted handling time on representative policy questions, alongside evidence relevance, queue accuracy and reviewer overrides. These are proposed measures; customer savings have not been measured. Policy ownership, approval roles and authoritative document versions would be agreed before a pilot.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n8n handles the request and review forms. The Python API exposes /retrieve, /propose, /decisions, /cases and /audit. Retrieval uses heading-based chunks and BM25 top-4 ranking. The model selects one to three evidence IDs and a queue. The API validates those selections and renders the original excerpts. BM25 is a simple fit for the small policy corpus; broader vocabulary and a larger collection would require additional retrieval evaluation.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The model can select a real but irrelevant citation. Source-ID and queue checks establish provenance, while the reviewer assesses relevance. The demo records a self-declared reviewer name and does not enforce separation of duties. SQLite audit records persist but are mutable. Production would require authenticated reviewers, document access controls and protected audit storage. Approval creates a review case without granting a policy exception.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Application results: evidence/automated-tests.txt, 27/27 tests recorded September 11, including Windows CRLF source handling and changed-file blocking. These tests use fixed model responses. Live results: evidence/live-evaluation.json, 10/10 checks recorded September 10 with OpenAI gpt-5.6-sol, covering four supported scenarios and six abstentions. The live runner evaluates evidence selection and routing; it does not create cases. Separate n8n screenshots show case creation after approval, rejection without a case, and insufficient evidence blocked on approval. The live results predate the hashing correction. The small evaluation set does not establish general accuracy.</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2096332b79e45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94376f060c4f30" /><Relationship Type="http://schemas.openxmlformats.org/officeDocument/2006/relationships/slideLayout" Target="/ppt/slideLayouts/slideLayout1.xml" Id="R0cc174be735c4d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c174be735c4d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8c48e7fdfe74b33" /><Relationship Type="http://schemas.openxmlformats.org/officeDocument/2006/relationships/notesSlide" Target="/ppt/notesSlides/notesSlide1.xml" Id="R02d8a92f20a045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525f3c82a7e4ce2" /><Relationship Type="http://schemas.openxmlformats.org/officeDocument/2006/relationships/notesSlide" Target="/ppt/notesSlides/notesSlide2.xml" Id="Rd5ffed3590ac45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59296fb27a242e9" /><Relationship Type="http://schemas.openxmlformats.org/officeDocument/2006/relationships/notesSlide" Target="/ppt/notesSlides/notesSlide3.xml" Id="R6adf810f71be45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379836105024f1d" /><Relationship Type="http://schemas.openxmlformats.org/officeDocument/2006/relationships/notesSlide" Target="/ppt/notesSlides/notesSlide4.xml" Id="Rac964b09660542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ecabdfe1ae0470e" /><Relationship Type="http://schemas.openxmlformats.org/officeDocument/2006/relationships/notesSlide" Target="/ppt/notesSlides/notesSlide5.xml" Id="Rbb4d38a050634a67" /></Relationships>
</file>

<file path=ppt/slides/slide1.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0759041-DA33-4C95-903F-724148CE4F4A}"/>
              </a:ext>
            </a:extLst>
          </p:cNvPr>
          <p:cNvSpPr>
            <a:spLocks xmlns:a="http://schemas.openxmlformats.org/drawingml/2006/main" noGrp="1"/>
          </p:cNvSpPr>
          <p:nvPr/>
        </p:nvSpPr>
        <p:spPr>
          <a:xfrm xmlns:a="http://schemas.openxmlformats.org/drawingml/2006/main">
            <a:off x="609600" y="514350"/>
            <a:ext cx="95250" cy="523875"/>
          </a:xfrm>
          <a:prstGeom xmlns:a="http://schemas.openxmlformats.org/drawingml/2006/main" prst="rect">
            <a:avLst/>
          </a:prstGeom>
          <a:solidFill xmlns:a="http://schemas.openxmlformats.org/drawingml/2006/main">
            <a:srgbClr val="047A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9AF6BA-3A60-4E2C-98A8-C505F87A292A}"/>
              </a:ext>
            </a:extLst>
          </p:cNvPr>
          <p:cNvSpPr>
            <a:spLocks xmlns:a="http://schemas.openxmlformats.org/drawingml/2006/main" noGrp="1"/>
          </p:cNvSpPr>
          <p:nvPr/>
        </p:nvSpPr>
        <p:spPr>
          <a:xfrm xmlns:a="http://schemas.openxmlformats.org/drawingml/2006/main">
            <a:off x="914400" y="4953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142B38"/>
                </a:solidFill>
                <a:latin typeface="Bitstream Charter"/>
                <a:ea typeface="Bitstream Charter"/>
                <a:cs typeface="Bitstream Charter"/>
              </a:defRPr>
            </a:pPr>
            <a:r>
              <a:rPr sz="3000" b="1">
                <a:solidFill>
                  <a:srgbClr val="142B38"/>
                </a:solidFill>
                <a:latin typeface="Bitstream Charter"/>
                <a:ea typeface="Bitstream Charter"/>
                <a:cs typeface="Bitstream Charter"/>
              </a:rPr>
              <a:t>Policy answers that lead to a reviewed action</a:t>
            </a:r>
          </a:p>
        </p:txBody>
      </p:sp>
      <p:sp>
        <p:nvSpPr>
          <p:cNvPr id="3" name="">
            <a:extLst xmlns:a="http://schemas.openxmlformats.org/drawingml/2006/main">
              <a:ext uri="{FF2B5EF4-FFF2-40B4-BE49-F238E27FC236}">
                <a16:creationId xmlns:a16="http://schemas.microsoft.com/office/drawing/2014/main" id="{35E8DC3D-1A46-43F7-8320-809517368290}"/>
              </a:ext>
            </a:extLst>
          </p:cNvPr>
          <p:cNvSpPr>
            <a:spLocks xmlns:a="http://schemas.openxmlformats.org/drawingml/2006/main" noGrp="1"/>
          </p:cNvSpPr>
          <p:nvPr/>
        </p:nvSpPr>
        <p:spPr>
          <a:xfrm xmlns:a="http://schemas.openxmlformats.org/drawingml/2006/main">
            <a:off x="914400" y="16383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42B38"/>
                </a:solidFill>
                <a:latin typeface="Bitstream Charter"/>
                <a:ea typeface="Bitstream Charter"/>
                <a:cs typeface="Bitstream Charter"/>
              </a:defRPr>
            </a:pPr>
            <a:r>
              <a:rPr sz="4050" b="1">
                <a:solidFill>
                  <a:srgbClr val="142B38"/>
                </a:solidFill>
                <a:latin typeface="Bitstream Charter"/>
                <a:ea typeface="Bitstream Charter"/>
                <a:cs typeface="Bitstream Charter"/>
              </a:rPr>
              <a:t>Cedarbridge Bank</a:t>
            </a:r>
          </a:p>
        </p:txBody>
      </p:sp>
      <p:sp>
        <p:nvSpPr>
          <p:cNvPr id="4" name="">
            <a:extLst xmlns:a="http://schemas.openxmlformats.org/drawingml/2006/main">
              <a:ext uri="{FF2B5EF4-FFF2-40B4-BE49-F238E27FC236}">
                <a16:creationId xmlns:a16="http://schemas.microsoft.com/office/drawing/2014/main" id="{4058ED4D-05CB-4287-B421-C26FE54D95B0}"/>
              </a:ext>
            </a:extLst>
          </p:cNvPr>
          <p:cNvSpPr>
            <a:spLocks xmlns:a="http://schemas.openxmlformats.org/drawingml/2006/main" noGrp="1"/>
          </p:cNvSpPr>
          <p:nvPr/>
        </p:nvSpPr>
        <p:spPr>
          <a:xfrm xmlns:a="http://schemas.openxmlformats.org/drawingml/2006/main">
            <a:off x="933450" y="2409825"/>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06673"/>
                </a:solidFill>
                <a:latin typeface="Bitstream Charter"/>
                <a:ea typeface="Bitstream Charter"/>
                <a:cs typeface="Bitstream Charter"/>
              </a:defRPr>
            </a:pPr>
            <a:r>
              <a:rPr sz="1800" b="0">
                <a:solidFill>
                  <a:srgbClr val="506673"/>
                </a:solidFill>
                <a:latin typeface="Bitstream Charter"/>
                <a:ea typeface="Bitstream Charter"/>
                <a:cs typeface="Bitstream Charter"/>
              </a:rPr>
              <a:t>A fictional financial-services customer</a:t>
            </a:r>
          </a:p>
        </p:txBody>
      </p:sp>
      <p:sp>
        <p:nvSpPr>
          <p:cNvPr id="5" name="">
            <a:extLst xmlns:a="http://schemas.openxmlformats.org/drawingml/2006/main">
              <a:ext uri="{FF2B5EF4-FFF2-40B4-BE49-F238E27FC236}">
                <a16:creationId xmlns:a16="http://schemas.microsoft.com/office/drawing/2014/main" id="{DD4CA23B-A836-4EC5-BD0B-559D4259091E}"/>
              </a:ext>
            </a:extLst>
          </p:cNvPr>
          <p:cNvSpPr>
            <a:spLocks xmlns:a="http://schemas.openxmlformats.org/drawingml/2006/main" noGrp="1"/>
          </p:cNvSpPr>
          <p:nvPr/>
        </p:nvSpPr>
        <p:spPr>
          <a:xfrm xmlns:a="http://schemas.openxmlformats.org/drawingml/2006/main">
            <a:off x="914400" y="3114675"/>
            <a:ext cx="10363200" cy="19050"/>
          </a:xfrm>
          <a:prstGeom xmlns:a="http://schemas.openxmlformats.org/drawingml/2006/main" prst="rect">
            <a:avLst/>
          </a:prstGeom>
          <a:solidFill xmlns:a="http://schemas.openxmlformats.org/drawingml/2006/main">
            <a:srgbClr val="C7D8D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BA61200-1651-49A1-8EAD-26E03D937663}"/>
              </a:ext>
            </a:extLst>
          </p:cNvPr>
          <p:cNvSpPr>
            <a:spLocks xmlns:a="http://schemas.openxmlformats.org/drawingml/2006/main" noGrp="1"/>
          </p:cNvSpPr>
          <p:nvPr/>
        </p:nvSpPr>
        <p:spPr>
          <a:xfrm xmlns:a="http://schemas.openxmlformats.org/drawingml/2006/main">
            <a:off x="914400" y="3543300"/>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47A78"/>
                </a:solidFill>
                <a:latin typeface="Bitstream Charter"/>
                <a:ea typeface="Bitstream Charter"/>
                <a:cs typeface="Bitstream Charter"/>
              </a:defRPr>
            </a:pPr>
            <a:r>
              <a:rPr sz="1950" b="1">
                <a:solidFill>
                  <a:srgbClr val="047A78"/>
                </a:solidFill>
                <a:latin typeface="Bitstream Charter"/>
                <a:ea typeface="Bitstream Charter"/>
                <a:cs typeface="Bitstream Charter"/>
              </a:rPr>
              <a:t>The problem</a:t>
            </a:r>
          </a:p>
        </p:txBody>
      </p:sp>
      <p:sp>
        <p:nvSpPr>
          <p:cNvPr id="7" name="">
            <a:extLst xmlns:a="http://schemas.openxmlformats.org/drawingml/2006/main">
              <a:ext uri="{FF2B5EF4-FFF2-40B4-BE49-F238E27FC236}">
                <a16:creationId xmlns:a16="http://schemas.microsoft.com/office/drawing/2014/main" id="{2B4CF0D5-3BEC-4EC5-B9D4-0379A7E72903}"/>
              </a:ext>
            </a:extLst>
          </p:cNvPr>
          <p:cNvSpPr>
            <a:spLocks xmlns:a="http://schemas.openxmlformats.org/drawingml/2006/main" noGrp="1"/>
          </p:cNvSpPr>
          <p:nvPr/>
        </p:nvSpPr>
        <p:spPr>
          <a:xfrm xmlns:a="http://schemas.openxmlformats.org/drawingml/2006/main">
            <a:off x="4095750" y="3486150"/>
            <a:ext cx="6934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42B38"/>
                </a:solidFill>
                <a:latin typeface="Bitstream Charter"/>
                <a:ea typeface="Bitstream Charter"/>
                <a:cs typeface="Bitstream Charter"/>
              </a:defRPr>
            </a:pPr>
            <a:r>
              <a:rPr sz="2325" b="0">
                <a:solidFill>
                  <a:srgbClr val="142B38"/>
                </a:solidFill>
                <a:latin typeface="Bitstream Charter"/>
                <a:ea typeface="Bitstream Charter"/>
                <a:cs typeface="Bitstream Charter"/>
              </a:rPr>
              <a:t>Operations staff search separate policies and manually route AI-use and vendor-risk questions.</a:t>
            </a:r>
          </a:p>
        </p:txBody>
      </p:sp>
      <p:sp>
        <p:nvSpPr>
          <p:cNvPr id="8" name="">
            <a:extLst xmlns:a="http://schemas.openxmlformats.org/drawingml/2006/main">
              <a:ext uri="{FF2B5EF4-FFF2-40B4-BE49-F238E27FC236}">
                <a16:creationId xmlns:a16="http://schemas.microsoft.com/office/drawing/2014/main" id="{A87D93A6-DC4B-4CA1-B952-6F2F3812FC3F}"/>
              </a:ext>
            </a:extLst>
          </p:cNvPr>
          <p:cNvSpPr>
            <a:spLocks xmlns:a="http://schemas.openxmlformats.org/drawingml/2006/main" noGrp="1"/>
          </p:cNvSpPr>
          <p:nvPr/>
        </p:nvSpPr>
        <p:spPr>
          <a:xfrm xmlns:a="http://schemas.openxmlformats.org/drawingml/2006/main">
            <a:off x="914400" y="4962525"/>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47A78"/>
                </a:solidFill>
                <a:latin typeface="Bitstream Charter"/>
                <a:ea typeface="Bitstream Charter"/>
                <a:cs typeface="Bitstream Charter"/>
              </a:defRPr>
            </a:pPr>
            <a:r>
              <a:rPr sz="1950" b="1">
                <a:solidFill>
                  <a:srgbClr val="047A78"/>
                </a:solidFill>
                <a:latin typeface="Bitstream Charter"/>
                <a:ea typeface="Bitstream Charter"/>
                <a:cs typeface="Bitstream Charter"/>
              </a:rPr>
              <a:t>The proposed workflow</a:t>
            </a:r>
          </a:p>
        </p:txBody>
      </p:sp>
      <p:sp>
        <p:nvSpPr>
          <p:cNvPr id="9" name="">
            <a:extLst xmlns:a="http://schemas.openxmlformats.org/drawingml/2006/main">
              <a:ext uri="{FF2B5EF4-FFF2-40B4-BE49-F238E27FC236}">
                <a16:creationId xmlns:a16="http://schemas.microsoft.com/office/drawing/2014/main" id="{FFD38A28-B639-41D8-B275-B074ADA9E397}"/>
              </a:ext>
            </a:extLst>
          </p:cNvPr>
          <p:cNvSpPr>
            <a:spLocks xmlns:a="http://schemas.openxmlformats.org/drawingml/2006/main" noGrp="1"/>
          </p:cNvSpPr>
          <p:nvPr/>
        </p:nvSpPr>
        <p:spPr>
          <a:xfrm xmlns:a="http://schemas.openxmlformats.org/drawingml/2006/main">
            <a:off x="4095750" y="4905375"/>
            <a:ext cx="693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42B38"/>
                </a:solidFill>
                <a:latin typeface="Bitstream Charter"/>
                <a:ea typeface="Bitstream Charter"/>
                <a:cs typeface="Bitstream Charter"/>
              </a:defRPr>
            </a:pPr>
            <a:r>
              <a:rPr sz="2325" b="0">
                <a:solidFill>
                  <a:srgbClr val="142B38"/>
                </a:solidFill>
                <a:latin typeface="Bitstream Charter"/>
                <a:ea typeface="Bitstream Charter"/>
                <a:cs typeface="Bitstream Charter"/>
              </a:rPr>
              <a:t>Retrieve the policy, recommend a queue, then let a human approve creation of a review case.</a:t>
            </a:r>
          </a:p>
        </p:txBody>
      </p:sp>
    </p:spTree>
    <p:extLst>
      <p:ext uri="{BB962C8B-B14F-4D97-AF65-F5344CB8AC3E}">
        <p14:creationId xmlns:p14="http://schemas.microsoft.com/office/powerpoint/2010/main" val="787007884"/>
      </p:ext>
    </p:extLst>
  </p:cSld>
</p:sld>
</file>

<file path=ppt/slides/slide2.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F2B4843-893C-448F-B2AB-CDF4BF567027}"/>
              </a:ext>
            </a:extLst>
          </p:cNvPr>
          <p:cNvSpPr>
            <a:spLocks xmlns:a="http://schemas.openxmlformats.org/drawingml/2006/main" noGrp="1"/>
          </p:cNvSpPr>
          <p:nvPr/>
        </p:nvSpPr>
        <p:spPr>
          <a:xfrm xmlns:a="http://schemas.openxmlformats.org/drawingml/2006/main">
            <a:off x="609600" y="514350"/>
            <a:ext cx="95250" cy="523875"/>
          </a:xfrm>
          <a:prstGeom xmlns:a="http://schemas.openxmlformats.org/drawingml/2006/main" prst="rect">
            <a:avLst/>
          </a:prstGeom>
          <a:solidFill xmlns:a="http://schemas.openxmlformats.org/drawingml/2006/main">
            <a:srgbClr val="047A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32ACBE-61CA-460D-AFA3-8A2B69C3C243}"/>
              </a:ext>
            </a:extLst>
          </p:cNvPr>
          <p:cNvSpPr>
            <a:spLocks xmlns:a="http://schemas.openxmlformats.org/drawingml/2006/main" noGrp="1"/>
          </p:cNvSpPr>
          <p:nvPr/>
        </p:nvSpPr>
        <p:spPr>
          <a:xfrm xmlns:a="http://schemas.openxmlformats.org/drawingml/2006/main">
            <a:off x="914400" y="4953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142B38"/>
                </a:solidFill>
                <a:latin typeface="Bitstream Charter"/>
                <a:ea typeface="Bitstream Charter"/>
                <a:cs typeface="Bitstream Charter"/>
              </a:defRPr>
            </a:pPr>
            <a:r>
              <a:rPr sz="3000" b="1">
                <a:solidFill>
                  <a:srgbClr val="142B38"/>
                </a:solidFill>
                <a:latin typeface="Bitstream Charter"/>
                <a:ea typeface="Bitstream Charter"/>
                <a:cs typeface="Bitstream Charter"/>
              </a:rPr>
              <a:t>A small use case with measurable business value</a:t>
            </a:r>
          </a:p>
        </p:txBody>
      </p:sp>
      <p:sp>
        <p:nvSpPr>
          <p:cNvPr id="3" name="">
            <a:extLst xmlns:a="http://schemas.openxmlformats.org/drawingml/2006/main">
              <a:ext uri="{FF2B5EF4-FFF2-40B4-BE49-F238E27FC236}">
                <a16:creationId xmlns:a16="http://schemas.microsoft.com/office/drawing/2014/main" id="{423AA037-7306-4647-AB24-5CAC3D9E2653}"/>
              </a:ext>
            </a:extLst>
          </p:cNvPr>
          <p:cNvSpPr>
            <a:spLocks xmlns:a="http://schemas.openxmlformats.org/drawingml/2006/main" noGrp="1"/>
          </p:cNvSpPr>
          <p:nvPr/>
        </p:nvSpPr>
        <p:spPr>
          <a:xfrm xmlns:a="http://schemas.openxmlformats.org/drawingml/2006/main">
            <a:off x="914400" y="1600200"/>
            <a:ext cx="32670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47A78"/>
                </a:solidFill>
                <a:latin typeface="Bitstream Charter"/>
                <a:ea typeface="Bitstream Charter"/>
                <a:cs typeface="Bitstream Charter"/>
              </a:defRPr>
            </a:pPr>
            <a:r>
              <a:rPr sz="1800" b="1">
                <a:solidFill>
                  <a:srgbClr val="047A78"/>
                </a:solidFill>
                <a:latin typeface="Bitstream Charter"/>
                <a:ea typeface="Bitstream Charter"/>
                <a:cs typeface="Bitstream Charter"/>
              </a:rPr>
              <a:t>Current pain</a:t>
            </a:r>
          </a:p>
        </p:txBody>
      </p:sp>
      <p:sp>
        <p:nvSpPr>
          <p:cNvPr id="4" name="">
            <a:extLst xmlns:a="http://schemas.openxmlformats.org/drawingml/2006/main">
              <a:ext uri="{FF2B5EF4-FFF2-40B4-BE49-F238E27FC236}">
                <a16:creationId xmlns:a16="http://schemas.microsoft.com/office/drawing/2014/main" id="{F911BB49-F35E-45E0-BCA0-11D48580020D}"/>
              </a:ext>
            </a:extLst>
          </p:cNvPr>
          <p:cNvSpPr>
            <a:spLocks xmlns:a="http://schemas.openxmlformats.org/drawingml/2006/main" noGrp="1"/>
          </p:cNvSpPr>
          <p:nvPr/>
        </p:nvSpPr>
        <p:spPr>
          <a:xfrm xmlns:a="http://schemas.openxmlformats.org/drawingml/2006/main">
            <a:off x="4391025" y="1600200"/>
            <a:ext cx="32670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47A78"/>
                </a:solidFill>
                <a:latin typeface="Bitstream Charter"/>
                <a:ea typeface="Bitstream Charter"/>
                <a:cs typeface="Bitstream Charter"/>
              </a:defRPr>
            </a:pPr>
            <a:r>
              <a:rPr sz="1800" b="1">
                <a:solidFill>
                  <a:srgbClr val="047A78"/>
                </a:solidFill>
                <a:latin typeface="Bitstream Charter"/>
                <a:ea typeface="Bitstream Charter"/>
                <a:cs typeface="Bitstream Charter"/>
              </a:rPr>
              <a:t>Expected improvement</a:t>
            </a:r>
          </a:p>
        </p:txBody>
      </p:sp>
      <p:sp>
        <p:nvSpPr>
          <p:cNvPr id="5" name="">
            <a:extLst xmlns:a="http://schemas.openxmlformats.org/drawingml/2006/main">
              <a:ext uri="{FF2B5EF4-FFF2-40B4-BE49-F238E27FC236}">
                <a16:creationId xmlns:a16="http://schemas.microsoft.com/office/drawing/2014/main" id="{80CE0A70-602D-4F75-BD73-91102032CCDE}"/>
              </a:ext>
            </a:extLst>
          </p:cNvPr>
          <p:cNvSpPr>
            <a:spLocks xmlns:a="http://schemas.openxmlformats.org/drawingml/2006/main" noGrp="1"/>
          </p:cNvSpPr>
          <p:nvPr/>
        </p:nvSpPr>
        <p:spPr>
          <a:xfrm xmlns:a="http://schemas.openxmlformats.org/drawingml/2006/main">
            <a:off x="7867650" y="1600200"/>
            <a:ext cx="32670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47A78"/>
                </a:solidFill>
                <a:latin typeface="Bitstream Charter"/>
                <a:ea typeface="Bitstream Charter"/>
                <a:cs typeface="Bitstream Charter"/>
              </a:defRPr>
            </a:pPr>
            <a:r>
              <a:rPr sz="1800" b="1">
                <a:solidFill>
                  <a:srgbClr val="047A78"/>
                </a:solidFill>
                <a:latin typeface="Bitstream Charter"/>
                <a:ea typeface="Bitstream Charter"/>
                <a:cs typeface="Bitstream Charter"/>
              </a:rPr>
              <a:t>Pilot measure</a:t>
            </a:r>
          </a:p>
        </p:txBody>
      </p:sp>
      <p:sp>
        <p:nvSpPr>
          <p:cNvPr id="6" name="">
            <a:extLst xmlns:a="http://schemas.openxmlformats.org/drawingml/2006/main">
              <a:ext uri="{FF2B5EF4-FFF2-40B4-BE49-F238E27FC236}">
                <a16:creationId xmlns:a16="http://schemas.microsoft.com/office/drawing/2014/main" id="{ACDCA29C-12C8-43A3-A960-4E6C8BF4BABA}"/>
              </a:ext>
            </a:extLst>
          </p:cNvPr>
          <p:cNvSpPr>
            <a:spLocks xmlns:a="http://schemas.openxmlformats.org/drawingml/2006/main" noGrp="1"/>
          </p:cNvSpPr>
          <p:nvPr/>
        </p:nvSpPr>
        <p:spPr>
          <a:xfrm xmlns:a="http://schemas.openxmlformats.org/drawingml/2006/main">
            <a:off x="914400" y="2257425"/>
            <a:ext cx="10363200" cy="9525"/>
          </a:xfrm>
          <a:prstGeom xmlns:a="http://schemas.openxmlformats.org/drawingml/2006/main" prst="rect">
            <a:avLst/>
          </a:prstGeom>
          <a:solidFill xmlns:a="http://schemas.openxmlformats.org/drawingml/2006/main">
            <a:srgbClr val="C7D8D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153B2C6-AE4B-4B41-A41E-4A7B5433AD24}"/>
              </a:ext>
            </a:extLst>
          </p:cNvPr>
          <p:cNvSpPr>
            <a:spLocks xmlns:a="http://schemas.openxmlformats.org/drawingml/2006/main" noGrp="1"/>
          </p:cNvSpPr>
          <p:nvPr/>
        </p:nvSpPr>
        <p:spPr>
          <a:xfrm xmlns:a="http://schemas.openxmlformats.org/drawingml/2006/main">
            <a:off x="914400" y="2409825"/>
            <a:ext cx="31718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42B38"/>
                </a:solidFill>
                <a:latin typeface="Bitstream Charter"/>
                <a:ea typeface="Bitstream Charter"/>
                <a:cs typeface="Bitstream Charter"/>
              </a:defRPr>
            </a:pPr>
            <a:r>
              <a:rPr sz="1950" b="1">
                <a:solidFill>
                  <a:srgbClr val="142B38"/>
                </a:solidFill>
                <a:latin typeface="Bitstream Charter"/>
                <a:ea typeface="Bitstream Charter"/>
                <a:cs typeface="Bitstream Charter"/>
              </a:rPr>
              <a:t>Policy lookup</a:t>
            </a:r>
          </a:p>
        </p:txBody>
      </p:sp>
      <p:sp>
        <p:nvSpPr>
          <p:cNvPr id="8" name="">
            <a:extLst xmlns:a="http://schemas.openxmlformats.org/drawingml/2006/main">
              <a:ext uri="{FF2B5EF4-FFF2-40B4-BE49-F238E27FC236}">
                <a16:creationId xmlns:a16="http://schemas.microsoft.com/office/drawing/2014/main" id="{3610D3C3-6ECC-4E32-9023-C8619052671E}"/>
              </a:ext>
            </a:extLst>
          </p:cNvPr>
          <p:cNvSpPr>
            <a:spLocks xmlns:a="http://schemas.openxmlformats.org/drawingml/2006/main" noGrp="1"/>
          </p:cNvSpPr>
          <p:nvPr/>
        </p:nvSpPr>
        <p:spPr>
          <a:xfrm xmlns:a="http://schemas.openxmlformats.org/drawingml/2006/main">
            <a:off x="4391025" y="2409825"/>
            <a:ext cx="31718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B38"/>
                </a:solidFill>
                <a:latin typeface="Bitstream Charter"/>
                <a:ea typeface="Bitstream Charter"/>
                <a:cs typeface="Bitstream Charter"/>
              </a:defRPr>
            </a:pPr>
            <a:r>
              <a:rPr sz="1950" b="0">
                <a:solidFill>
                  <a:srgbClr val="142B38"/>
                </a:solidFill>
                <a:latin typeface="Bitstream Charter"/>
                <a:ea typeface="Bitstream Charter"/>
                <a:cs typeface="Bitstream Charter"/>
              </a:rPr>
              <a:t>One view of relevant, cited excerpts</a:t>
            </a:r>
          </a:p>
        </p:txBody>
      </p:sp>
      <p:sp>
        <p:nvSpPr>
          <p:cNvPr id="9" name="">
            <a:extLst xmlns:a="http://schemas.openxmlformats.org/drawingml/2006/main">
              <a:ext uri="{FF2B5EF4-FFF2-40B4-BE49-F238E27FC236}">
                <a16:creationId xmlns:a16="http://schemas.microsoft.com/office/drawing/2014/main" id="{AE5382D8-E6C5-45AB-B00A-FEA6738E06CA}"/>
              </a:ext>
            </a:extLst>
          </p:cNvPr>
          <p:cNvSpPr>
            <a:spLocks xmlns:a="http://schemas.openxmlformats.org/drawingml/2006/main" noGrp="1"/>
          </p:cNvSpPr>
          <p:nvPr/>
        </p:nvSpPr>
        <p:spPr>
          <a:xfrm xmlns:a="http://schemas.openxmlformats.org/drawingml/2006/main">
            <a:off x="7867650" y="2409825"/>
            <a:ext cx="31718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B38"/>
                </a:solidFill>
                <a:latin typeface="Bitstream Charter"/>
                <a:ea typeface="Bitstream Charter"/>
                <a:cs typeface="Bitstream Charter"/>
              </a:defRPr>
            </a:pPr>
            <a:r>
              <a:rPr sz="1950" b="0">
                <a:solidFill>
                  <a:srgbClr val="142B38"/>
                </a:solidFill>
                <a:latin typeface="Bitstream Charter"/>
                <a:ea typeface="Bitstream Charter"/>
                <a:cs typeface="Bitstream Charter"/>
              </a:rPr>
              <a:t>Time to locate supporting evidence</a:t>
            </a:r>
          </a:p>
        </p:txBody>
      </p:sp>
      <p:sp>
        <p:nvSpPr>
          <p:cNvPr id="10" name="">
            <a:extLst xmlns:a="http://schemas.openxmlformats.org/drawingml/2006/main">
              <a:ext uri="{FF2B5EF4-FFF2-40B4-BE49-F238E27FC236}">
                <a16:creationId xmlns:a16="http://schemas.microsoft.com/office/drawing/2014/main" id="{3AC69059-7FF4-496A-9DF9-563C5AFE0864}"/>
              </a:ext>
            </a:extLst>
          </p:cNvPr>
          <p:cNvSpPr>
            <a:spLocks xmlns:a="http://schemas.openxmlformats.org/drawingml/2006/main" noGrp="1"/>
          </p:cNvSpPr>
          <p:nvPr/>
        </p:nvSpPr>
        <p:spPr>
          <a:xfrm xmlns:a="http://schemas.openxmlformats.org/drawingml/2006/main">
            <a:off x="914400" y="3409950"/>
            <a:ext cx="10363200" cy="9525"/>
          </a:xfrm>
          <a:prstGeom xmlns:a="http://schemas.openxmlformats.org/drawingml/2006/main" prst="rect">
            <a:avLst/>
          </a:prstGeom>
          <a:solidFill xmlns:a="http://schemas.openxmlformats.org/drawingml/2006/main">
            <a:srgbClr val="C7D8D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5FEAE44-33CF-457E-B9B2-C348DF62CECA}"/>
              </a:ext>
            </a:extLst>
          </p:cNvPr>
          <p:cNvSpPr>
            <a:spLocks xmlns:a="http://schemas.openxmlformats.org/drawingml/2006/main" noGrp="1"/>
          </p:cNvSpPr>
          <p:nvPr/>
        </p:nvSpPr>
        <p:spPr>
          <a:xfrm xmlns:a="http://schemas.openxmlformats.org/drawingml/2006/main">
            <a:off x="914400" y="3562350"/>
            <a:ext cx="31718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42B38"/>
                </a:solidFill>
                <a:latin typeface="Bitstream Charter"/>
                <a:ea typeface="Bitstream Charter"/>
                <a:cs typeface="Bitstream Charter"/>
              </a:defRPr>
            </a:pPr>
            <a:r>
              <a:rPr sz="1950" b="1">
                <a:solidFill>
                  <a:srgbClr val="142B38"/>
                </a:solidFill>
                <a:latin typeface="Bitstream Charter"/>
                <a:ea typeface="Bitstream Charter"/>
                <a:cs typeface="Bitstream Charter"/>
              </a:rPr>
              <a:t>Routing consistency</a:t>
            </a:r>
          </a:p>
        </p:txBody>
      </p:sp>
      <p:sp>
        <p:nvSpPr>
          <p:cNvPr id="12" name="">
            <a:extLst xmlns:a="http://schemas.openxmlformats.org/drawingml/2006/main">
              <a:ext uri="{FF2B5EF4-FFF2-40B4-BE49-F238E27FC236}">
                <a16:creationId xmlns:a16="http://schemas.microsoft.com/office/drawing/2014/main" id="{E825FBDC-D335-4EFC-8825-626CD25AAECF}"/>
              </a:ext>
            </a:extLst>
          </p:cNvPr>
          <p:cNvSpPr>
            <a:spLocks xmlns:a="http://schemas.openxmlformats.org/drawingml/2006/main" noGrp="1"/>
          </p:cNvSpPr>
          <p:nvPr/>
        </p:nvSpPr>
        <p:spPr>
          <a:xfrm xmlns:a="http://schemas.openxmlformats.org/drawingml/2006/main">
            <a:off x="4391025" y="3562350"/>
            <a:ext cx="31718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B38"/>
                </a:solidFill>
                <a:latin typeface="Bitstream Charter"/>
                <a:ea typeface="Bitstream Charter"/>
                <a:cs typeface="Bitstream Charter"/>
              </a:defRPr>
            </a:pPr>
            <a:r>
              <a:rPr sz="1950" b="0">
                <a:solidFill>
                  <a:srgbClr val="142B38"/>
                </a:solidFill>
                <a:latin typeface="Bitstream Charter"/>
                <a:ea typeface="Bitstream Charter"/>
                <a:cs typeface="Bitstream Charter"/>
              </a:rPr>
              <a:t>A queue constrained by the policy</a:t>
            </a:r>
          </a:p>
        </p:txBody>
      </p:sp>
      <p:sp>
        <p:nvSpPr>
          <p:cNvPr id="13" name="">
            <a:extLst xmlns:a="http://schemas.openxmlformats.org/drawingml/2006/main">
              <a:ext uri="{FF2B5EF4-FFF2-40B4-BE49-F238E27FC236}">
                <a16:creationId xmlns:a16="http://schemas.microsoft.com/office/drawing/2014/main" id="{25EF3F22-98E1-4A59-87B1-2A2195748ECB}"/>
              </a:ext>
            </a:extLst>
          </p:cNvPr>
          <p:cNvSpPr>
            <a:spLocks xmlns:a="http://schemas.openxmlformats.org/drawingml/2006/main" noGrp="1"/>
          </p:cNvSpPr>
          <p:nvPr/>
        </p:nvSpPr>
        <p:spPr>
          <a:xfrm xmlns:a="http://schemas.openxmlformats.org/drawingml/2006/main">
            <a:off x="7867650" y="3562350"/>
            <a:ext cx="31718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B38"/>
                </a:solidFill>
                <a:latin typeface="Bitstream Charter"/>
                <a:ea typeface="Bitstream Charter"/>
                <a:cs typeface="Bitstream Charter"/>
              </a:defRPr>
            </a:pPr>
            <a:r>
              <a:rPr sz="1950" b="0">
                <a:solidFill>
                  <a:srgbClr val="142B38"/>
                </a:solidFill>
                <a:latin typeface="Bitstream Charter"/>
                <a:ea typeface="Bitstream Charter"/>
                <a:cs typeface="Bitstream Charter"/>
              </a:rPr>
              <a:t>Correct queue and reviewer override rate</a:t>
            </a:r>
          </a:p>
        </p:txBody>
      </p:sp>
      <p:sp>
        <p:nvSpPr>
          <p:cNvPr id="14" name="">
            <a:extLst xmlns:a="http://schemas.openxmlformats.org/drawingml/2006/main">
              <a:ext uri="{FF2B5EF4-FFF2-40B4-BE49-F238E27FC236}">
                <a16:creationId xmlns:a16="http://schemas.microsoft.com/office/drawing/2014/main" id="{669649CA-B339-4997-8AA1-5CF9519034DB}"/>
              </a:ext>
            </a:extLst>
          </p:cNvPr>
          <p:cNvSpPr>
            <a:spLocks xmlns:a="http://schemas.openxmlformats.org/drawingml/2006/main" noGrp="1"/>
          </p:cNvSpPr>
          <p:nvPr/>
        </p:nvSpPr>
        <p:spPr>
          <a:xfrm xmlns:a="http://schemas.openxmlformats.org/drawingml/2006/main">
            <a:off x="914400" y="4562475"/>
            <a:ext cx="10363200" cy="9525"/>
          </a:xfrm>
          <a:prstGeom xmlns:a="http://schemas.openxmlformats.org/drawingml/2006/main" prst="rect">
            <a:avLst/>
          </a:prstGeom>
          <a:solidFill xmlns:a="http://schemas.openxmlformats.org/drawingml/2006/main">
            <a:srgbClr val="C7D8D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B58E6E7-FE05-44AD-A862-795E7C8A0CF7}"/>
              </a:ext>
            </a:extLst>
          </p:cNvPr>
          <p:cNvSpPr>
            <a:spLocks xmlns:a="http://schemas.openxmlformats.org/drawingml/2006/main" noGrp="1"/>
          </p:cNvSpPr>
          <p:nvPr/>
        </p:nvSpPr>
        <p:spPr>
          <a:xfrm xmlns:a="http://schemas.openxmlformats.org/drawingml/2006/main">
            <a:off x="914400" y="4714875"/>
            <a:ext cx="31718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42B38"/>
                </a:solidFill>
                <a:latin typeface="Bitstream Charter"/>
                <a:ea typeface="Bitstream Charter"/>
                <a:cs typeface="Bitstream Charter"/>
              </a:defRPr>
            </a:pPr>
            <a:r>
              <a:rPr sz="1950" b="1">
                <a:solidFill>
                  <a:srgbClr val="142B38"/>
                </a:solidFill>
                <a:latin typeface="Bitstream Charter"/>
                <a:ea typeface="Bitstream Charter"/>
                <a:cs typeface="Bitstream Charter"/>
              </a:rPr>
              <a:t>Controlled handoff</a:t>
            </a:r>
          </a:p>
        </p:txBody>
      </p:sp>
      <p:sp>
        <p:nvSpPr>
          <p:cNvPr id="16" name="">
            <a:extLst xmlns:a="http://schemas.openxmlformats.org/drawingml/2006/main">
              <a:ext uri="{FF2B5EF4-FFF2-40B4-BE49-F238E27FC236}">
                <a16:creationId xmlns:a16="http://schemas.microsoft.com/office/drawing/2014/main" id="{B9AAF2B2-E6D9-4A60-BBF5-404D5E29A3C5}"/>
              </a:ext>
            </a:extLst>
          </p:cNvPr>
          <p:cNvSpPr>
            <a:spLocks xmlns:a="http://schemas.openxmlformats.org/drawingml/2006/main" noGrp="1"/>
          </p:cNvSpPr>
          <p:nvPr/>
        </p:nvSpPr>
        <p:spPr>
          <a:xfrm xmlns:a="http://schemas.openxmlformats.org/drawingml/2006/main">
            <a:off x="4391025" y="4714875"/>
            <a:ext cx="31718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B38"/>
                </a:solidFill>
                <a:latin typeface="Bitstream Charter"/>
                <a:ea typeface="Bitstream Charter"/>
                <a:cs typeface="Bitstream Charter"/>
              </a:defRPr>
            </a:pPr>
            <a:r>
              <a:rPr sz="1950" b="0">
                <a:solidFill>
                  <a:srgbClr val="142B38"/>
                </a:solidFill>
                <a:latin typeface="Bitstream Charter"/>
                <a:ea typeface="Bitstream Charter"/>
                <a:cs typeface="Bitstream Charter"/>
              </a:rPr>
              <a:t>An approved, traceable review case</a:t>
            </a:r>
          </a:p>
        </p:txBody>
      </p:sp>
      <p:sp>
        <p:nvSpPr>
          <p:cNvPr id="17" name="">
            <a:extLst xmlns:a="http://schemas.openxmlformats.org/drawingml/2006/main">
              <a:ext uri="{FF2B5EF4-FFF2-40B4-BE49-F238E27FC236}">
                <a16:creationId xmlns:a16="http://schemas.microsoft.com/office/drawing/2014/main" id="{0BE41253-9478-4282-BFC2-DF1B3B828E62}"/>
              </a:ext>
            </a:extLst>
          </p:cNvPr>
          <p:cNvSpPr>
            <a:spLocks xmlns:a="http://schemas.openxmlformats.org/drawingml/2006/main" noGrp="1"/>
          </p:cNvSpPr>
          <p:nvPr/>
        </p:nvSpPr>
        <p:spPr>
          <a:xfrm xmlns:a="http://schemas.openxmlformats.org/drawingml/2006/main">
            <a:off x="7867650" y="4714875"/>
            <a:ext cx="31718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B38"/>
                </a:solidFill>
                <a:latin typeface="Bitstream Charter"/>
                <a:ea typeface="Bitstream Charter"/>
                <a:cs typeface="Bitstream Charter"/>
              </a:defRPr>
            </a:pPr>
            <a:r>
              <a:rPr sz="1950" b="0">
                <a:solidFill>
                  <a:srgbClr val="142B38"/>
                </a:solidFill>
                <a:latin typeface="Bitstream Charter"/>
                <a:ea typeface="Bitstream Charter"/>
                <a:cs typeface="Bitstream Charter"/>
              </a:rPr>
              <a:t>Cases created without approval: zero</a:t>
            </a:r>
          </a:p>
        </p:txBody>
      </p:sp>
      <p:sp>
        <p:nvSpPr>
          <p:cNvPr id="18" name="">
            <a:extLst xmlns:a="http://schemas.openxmlformats.org/drawingml/2006/main">
              <a:ext uri="{FF2B5EF4-FFF2-40B4-BE49-F238E27FC236}">
                <a16:creationId xmlns:a16="http://schemas.microsoft.com/office/drawing/2014/main" id="{71261C35-C8DC-4CD5-90BA-5F4A1F2DB13F}"/>
              </a:ext>
            </a:extLst>
          </p:cNvPr>
          <p:cNvSpPr>
            <a:spLocks xmlns:a="http://schemas.openxmlformats.org/drawingml/2006/main" noGrp="1"/>
          </p:cNvSpPr>
          <p:nvPr/>
        </p:nvSpPr>
        <p:spPr>
          <a:xfrm xmlns:a="http://schemas.openxmlformats.org/drawingml/2006/main">
            <a:off x="914400" y="611505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06673"/>
                </a:solidFill>
                <a:latin typeface="Bitstream Charter"/>
                <a:ea typeface="Bitstream Charter"/>
                <a:cs typeface="Bitstream Charter"/>
              </a:defRPr>
            </a:pPr>
            <a:r>
              <a:rPr sz="1725" b="0">
                <a:solidFill>
                  <a:srgbClr val="506673"/>
                </a:solidFill>
                <a:latin typeface="Bitstream Charter"/>
                <a:ea typeface="Bitstream Charter"/>
                <a:cs typeface="Bitstream Charter"/>
              </a:rPr>
              <a:t>Prioritize: one policy owner, a small corpus, and a reversible case-creation action.</a:t>
            </a:r>
          </a:p>
        </p:txBody>
      </p:sp>
    </p:spTree>
    <p:extLst>
      <p:ext uri="{BB962C8B-B14F-4D97-AF65-F5344CB8AC3E}">
        <p14:creationId xmlns:p14="http://schemas.microsoft.com/office/powerpoint/2010/main" val="573244468"/>
      </p:ext>
    </p:extLst>
  </p:cSld>
</p:sld>
</file>

<file path=ppt/slides/slide3.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C2FC95C-53BC-4B8A-9E96-E350BBBC5906}"/>
              </a:ext>
            </a:extLst>
          </p:cNvPr>
          <p:cNvSpPr>
            <a:spLocks xmlns:a="http://schemas.openxmlformats.org/drawingml/2006/main" noGrp="1"/>
          </p:cNvSpPr>
          <p:nvPr/>
        </p:nvSpPr>
        <p:spPr>
          <a:xfrm xmlns:a="http://schemas.openxmlformats.org/drawingml/2006/main">
            <a:off x="609600" y="514350"/>
            <a:ext cx="95250" cy="523875"/>
          </a:xfrm>
          <a:prstGeom xmlns:a="http://schemas.openxmlformats.org/drawingml/2006/main" prst="rect">
            <a:avLst/>
          </a:prstGeom>
          <a:solidFill xmlns:a="http://schemas.openxmlformats.org/drawingml/2006/main">
            <a:srgbClr val="047A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59F2218-B174-4205-B33F-3F066A239AEF}"/>
              </a:ext>
            </a:extLst>
          </p:cNvPr>
          <p:cNvSpPr>
            <a:spLocks xmlns:a="http://schemas.openxmlformats.org/drawingml/2006/main" noGrp="1"/>
          </p:cNvSpPr>
          <p:nvPr/>
        </p:nvSpPr>
        <p:spPr>
          <a:xfrm xmlns:a="http://schemas.openxmlformats.org/drawingml/2006/main">
            <a:off x="914400" y="4953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142B38"/>
                </a:solidFill>
                <a:latin typeface="Bitstream Charter"/>
                <a:ea typeface="Bitstream Charter"/>
                <a:cs typeface="Bitstream Charter"/>
              </a:defRPr>
            </a:pPr>
            <a:r>
              <a:rPr sz="3000" b="1">
                <a:solidFill>
                  <a:srgbClr val="142B38"/>
                </a:solidFill>
                <a:latin typeface="Bitstream Charter"/>
                <a:ea typeface="Bitstream Charter"/>
                <a:cs typeface="Bitstream Charter"/>
              </a:rPr>
              <a:t>The agent workflow, end to end</a:t>
            </a:r>
          </a:p>
        </p:txBody>
      </p:sp>
      <p:sp>
        <p:nvSpPr>
          <p:cNvPr id="3" name="">
            <a:extLst xmlns:a="http://schemas.openxmlformats.org/drawingml/2006/main">
              <a:ext uri="{FF2B5EF4-FFF2-40B4-BE49-F238E27FC236}">
                <a16:creationId xmlns:a16="http://schemas.microsoft.com/office/drawing/2014/main" id="{74AB9076-CC60-4CB9-96CA-E95F3B5621B3}"/>
              </a:ext>
            </a:extLst>
          </p:cNvPr>
          <p:cNvSpPr>
            <a:spLocks xmlns:a="http://schemas.openxmlformats.org/drawingml/2006/main" noGrp="1"/>
          </p:cNvSpPr>
          <p:nvPr/>
        </p:nvSpPr>
        <p:spPr>
          <a:xfrm xmlns:a="http://schemas.openxmlformats.org/drawingml/2006/main">
            <a:off x="914400" y="16573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47A78"/>
                </a:solidFill>
                <a:latin typeface="Bitstream Charter"/>
                <a:ea typeface="Bitstream Charter"/>
                <a:cs typeface="Bitstream Charter"/>
              </a:defRPr>
            </a:pPr>
            <a:r>
              <a:rPr sz="2025" b="1">
                <a:solidFill>
                  <a:srgbClr val="047A78"/>
                </a:solidFill>
                <a:latin typeface="Bitstream Charter"/>
                <a:ea typeface="Bitstream Charter"/>
                <a:cs typeface="Bitstream Charter"/>
              </a:rPr>
              <a:t>1</a:t>
            </a:r>
          </a:p>
        </p:txBody>
      </p:sp>
      <p:sp>
        <p:nvSpPr>
          <p:cNvPr id="4" name="">
            <a:extLst xmlns:a="http://schemas.openxmlformats.org/drawingml/2006/main">
              <a:ext uri="{FF2B5EF4-FFF2-40B4-BE49-F238E27FC236}">
                <a16:creationId xmlns:a16="http://schemas.microsoft.com/office/drawing/2014/main" id="{12CCD592-0038-47AE-81D4-751D489F1FB5}"/>
              </a:ext>
            </a:extLst>
          </p:cNvPr>
          <p:cNvSpPr>
            <a:spLocks xmlns:a="http://schemas.openxmlformats.org/drawingml/2006/main" noGrp="1"/>
          </p:cNvSpPr>
          <p:nvPr/>
        </p:nvSpPr>
        <p:spPr>
          <a:xfrm xmlns:a="http://schemas.openxmlformats.org/drawingml/2006/main">
            <a:off x="1400175" y="1657350"/>
            <a:ext cx="25812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42B38"/>
                </a:solidFill>
                <a:latin typeface="Bitstream Charter"/>
                <a:ea typeface="Bitstream Charter"/>
                <a:cs typeface="Bitstream Charter"/>
              </a:defRPr>
            </a:pPr>
            <a:r>
              <a:rPr sz="2025" b="1">
                <a:solidFill>
                  <a:srgbClr val="142B38"/>
                </a:solidFill>
                <a:latin typeface="Bitstream Charter"/>
                <a:ea typeface="Bitstream Charter"/>
                <a:cs typeface="Bitstream Charter"/>
              </a:rPr>
              <a:t>Request</a:t>
            </a:r>
          </a:p>
        </p:txBody>
      </p:sp>
      <p:sp>
        <p:nvSpPr>
          <p:cNvPr id="5" name="">
            <a:extLst xmlns:a="http://schemas.openxmlformats.org/drawingml/2006/main">
              <a:ext uri="{FF2B5EF4-FFF2-40B4-BE49-F238E27FC236}">
                <a16:creationId xmlns:a16="http://schemas.microsoft.com/office/drawing/2014/main" id="{51DCC8E4-471F-4A1D-8194-0B19C6C18E0A}"/>
              </a:ext>
            </a:extLst>
          </p:cNvPr>
          <p:cNvSpPr>
            <a:spLocks xmlns:a="http://schemas.openxmlformats.org/drawingml/2006/main" noGrp="1"/>
          </p:cNvSpPr>
          <p:nvPr/>
        </p:nvSpPr>
        <p:spPr>
          <a:xfrm xmlns:a="http://schemas.openxmlformats.org/drawingml/2006/main">
            <a:off x="1400175" y="2200275"/>
            <a:ext cx="26098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06673"/>
                </a:solidFill>
                <a:latin typeface="Bitstream Charter"/>
                <a:ea typeface="Bitstream Charter"/>
                <a:cs typeface="Bitstream Charter"/>
              </a:defRPr>
            </a:pPr>
            <a:r>
              <a:rPr sz="1650" b="0">
                <a:solidFill>
                  <a:srgbClr val="506673"/>
                </a:solidFill>
                <a:latin typeface="Bitstream Charter"/>
                <a:ea typeface="Bitstream Charter"/>
                <a:cs typeface="Bitstream Charter"/>
              </a:rPr>
              <a:t>n8n form captures a question and request ID.</a:t>
            </a:r>
          </a:p>
        </p:txBody>
      </p:sp>
      <p:sp>
        <p:nvSpPr>
          <p:cNvPr id="6" name="">
            <a:extLst xmlns:a="http://schemas.openxmlformats.org/drawingml/2006/main">
              <a:ext uri="{FF2B5EF4-FFF2-40B4-BE49-F238E27FC236}">
                <a16:creationId xmlns:a16="http://schemas.microsoft.com/office/drawing/2014/main" id="{D6834DC4-BDC4-4233-B18F-7C89EEFCCF37}"/>
              </a:ext>
            </a:extLst>
          </p:cNvPr>
          <p:cNvSpPr>
            <a:spLocks xmlns:a="http://schemas.openxmlformats.org/drawingml/2006/main" noGrp="1"/>
          </p:cNvSpPr>
          <p:nvPr/>
        </p:nvSpPr>
        <p:spPr>
          <a:xfrm xmlns:a="http://schemas.openxmlformats.org/drawingml/2006/main">
            <a:off x="4438650" y="16573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47A78"/>
                </a:solidFill>
                <a:latin typeface="Bitstream Charter"/>
                <a:ea typeface="Bitstream Charter"/>
                <a:cs typeface="Bitstream Charter"/>
              </a:defRPr>
            </a:pPr>
            <a:r>
              <a:rPr sz="2025" b="1">
                <a:solidFill>
                  <a:srgbClr val="047A78"/>
                </a:solidFill>
                <a:latin typeface="Bitstream Charter"/>
                <a:ea typeface="Bitstream Charter"/>
                <a:cs typeface="Bitstream Charter"/>
              </a:rPr>
              <a:t>2</a:t>
            </a:r>
          </a:p>
        </p:txBody>
      </p:sp>
      <p:sp>
        <p:nvSpPr>
          <p:cNvPr id="7" name="">
            <a:extLst xmlns:a="http://schemas.openxmlformats.org/drawingml/2006/main">
              <a:ext uri="{FF2B5EF4-FFF2-40B4-BE49-F238E27FC236}">
                <a16:creationId xmlns:a16="http://schemas.microsoft.com/office/drawing/2014/main" id="{4CA36F37-417C-4AFE-9B3D-48B1E30BDDEF}"/>
              </a:ext>
            </a:extLst>
          </p:cNvPr>
          <p:cNvSpPr>
            <a:spLocks xmlns:a="http://schemas.openxmlformats.org/drawingml/2006/main" noGrp="1"/>
          </p:cNvSpPr>
          <p:nvPr/>
        </p:nvSpPr>
        <p:spPr>
          <a:xfrm xmlns:a="http://schemas.openxmlformats.org/drawingml/2006/main">
            <a:off x="4924425" y="1657350"/>
            <a:ext cx="25812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42B38"/>
                </a:solidFill>
                <a:latin typeface="Bitstream Charter"/>
                <a:ea typeface="Bitstream Charter"/>
                <a:cs typeface="Bitstream Charter"/>
              </a:defRPr>
            </a:pPr>
            <a:r>
              <a:rPr sz="2025" b="1">
                <a:solidFill>
                  <a:srgbClr val="142B38"/>
                </a:solidFill>
                <a:latin typeface="Bitstream Charter"/>
                <a:ea typeface="Bitstream Charter"/>
                <a:cs typeface="Bitstream Charter"/>
              </a:rPr>
              <a:t>Retrieve</a:t>
            </a:r>
          </a:p>
        </p:txBody>
      </p:sp>
      <p:sp>
        <p:nvSpPr>
          <p:cNvPr id="8" name="">
            <a:extLst xmlns:a="http://schemas.openxmlformats.org/drawingml/2006/main">
              <a:ext uri="{FF2B5EF4-FFF2-40B4-BE49-F238E27FC236}">
                <a16:creationId xmlns:a16="http://schemas.microsoft.com/office/drawing/2014/main" id="{D1A5B08B-368A-4213-9622-DF1B1D7663BE}"/>
              </a:ext>
            </a:extLst>
          </p:cNvPr>
          <p:cNvSpPr>
            <a:spLocks xmlns:a="http://schemas.openxmlformats.org/drawingml/2006/main" noGrp="1"/>
          </p:cNvSpPr>
          <p:nvPr/>
        </p:nvSpPr>
        <p:spPr>
          <a:xfrm xmlns:a="http://schemas.openxmlformats.org/drawingml/2006/main">
            <a:off x="4924425" y="2200275"/>
            <a:ext cx="26098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06673"/>
                </a:solidFill>
                <a:latin typeface="Bitstream Charter"/>
                <a:ea typeface="Bitstream Charter"/>
                <a:cs typeface="Bitstream Charter"/>
              </a:defRPr>
            </a:pPr>
            <a:r>
              <a:rPr sz="1650" b="0">
                <a:solidFill>
                  <a:srgbClr val="506673"/>
                </a:solidFill>
                <a:latin typeface="Bitstream Charter"/>
                <a:ea typeface="Bitstream Charter"/>
                <a:cs typeface="Bitstream Charter"/>
              </a:rPr>
              <a:t>Python BM25 ranks sections from 3 synthetic policies.</a:t>
            </a:r>
          </a:p>
        </p:txBody>
      </p:sp>
      <p:sp>
        <p:nvSpPr>
          <p:cNvPr id="9" name="">
            <a:extLst xmlns:a="http://schemas.openxmlformats.org/drawingml/2006/main">
              <a:ext uri="{FF2B5EF4-FFF2-40B4-BE49-F238E27FC236}">
                <a16:creationId xmlns:a16="http://schemas.microsoft.com/office/drawing/2014/main" id="{7800B332-2599-4E9F-B36F-F4A1208470C7}"/>
              </a:ext>
            </a:extLst>
          </p:cNvPr>
          <p:cNvSpPr>
            <a:spLocks xmlns:a="http://schemas.openxmlformats.org/drawingml/2006/main" noGrp="1"/>
          </p:cNvSpPr>
          <p:nvPr/>
        </p:nvSpPr>
        <p:spPr>
          <a:xfrm xmlns:a="http://schemas.openxmlformats.org/drawingml/2006/main">
            <a:off x="7962900" y="16573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47A78"/>
                </a:solidFill>
                <a:latin typeface="Bitstream Charter"/>
                <a:ea typeface="Bitstream Charter"/>
                <a:cs typeface="Bitstream Charter"/>
              </a:defRPr>
            </a:pPr>
            <a:r>
              <a:rPr sz="2025" b="1">
                <a:solidFill>
                  <a:srgbClr val="047A78"/>
                </a:solidFill>
                <a:latin typeface="Bitstream Charter"/>
                <a:ea typeface="Bitstream Charter"/>
                <a:cs typeface="Bitstream Charter"/>
              </a:rPr>
              <a:t>3</a:t>
            </a:r>
          </a:p>
        </p:txBody>
      </p:sp>
      <p:sp>
        <p:nvSpPr>
          <p:cNvPr id="10" name="">
            <a:extLst xmlns:a="http://schemas.openxmlformats.org/drawingml/2006/main">
              <a:ext uri="{FF2B5EF4-FFF2-40B4-BE49-F238E27FC236}">
                <a16:creationId xmlns:a16="http://schemas.microsoft.com/office/drawing/2014/main" id="{67FF2E60-D58A-4AC9-9D1A-131B06766727}"/>
              </a:ext>
            </a:extLst>
          </p:cNvPr>
          <p:cNvSpPr>
            <a:spLocks xmlns:a="http://schemas.openxmlformats.org/drawingml/2006/main" noGrp="1"/>
          </p:cNvSpPr>
          <p:nvPr/>
        </p:nvSpPr>
        <p:spPr>
          <a:xfrm xmlns:a="http://schemas.openxmlformats.org/drawingml/2006/main">
            <a:off x="8448675" y="1657350"/>
            <a:ext cx="25812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42B38"/>
                </a:solidFill>
                <a:latin typeface="Bitstream Charter"/>
                <a:ea typeface="Bitstream Charter"/>
                <a:cs typeface="Bitstream Charter"/>
              </a:defRPr>
            </a:pPr>
            <a:r>
              <a:rPr sz="2025" b="1">
                <a:solidFill>
                  <a:srgbClr val="142B38"/>
                </a:solidFill>
                <a:latin typeface="Bitstream Charter"/>
                <a:ea typeface="Bitstream Charter"/>
                <a:cs typeface="Bitstream Charter"/>
              </a:rPr>
              <a:t>LLM decision</a:t>
            </a:r>
          </a:p>
        </p:txBody>
      </p:sp>
      <p:sp>
        <p:nvSpPr>
          <p:cNvPr id="11" name="">
            <a:extLst xmlns:a="http://schemas.openxmlformats.org/drawingml/2006/main">
              <a:ext uri="{FF2B5EF4-FFF2-40B4-BE49-F238E27FC236}">
                <a16:creationId xmlns:a16="http://schemas.microsoft.com/office/drawing/2014/main" id="{3B37D979-F55F-4D3A-82D9-DF4F4EAD029F}"/>
              </a:ext>
            </a:extLst>
          </p:cNvPr>
          <p:cNvSpPr>
            <a:spLocks xmlns:a="http://schemas.openxmlformats.org/drawingml/2006/main" noGrp="1"/>
          </p:cNvSpPr>
          <p:nvPr/>
        </p:nvSpPr>
        <p:spPr>
          <a:xfrm xmlns:a="http://schemas.openxmlformats.org/drawingml/2006/main">
            <a:off x="8448675" y="2200275"/>
            <a:ext cx="26098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06673"/>
                </a:solidFill>
                <a:latin typeface="Bitstream Charter"/>
                <a:ea typeface="Bitstream Charter"/>
                <a:cs typeface="Bitstream Charter"/>
              </a:defRPr>
            </a:pPr>
            <a:r>
              <a:rPr sz="1650" b="0">
                <a:solidFill>
                  <a:srgbClr val="506673"/>
                </a:solidFill>
                <a:latin typeface="Bitstream Charter"/>
                <a:ea typeface="Bitstream Charter"/>
                <a:cs typeface="Bitstream Charter"/>
              </a:rPr>
              <a:t>Select relevant citations and a supported review queue.</a:t>
            </a:r>
          </a:p>
        </p:txBody>
      </p:sp>
      <p:sp>
        <p:nvSpPr>
          <p:cNvPr id="12" name="">
            <a:extLst xmlns:a="http://schemas.openxmlformats.org/drawingml/2006/main">
              <a:ext uri="{FF2B5EF4-FFF2-40B4-BE49-F238E27FC236}">
                <a16:creationId xmlns:a16="http://schemas.microsoft.com/office/drawing/2014/main" id="{72CF0B48-15A4-439E-9725-26F630A60E8B}"/>
              </a:ext>
            </a:extLst>
          </p:cNvPr>
          <p:cNvSpPr>
            <a:spLocks xmlns:a="http://schemas.openxmlformats.org/drawingml/2006/main" noGrp="1"/>
          </p:cNvSpPr>
          <p:nvPr/>
        </p:nvSpPr>
        <p:spPr>
          <a:xfrm xmlns:a="http://schemas.openxmlformats.org/drawingml/2006/main">
            <a:off x="914400" y="3324225"/>
            <a:ext cx="10363200" cy="19050"/>
          </a:xfrm>
          <a:prstGeom xmlns:a="http://schemas.openxmlformats.org/drawingml/2006/main" prst="rect">
            <a:avLst/>
          </a:prstGeom>
          <a:solidFill xmlns:a="http://schemas.openxmlformats.org/drawingml/2006/main">
            <a:srgbClr val="C7D8D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EF7A743-04F4-4B91-BBCC-876409B966CB}"/>
              </a:ext>
            </a:extLst>
          </p:cNvPr>
          <p:cNvSpPr>
            <a:spLocks xmlns:a="http://schemas.openxmlformats.org/drawingml/2006/main" noGrp="1"/>
          </p:cNvSpPr>
          <p:nvPr/>
        </p:nvSpPr>
        <p:spPr>
          <a:xfrm xmlns:a="http://schemas.openxmlformats.org/drawingml/2006/main">
            <a:off x="914400" y="370522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47A78"/>
                </a:solidFill>
                <a:latin typeface="Bitstream Charter"/>
                <a:ea typeface="Bitstream Charter"/>
                <a:cs typeface="Bitstream Charter"/>
              </a:defRPr>
            </a:pPr>
            <a:r>
              <a:rPr sz="2025" b="1">
                <a:solidFill>
                  <a:srgbClr val="047A78"/>
                </a:solidFill>
                <a:latin typeface="Bitstream Charter"/>
                <a:ea typeface="Bitstream Charter"/>
                <a:cs typeface="Bitstream Charter"/>
              </a:rPr>
              <a:t>4</a:t>
            </a:r>
          </a:p>
        </p:txBody>
      </p:sp>
      <p:sp>
        <p:nvSpPr>
          <p:cNvPr id="14" name="">
            <a:extLst xmlns:a="http://schemas.openxmlformats.org/drawingml/2006/main">
              <a:ext uri="{FF2B5EF4-FFF2-40B4-BE49-F238E27FC236}">
                <a16:creationId xmlns:a16="http://schemas.microsoft.com/office/drawing/2014/main" id="{CA4BD203-A090-4611-B451-86858C01E400}"/>
              </a:ext>
            </a:extLst>
          </p:cNvPr>
          <p:cNvSpPr>
            <a:spLocks xmlns:a="http://schemas.openxmlformats.org/drawingml/2006/main" noGrp="1"/>
          </p:cNvSpPr>
          <p:nvPr/>
        </p:nvSpPr>
        <p:spPr>
          <a:xfrm xmlns:a="http://schemas.openxmlformats.org/drawingml/2006/main">
            <a:off x="1400175" y="3705225"/>
            <a:ext cx="25812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42B38"/>
                </a:solidFill>
                <a:latin typeface="Bitstream Charter"/>
                <a:ea typeface="Bitstream Charter"/>
                <a:cs typeface="Bitstream Charter"/>
              </a:defRPr>
            </a:pPr>
            <a:r>
              <a:rPr sz="2025" b="1">
                <a:solidFill>
                  <a:srgbClr val="142B38"/>
                </a:solidFill>
                <a:latin typeface="Bitstream Charter"/>
                <a:ea typeface="Bitstream Charter"/>
                <a:cs typeface="Bitstream Charter"/>
              </a:rPr>
              <a:t>Validate</a:t>
            </a:r>
          </a:p>
        </p:txBody>
      </p:sp>
      <p:sp>
        <p:nvSpPr>
          <p:cNvPr id="15" name="">
            <a:extLst xmlns:a="http://schemas.openxmlformats.org/drawingml/2006/main">
              <a:ext uri="{FF2B5EF4-FFF2-40B4-BE49-F238E27FC236}">
                <a16:creationId xmlns:a16="http://schemas.microsoft.com/office/drawing/2014/main" id="{0A4DEC07-CA37-4FC3-832A-EFA4CD5303A7}"/>
              </a:ext>
            </a:extLst>
          </p:cNvPr>
          <p:cNvSpPr>
            <a:spLocks xmlns:a="http://schemas.openxmlformats.org/drawingml/2006/main" noGrp="1"/>
          </p:cNvSpPr>
          <p:nvPr/>
        </p:nvSpPr>
        <p:spPr>
          <a:xfrm xmlns:a="http://schemas.openxmlformats.org/drawingml/2006/main">
            <a:off x="1400175" y="4248150"/>
            <a:ext cx="26098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06673"/>
                </a:solidFill>
                <a:latin typeface="Bitstream Charter"/>
                <a:ea typeface="Bitstream Charter"/>
                <a:cs typeface="Bitstream Charter"/>
              </a:defRPr>
            </a:pPr>
            <a:r>
              <a:rPr sz="1650" b="0">
                <a:solidFill>
                  <a:srgbClr val="506673"/>
                </a:solidFill>
                <a:latin typeface="Bitstream Charter"/>
                <a:ea typeface="Bitstream Charter"/>
                <a:cs typeface="Bitstream Charter"/>
              </a:rPr>
              <a:t>Reject unknown citations or queues; render exact excerpts.</a:t>
            </a:r>
          </a:p>
        </p:txBody>
      </p:sp>
      <p:sp>
        <p:nvSpPr>
          <p:cNvPr id="16" name="">
            <a:extLst xmlns:a="http://schemas.openxmlformats.org/drawingml/2006/main">
              <a:ext uri="{FF2B5EF4-FFF2-40B4-BE49-F238E27FC236}">
                <a16:creationId xmlns:a16="http://schemas.microsoft.com/office/drawing/2014/main" id="{867B2DF4-E650-4F25-98C5-5AF055048425}"/>
              </a:ext>
            </a:extLst>
          </p:cNvPr>
          <p:cNvSpPr>
            <a:spLocks xmlns:a="http://schemas.openxmlformats.org/drawingml/2006/main" noGrp="1"/>
          </p:cNvSpPr>
          <p:nvPr/>
        </p:nvSpPr>
        <p:spPr>
          <a:xfrm xmlns:a="http://schemas.openxmlformats.org/drawingml/2006/main">
            <a:off x="4438650" y="370522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47A78"/>
                </a:solidFill>
                <a:latin typeface="Bitstream Charter"/>
                <a:ea typeface="Bitstream Charter"/>
                <a:cs typeface="Bitstream Charter"/>
              </a:defRPr>
            </a:pPr>
            <a:r>
              <a:rPr sz="2025" b="1">
                <a:solidFill>
                  <a:srgbClr val="047A78"/>
                </a:solidFill>
                <a:latin typeface="Bitstream Charter"/>
                <a:ea typeface="Bitstream Charter"/>
                <a:cs typeface="Bitstream Charter"/>
              </a:rPr>
              <a:t>5</a:t>
            </a:r>
          </a:p>
        </p:txBody>
      </p:sp>
      <p:sp>
        <p:nvSpPr>
          <p:cNvPr id="17" name="">
            <a:extLst xmlns:a="http://schemas.openxmlformats.org/drawingml/2006/main">
              <a:ext uri="{FF2B5EF4-FFF2-40B4-BE49-F238E27FC236}">
                <a16:creationId xmlns:a16="http://schemas.microsoft.com/office/drawing/2014/main" id="{45F8CE54-F54B-494A-A0ED-7F96E1589392}"/>
              </a:ext>
            </a:extLst>
          </p:cNvPr>
          <p:cNvSpPr>
            <a:spLocks xmlns:a="http://schemas.openxmlformats.org/drawingml/2006/main" noGrp="1"/>
          </p:cNvSpPr>
          <p:nvPr/>
        </p:nvSpPr>
        <p:spPr>
          <a:xfrm xmlns:a="http://schemas.openxmlformats.org/drawingml/2006/main">
            <a:off x="4924425" y="3705225"/>
            <a:ext cx="25812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42B38"/>
                </a:solidFill>
                <a:latin typeface="Bitstream Charter"/>
                <a:ea typeface="Bitstream Charter"/>
                <a:cs typeface="Bitstream Charter"/>
              </a:defRPr>
            </a:pPr>
            <a:r>
              <a:rPr sz="2025" b="1">
                <a:solidFill>
                  <a:srgbClr val="142B38"/>
                </a:solidFill>
                <a:latin typeface="Bitstream Charter"/>
                <a:ea typeface="Bitstream Charter"/>
                <a:cs typeface="Bitstream Charter"/>
              </a:rPr>
              <a:t>Human approval</a:t>
            </a:r>
          </a:p>
        </p:txBody>
      </p:sp>
      <p:sp>
        <p:nvSpPr>
          <p:cNvPr id="18" name="">
            <a:extLst xmlns:a="http://schemas.openxmlformats.org/drawingml/2006/main">
              <a:ext uri="{FF2B5EF4-FFF2-40B4-BE49-F238E27FC236}">
                <a16:creationId xmlns:a16="http://schemas.microsoft.com/office/drawing/2014/main" id="{295997A3-6CDE-4B2D-BDB2-A39640B2B78A}"/>
              </a:ext>
            </a:extLst>
          </p:cNvPr>
          <p:cNvSpPr>
            <a:spLocks xmlns:a="http://schemas.openxmlformats.org/drawingml/2006/main" noGrp="1"/>
          </p:cNvSpPr>
          <p:nvPr/>
        </p:nvSpPr>
        <p:spPr>
          <a:xfrm xmlns:a="http://schemas.openxmlformats.org/drawingml/2006/main">
            <a:off x="4924425" y="4248150"/>
            <a:ext cx="26098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06673"/>
                </a:solidFill>
                <a:latin typeface="Bitstream Charter"/>
                <a:ea typeface="Bitstream Charter"/>
                <a:cs typeface="Bitstream Charter"/>
              </a:defRPr>
            </a:pPr>
            <a:r>
              <a:rPr sz="1650" b="0">
                <a:solidFill>
                  <a:srgbClr val="506673"/>
                </a:solidFill>
                <a:latin typeface="Bitstream Charter"/>
                <a:ea typeface="Bitstream Charter"/>
                <a:cs typeface="Bitstream Charter"/>
              </a:rPr>
              <a:t>Reviewer checks evidence and explicitly approves or rejects.</a:t>
            </a:r>
          </a:p>
        </p:txBody>
      </p:sp>
      <p:sp>
        <p:nvSpPr>
          <p:cNvPr id="19" name="">
            <a:extLst xmlns:a="http://schemas.openxmlformats.org/drawingml/2006/main">
              <a:ext uri="{FF2B5EF4-FFF2-40B4-BE49-F238E27FC236}">
                <a16:creationId xmlns:a16="http://schemas.microsoft.com/office/drawing/2014/main" id="{BEE085BB-2C3C-42FE-8150-89AF3DB19181}"/>
              </a:ext>
            </a:extLst>
          </p:cNvPr>
          <p:cNvSpPr>
            <a:spLocks xmlns:a="http://schemas.openxmlformats.org/drawingml/2006/main" noGrp="1"/>
          </p:cNvSpPr>
          <p:nvPr/>
        </p:nvSpPr>
        <p:spPr>
          <a:xfrm xmlns:a="http://schemas.openxmlformats.org/drawingml/2006/main">
            <a:off x="7962900" y="370522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47A78"/>
                </a:solidFill>
                <a:latin typeface="Bitstream Charter"/>
                <a:ea typeface="Bitstream Charter"/>
                <a:cs typeface="Bitstream Charter"/>
              </a:defRPr>
            </a:pPr>
            <a:r>
              <a:rPr sz="2025" b="1">
                <a:solidFill>
                  <a:srgbClr val="047A78"/>
                </a:solidFill>
                <a:latin typeface="Bitstream Charter"/>
                <a:ea typeface="Bitstream Charter"/>
                <a:cs typeface="Bitstream Charter"/>
              </a:rPr>
              <a:t>6</a:t>
            </a:r>
          </a:p>
        </p:txBody>
      </p:sp>
      <p:sp>
        <p:nvSpPr>
          <p:cNvPr id="20" name="">
            <a:extLst xmlns:a="http://schemas.openxmlformats.org/drawingml/2006/main">
              <a:ext uri="{FF2B5EF4-FFF2-40B4-BE49-F238E27FC236}">
                <a16:creationId xmlns:a16="http://schemas.microsoft.com/office/drawing/2014/main" id="{36A0C872-5D77-47BE-A362-F6B1CD5DA5AB}"/>
              </a:ext>
            </a:extLst>
          </p:cNvPr>
          <p:cNvSpPr>
            <a:spLocks xmlns:a="http://schemas.openxmlformats.org/drawingml/2006/main" noGrp="1"/>
          </p:cNvSpPr>
          <p:nvPr/>
        </p:nvSpPr>
        <p:spPr>
          <a:xfrm xmlns:a="http://schemas.openxmlformats.org/drawingml/2006/main">
            <a:off x="8448675" y="3705225"/>
            <a:ext cx="25812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42B38"/>
                </a:solidFill>
                <a:latin typeface="Bitstream Charter"/>
                <a:ea typeface="Bitstream Charter"/>
                <a:cs typeface="Bitstream Charter"/>
              </a:defRPr>
            </a:pPr>
            <a:r>
              <a:rPr sz="2025" b="1">
                <a:solidFill>
                  <a:srgbClr val="142B38"/>
                </a:solidFill>
                <a:latin typeface="Bitstream Charter"/>
                <a:ea typeface="Bitstream Charter"/>
                <a:cs typeface="Bitstream Charter"/>
              </a:rPr>
              <a:t>Create case</a:t>
            </a:r>
          </a:p>
        </p:txBody>
      </p:sp>
      <p:sp>
        <p:nvSpPr>
          <p:cNvPr id="21" name="">
            <a:extLst xmlns:a="http://schemas.openxmlformats.org/drawingml/2006/main">
              <a:ext uri="{FF2B5EF4-FFF2-40B4-BE49-F238E27FC236}">
                <a16:creationId xmlns:a16="http://schemas.microsoft.com/office/drawing/2014/main" id="{4461A8EA-FA86-4D8A-B89A-BD90EF0D9131}"/>
              </a:ext>
            </a:extLst>
          </p:cNvPr>
          <p:cNvSpPr>
            <a:spLocks xmlns:a="http://schemas.openxmlformats.org/drawingml/2006/main" noGrp="1"/>
          </p:cNvSpPr>
          <p:nvPr/>
        </p:nvSpPr>
        <p:spPr>
          <a:xfrm xmlns:a="http://schemas.openxmlformats.org/drawingml/2006/main">
            <a:off x="8448675" y="4248150"/>
            <a:ext cx="26098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06673"/>
                </a:solidFill>
                <a:latin typeface="Bitstream Charter"/>
                <a:ea typeface="Bitstream Charter"/>
                <a:cs typeface="Bitstream Charter"/>
              </a:defRPr>
            </a:pPr>
            <a:r>
              <a:rPr sz="1650" b="0">
                <a:solidFill>
                  <a:srgbClr val="506673"/>
                </a:solidFill>
                <a:latin typeface="Bitstream Charter"/>
                <a:ea typeface="Bitstream Charter"/>
                <a:cs typeface="Bitstream Charter"/>
              </a:rPr>
              <a:t>HTTP integration writes a durable SQLite case after approval.</a:t>
            </a:r>
          </a:p>
        </p:txBody>
      </p:sp>
      <p:sp>
        <p:nvSpPr>
          <p:cNvPr id="22" name="">
            <a:extLst xmlns:a="http://schemas.openxmlformats.org/drawingml/2006/main">
              <a:ext uri="{FF2B5EF4-FFF2-40B4-BE49-F238E27FC236}">
                <a16:creationId xmlns:a16="http://schemas.microsoft.com/office/drawing/2014/main" id="{743C271C-F375-4573-8665-8041F3B079A7}"/>
              </a:ext>
            </a:extLst>
          </p:cNvPr>
          <p:cNvSpPr>
            <a:spLocks xmlns:a="http://schemas.openxmlformats.org/drawingml/2006/main" noGrp="1"/>
          </p:cNvSpPr>
          <p:nvPr/>
        </p:nvSpPr>
        <p:spPr>
          <a:xfrm xmlns:a="http://schemas.openxmlformats.org/drawingml/2006/main">
            <a:off x="914400" y="5953125"/>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47A78"/>
                </a:solidFill>
                <a:latin typeface="Bitstream Charter"/>
                <a:ea typeface="Bitstream Charter"/>
                <a:cs typeface="Bitstream Charter"/>
              </a:defRPr>
            </a:pPr>
            <a:r>
              <a:rPr sz="1950" b="1">
                <a:solidFill>
                  <a:srgbClr val="047A78"/>
                </a:solidFill>
                <a:latin typeface="Bitstream Charter"/>
                <a:ea typeface="Bitstream Charter"/>
                <a:cs typeface="Bitstream Charter"/>
              </a:rPr>
              <a:t>Insufficient evidence → request more information, with no case creation.</a:t>
            </a:r>
          </a:p>
        </p:txBody>
      </p:sp>
    </p:spTree>
    <p:extLst>
      <p:ext uri="{BB962C8B-B14F-4D97-AF65-F5344CB8AC3E}">
        <p14:creationId xmlns:p14="http://schemas.microsoft.com/office/powerpoint/2010/main" val="1745453000"/>
      </p:ext>
    </p:extLst>
  </p:cSld>
</p:sld>
</file>

<file path=ppt/slides/slide4.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C26C6F0-EF12-4154-921D-53A55A102DE0}"/>
              </a:ext>
            </a:extLst>
          </p:cNvPr>
          <p:cNvSpPr>
            <a:spLocks xmlns:a="http://schemas.openxmlformats.org/drawingml/2006/main" noGrp="1"/>
          </p:cNvSpPr>
          <p:nvPr/>
        </p:nvSpPr>
        <p:spPr>
          <a:xfrm xmlns:a="http://schemas.openxmlformats.org/drawingml/2006/main">
            <a:off x="609600" y="514350"/>
            <a:ext cx="95250" cy="523875"/>
          </a:xfrm>
          <a:prstGeom xmlns:a="http://schemas.openxmlformats.org/drawingml/2006/main" prst="rect">
            <a:avLst/>
          </a:prstGeom>
          <a:solidFill xmlns:a="http://schemas.openxmlformats.org/drawingml/2006/main">
            <a:srgbClr val="047A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8A9054-D38A-4A35-AA1F-16295BCA61D4}"/>
              </a:ext>
            </a:extLst>
          </p:cNvPr>
          <p:cNvSpPr>
            <a:spLocks xmlns:a="http://schemas.openxmlformats.org/drawingml/2006/main" noGrp="1"/>
          </p:cNvSpPr>
          <p:nvPr/>
        </p:nvSpPr>
        <p:spPr>
          <a:xfrm xmlns:a="http://schemas.openxmlformats.org/drawingml/2006/main">
            <a:off x="914400" y="4953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142B38"/>
                </a:solidFill>
                <a:latin typeface="Bitstream Charter"/>
                <a:ea typeface="Bitstream Charter"/>
                <a:cs typeface="Bitstream Charter"/>
              </a:defRPr>
            </a:pPr>
            <a:r>
              <a:rPr sz="3000" b="1">
                <a:solidFill>
                  <a:srgbClr val="142B38"/>
                </a:solidFill>
                <a:latin typeface="Bitstream Charter"/>
                <a:ea typeface="Bitstream Charter"/>
                <a:cs typeface="Bitstream Charter"/>
              </a:rPr>
              <a:t>Evidence is checked; authority stays with the reviewer</a:t>
            </a:r>
          </a:p>
        </p:txBody>
      </p:sp>
      <p:sp>
        <p:nvSpPr>
          <p:cNvPr id="3" name="">
            <a:extLst xmlns:a="http://schemas.openxmlformats.org/drawingml/2006/main">
              <a:ext uri="{FF2B5EF4-FFF2-40B4-BE49-F238E27FC236}">
                <a16:creationId xmlns:a16="http://schemas.microsoft.com/office/drawing/2014/main" id="{B5196DFC-3F40-42F0-A165-FD1A8291424A}"/>
              </a:ext>
            </a:extLst>
          </p:cNvPr>
          <p:cNvSpPr>
            <a:spLocks xmlns:a="http://schemas.openxmlformats.org/drawingml/2006/main" noGrp="1"/>
          </p:cNvSpPr>
          <p:nvPr/>
        </p:nvSpPr>
        <p:spPr>
          <a:xfrm xmlns:a="http://schemas.openxmlformats.org/drawingml/2006/main">
            <a:off x="914400" y="1762125"/>
            <a:ext cx="276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47A78"/>
                </a:solidFill>
                <a:latin typeface="Bitstream Charter"/>
                <a:ea typeface="Bitstream Charter"/>
                <a:cs typeface="Bitstream Charter"/>
              </a:defRPr>
            </a:pPr>
            <a:r>
              <a:rPr sz="2100" b="1">
                <a:solidFill>
                  <a:srgbClr val="047A78"/>
                </a:solidFill>
                <a:latin typeface="Bitstream Charter"/>
                <a:ea typeface="Bitstream Charter"/>
                <a:cs typeface="Bitstream Charter"/>
              </a:rPr>
              <a:t>Grounding</a:t>
            </a:r>
          </a:p>
        </p:txBody>
      </p:sp>
      <p:sp>
        <p:nvSpPr>
          <p:cNvPr id="4" name="">
            <a:extLst xmlns:a="http://schemas.openxmlformats.org/drawingml/2006/main">
              <a:ext uri="{FF2B5EF4-FFF2-40B4-BE49-F238E27FC236}">
                <a16:creationId xmlns:a16="http://schemas.microsoft.com/office/drawing/2014/main" id="{FE11D9ED-5CB1-421C-8783-93C3553A9816}"/>
              </a:ext>
            </a:extLst>
          </p:cNvPr>
          <p:cNvSpPr>
            <a:spLocks xmlns:a="http://schemas.openxmlformats.org/drawingml/2006/main" noGrp="1"/>
          </p:cNvSpPr>
          <p:nvPr/>
        </p:nvSpPr>
        <p:spPr>
          <a:xfrm xmlns:a="http://schemas.openxmlformats.org/drawingml/2006/main">
            <a:off x="3943350" y="1762125"/>
            <a:ext cx="719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B38"/>
                </a:solidFill>
                <a:latin typeface="Bitstream Charter"/>
                <a:ea typeface="Bitstream Charter"/>
                <a:cs typeface="Bitstream Charter"/>
              </a:defRPr>
            </a:pPr>
            <a:r>
              <a:rPr sz="2025" b="0">
                <a:solidFill>
                  <a:srgbClr val="142B38"/>
                </a:solidFill>
                <a:latin typeface="Bitstream Charter"/>
                <a:ea typeface="Bitstream Charter"/>
                <a:cs typeface="Bitstream Charter"/>
              </a:rPr>
              <a:t>Exact source text, section IDs, versions and SHA-256 hashes. A citation can still be irrelevant; the reviewer must check it.</a:t>
            </a:r>
          </a:p>
        </p:txBody>
      </p:sp>
      <p:sp>
        <p:nvSpPr>
          <p:cNvPr id="5" name="">
            <a:extLst xmlns:a="http://schemas.openxmlformats.org/drawingml/2006/main">
              <a:ext uri="{FF2B5EF4-FFF2-40B4-BE49-F238E27FC236}">
                <a16:creationId xmlns:a16="http://schemas.microsoft.com/office/drawing/2014/main" id="{CED3949D-8E6B-4AEC-B859-C4A32900EEAF}"/>
              </a:ext>
            </a:extLst>
          </p:cNvPr>
          <p:cNvSpPr>
            <a:spLocks xmlns:a="http://schemas.openxmlformats.org/drawingml/2006/main" noGrp="1"/>
          </p:cNvSpPr>
          <p:nvPr/>
        </p:nvSpPr>
        <p:spPr>
          <a:xfrm xmlns:a="http://schemas.openxmlformats.org/drawingml/2006/main">
            <a:off x="914400" y="2847975"/>
            <a:ext cx="276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47A78"/>
                </a:solidFill>
                <a:latin typeface="Bitstream Charter"/>
                <a:ea typeface="Bitstream Charter"/>
                <a:cs typeface="Bitstream Charter"/>
              </a:defRPr>
            </a:pPr>
            <a:r>
              <a:rPr sz="2100" b="1">
                <a:solidFill>
                  <a:srgbClr val="047A78"/>
                </a:solidFill>
                <a:latin typeface="Bitstream Charter"/>
                <a:ea typeface="Bitstream Charter"/>
                <a:cs typeface="Bitstream Charter"/>
              </a:rPr>
              <a:t>Action boundary</a:t>
            </a:r>
          </a:p>
        </p:txBody>
      </p:sp>
      <p:sp>
        <p:nvSpPr>
          <p:cNvPr id="6" name="">
            <a:extLst xmlns:a="http://schemas.openxmlformats.org/drawingml/2006/main">
              <a:ext uri="{FF2B5EF4-FFF2-40B4-BE49-F238E27FC236}">
                <a16:creationId xmlns:a16="http://schemas.microsoft.com/office/drawing/2014/main" id="{F9F9D262-097E-44D1-971D-66B42152E91E}"/>
              </a:ext>
            </a:extLst>
          </p:cNvPr>
          <p:cNvSpPr>
            <a:spLocks xmlns:a="http://schemas.openxmlformats.org/drawingml/2006/main" noGrp="1"/>
          </p:cNvSpPr>
          <p:nvPr/>
        </p:nvSpPr>
        <p:spPr>
          <a:xfrm xmlns:a="http://schemas.openxmlformats.org/drawingml/2006/main">
            <a:off x="3943350" y="2847975"/>
            <a:ext cx="719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B38"/>
                </a:solidFill>
                <a:latin typeface="Bitstream Charter"/>
                <a:ea typeface="Bitstream Charter"/>
                <a:cs typeface="Bitstream Charter"/>
              </a:defRPr>
            </a:pPr>
            <a:r>
              <a:rPr sz="2025" b="0">
                <a:solidFill>
                  <a:srgbClr val="142B38"/>
                </a:solidFill>
                <a:latin typeface="Bitstream Charter"/>
                <a:ea typeface="Bitstream Charter"/>
                <a:cs typeface="Bitstream Charter"/>
              </a:rPr>
              <a:t>The model recommends. Only an explicit human approval can create a case. It cannot grant a policy exception.</a:t>
            </a:r>
          </a:p>
        </p:txBody>
      </p:sp>
      <p:sp>
        <p:nvSpPr>
          <p:cNvPr id="7" name="">
            <a:extLst xmlns:a="http://schemas.openxmlformats.org/drawingml/2006/main">
              <a:ext uri="{FF2B5EF4-FFF2-40B4-BE49-F238E27FC236}">
                <a16:creationId xmlns:a16="http://schemas.microsoft.com/office/drawing/2014/main" id="{EB09FC8A-A469-4BBD-9956-81DFD1A63C1A}"/>
              </a:ext>
            </a:extLst>
          </p:cNvPr>
          <p:cNvSpPr>
            <a:spLocks xmlns:a="http://schemas.openxmlformats.org/drawingml/2006/main" noGrp="1"/>
          </p:cNvSpPr>
          <p:nvPr/>
        </p:nvSpPr>
        <p:spPr>
          <a:xfrm xmlns:a="http://schemas.openxmlformats.org/drawingml/2006/main">
            <a:off x="914400" y="3933825"/>
            <a:ext cx="276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47A78"/>
                </a:solidFill>
                <a:latin typeface="Bitstream Charter"/>
                <a:ea typeface="Bitstream Charter"/>
                <a:cs typeface="Bitstream Charter"/>
              </a:defRPr>
            </a:pPr>
            <a:r>
              <a:rPr sz="2100" b="1">
                <a:solidFill>
                  <a:srgbClr val="047A78"/>
                </a:solidFill>
                <a:latin typeface="Bitstream Charter"/>
                <a:ea typeface="Bitstream Charter"/>
                <a:cs typeface="Bitstream Charter"/>
              </a:rPr>
              <a:t>Operational controls</a:t>
            </a:r>
          </a:p>
        </p:txBody>
      </p:sp>
      <p:sp>
        <p:nvSpPr>
          <p:cNvPr id="8" name="">
            <a:extLst xmlns:a="http://schemas.openxmlformats.org/drawingml/2006/main">
              <a:ext uri="{FF2B5EF4-FFF2-40B4-BE49-F238E27FC236}">
                <a16:creationId xmlns:a16="http://schemas.microsoft.com/office/drawing/2014/main" id="{418FE3EE-C4AA-4740-8505-C97A762586D9}"/>
              </a:ext>
            </a:extLst>
          </p:cNvPr>
          <p:cNvSpPr>
            <a:spLocks xmlns:a="http://schemas.openxmlformats.org/drawingml/2006/main" noGrp="1"/>
          </p:cNvSpPr>
          <p:nvPr/>
        </p:nvSpPr>
        <p:spPr>
          <a:xfrm xmlns:a="http://schemas.openxmlformats.org/drawingml/2006/main">
            <a:off x="3943350" y="3933825"/>
            <a:ext cx="7191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B38"/>
                </a:solidFill>
                <a:latin typeface="Bitstream Charter"/>
                <a:ea typeface="Bitstream Charter"/>
                <a:cs typeface="Bitstream Charter"/>
              </a:defRPr>
            </a:pPr>
            <a:r>
              <a:rPr sz="2025" b="0">
                <a:solidFill>
                  <a:srgbClr val="142B38"/>
                </a:solidFill>
                <a:latin typeface="Bitstream Charter"/>
                <a:ea typeface="Bitstream Charter"/>
                <a:cs typeface="Bitstream Charter"/>
              </a:rPr>
              <a:t>Persistent audit records, one-hour proposal expiry, changed-policy checks, and duplicate-approval protection.</a:t>
            </a:r>
          </a:p>
        </p:txBody>
      </p:sp>
      <p:sp>
        <p:nvSpPr>
          <p:cNvPr id="9" name="">
            <a:extLst xmlns:a="http://schemas.openxmlformats.org/drawingml/2006/main">
              <a:ext uri="{FF2B5EF4-FFF2-40B4-BE49-F238E27FC236}">
                <a16:creationId xmlns:a16="http://schemas.microsoft.com/office/drawing/2014/main" id="{634CFA5D-0622-4C54-BC89-A1A41D03BB07}"/>
              </a:ext>
            </a:extLst>
          </p:cNvPr>
          <p:cNvSpPr>
            <a:spLocks xmlns:a="http://schemas.openxmlformats.org/drawingml/2006/main" noGrp="1"/>
          </p:cNvSpPr>
          <p:nvPr/>
        </p:nvSpPr>
        <p:spPr>
          <a:xfrm xmlns:a="http://schemas.openxmlformats.org/drawingml/2006/main">
            <a:off x="914400" y="5334000"/>
            <a:ext cx="10363200" cy="19050"/>
          </a:xfrm>
          <a:prstGeom xmlns:a="http://schemas.openxmlformats.org/drawingml/2006/main" prst="rect">
            <a:avLst/>
          </a:prstGeom>
          <a:solidFill xmlns:a="http://schemas.openxmlformats.org/drawingml/2006/main">
            <a:srgbClr val="C7D8D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C3F6304-46E9-4356-8A56-774126FF1BF6}"/>
              </a:ext>
            </a:extLst>
          </p:cNvPr>
          <p:cNvSpPr>
            <a:spLocks xmlns:a="http://schemas.openxmlformats.org/drawingml/2006/main" noGrp="1"/>
          </p:cNvSpPr>
          <p:nvPr/>
        </p:nvSpPr>
        <p:spPr>
          <a:xfrm xmlns:a="http://schemas.openxmlformats.org/drawingml/2006/main">
            <a:off x="914400" y="5629275"/>
            <a:ext cx="2809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142B38"/>
                </a:solidFill>
                <a:latin typeface="Bitstream Charter"/>
                <a:ea typeface="Bitstream Charter"/>
                <a:cs typeface="Bitstream Charter"/>
              </a:defRPr>
            </a:pPr>
            <a:r>
              <a:rPr sz="1875" b="1">
                <a:solidFill>
                  <a:srgbClr val="142B38"/>
                </a:solidFill>
                <a:latin typeface="Bitstream Charter"/>
                <a:ea typeface="Bitstream Charter"/>
                <a:cs typeface="Bitstream Charter"/>
              </a:rPr>
              <a:t>Demo boundary</a:t>
            </a:r>
          </a:p>
        </p:txBody>
      </p:sp>
      <p:sp>
        <p:nvSpPr>
          <p:cNvPr id="11" name="">
            <a:extLst xmlns:a="http://schemas.openxmlformats.org/drawingml/2006/main">
              <a:ext uri="{FF2B5EF4-FFF2-40B4-BE49-F238E27FC236}">
                <a16:creationId xmlns:a16="http://schemas.microsoft.com/office/drawing/2014/main" id="{CA74E4F5-D970-4E7C-813B-02EBB3DC41A7}"/>
              </a:ext>
            </a:extLst>
          </p:cNvPr>
          <p:cNvSpPr>
            <a:spLocks xmlns:a="http://schemas.openxmlformats.org/drawingml/2006/main" noGrp="1"/>
          </p:cNvSpPr>
          <p:nvPr/>
        </p:nvSpPr>
        <p:spPr>
          <a:xfrm xmlns:a="http://schemas.openxmlformats.org/drawingml/2006/main">
            <a:off x="3943350" y="5562600"/>
            <a:ext cx="7191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06673"/>
                </a:solidFill>
                <a:latin typeface="Bitstream Charter"/>
                <a:ea typeface="Bitstream Charter"/>
                <a:cs typeface="Bitstream Charter"/>
              </a:defRPr>
            </a:pPr>
            <a:r>
              <a:rPr sz="1875" b="0">
                <a:solidFill>
                  <a:srgbClr val="506673"/>
                </a:solidFill>
                <a:latin typeface="Bitstream Charter"/>
                <a:ea typeface="Bitstream Charter"/>
                <a:cs typeface="Bitstream Charter"/>
              </a:rPr>
              <a:t>Local token auth and self-declared reviewer identity. Enterprise SSO, RBAC and immutable audit storage are next steps.</a:t>
            </a:r>
          </a:p>
        </p:txBody>
      </p:sp>
    </p:spTree>
    <p:extLst>
      <p:ext uri="{BB962C8B-B14F-4D97-AF65-F5344CB8AC3E}">
        <p14:creationId xmlns:p14="http://schemas.microsoft.com/office/powerpoint/2010/main" val="1723584088"/>
      </p:ext>
    </p:extLst>
  </p:cSld>
</p:sld>
</file>

<file path=ppt/slides/slide5.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B66C0D5-2D7E-4DDD-8C02-37CAD4BD3FD6}"/>
              </a:ext>
            </a:extLst>
          </p:cNvPr>
          <p:cNvSpPr>
            <a:spLocks xmlns:a="http://schemas.openxmlformats.org/drawingml/2006/main" noGrp="1"/>
          </p:cNvSpPr>
          <p:nvPr/>
        </p:nvSpPr>
        <p:spPr>
          <a:xfrm xmlns:a="http://schemas.openxmlformats.org/drawingml/2006/main">
            <a:off x="609600" y="514350"/>
            <a:ext cx="95250" cy="523875"/>
          </a:xfrm>
          <a:prstGeom xmlns:a="http://schemas.openxmlformats.org/drawingml/2006/main" prst="rect">
            <a:avLst/>
          </a:prstGeom>
          <a:solidFill xmlns:a="http://schemas.openxmlformats.org/drawingml/2006/main">
            <a:srgbClr val="047A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C347522-17A0-4020-B12D-E554930C0E20}"/>
              </a:ext>
            </a:extLst>
          </p:cNvPr>
          <p:cNvSpPr>
            <a:spLocks xmlns:a="http://schemas.openxmlformats.org/drawingml/2006/main" noGrp="1"/>
          </p:cNvSpPr>
          <p:nvPr/>
        </p:nvSpPr>
        <p:spPr>
          <a:xfrm xmlns:a="http://schemas.openxmlformats.org/drawingml/2006/main">
            <a:off x="914400" y="4953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142B38"/>
                </a:solidFill>
                <a:latin typeface="Bitstream Charter"/>
                <a:ea typeface="Bitstream Charter"/>
                <a:cs typeface="Bitstream Charter"/>
              </a:defRPr>
            </a:pPr>
            <a:r>
              <a:rPr sz="3000" b="1">
                <a:solidFill>
                  <a:srgbClr val="142B38"/>
                </a:solidFill>
                <a:latin typeface="Bitstream Charter"/>
                <a:ea typeface="Bitstream Charter"/>
                <a:cs typeface="Bitstream Charter"/>
              </a:rPr>
              <a:t>Demonstrate the decision, then prove the action</a:t>
            </a:r>
          </a:p>
        </p:txBody>
      </p:sp>
      <p:sp>
        <p:nvSpPr>
          <p:cNvPr id="3" name="">
            <a:extLst xmlns:a="http://schemas.openxmlformats.org/drawingml/2006/main">
              <a:ext uri="{FF2B5EF4-FFF2-40B4-BE49-F238E27FC236}">
                <a16:creationId xmlns:a16="http://schemas.microsoft.com/office/drawing/2014/main" id="{B8DB1B77-F46F-4BFA-AAAF-34EA22BDBDC4}"/>
              </a:ext>
            </a:extLst>
          </p:cNvPr>
          <p:cNvSpPr>
            <a:spLocks xmlns:a="http://schemas.openxmlformats.org/drawingml/2006/main" noGrp="1"/>
          </p:cNvSpPr>
          <p:nvPr/>
        </p:nvSpPr>
        <p:spPr>
          <a:xfrm xmlns:a="http://schemas.openxmlformats.org/drawingml/2006/main">
            <a:off x="914400" y="16097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47A78"/>
                </a:solidFill>
                <a:latin typeface="Bitstream Charter"/>
                <a:ea typeface="Bitstream Charter"/>
                <a:cs typeface="Bitstream Charter"/>
              </a:defRPr>
            </a:pPr>
            <a:r>
              <a:rPr sz="2100" b="1">
                <a:solidFill>
                  <a:srgbClr val="047A78"/>
                </a:solidFill>
                <a:latin typeface="Bitstream Charter"/>
                <a:ea typeface="Bitstream Charter"/>
                <a:cs typeface="Bitstream Charter"/>
              </a:rPr>
              <a:t>Live demo sequence</a:t>
            </a:r>
          </a:p>
        </p:txBody>
      </p:sp>
      <p:sp>
        <p:nvSpPr>
          <p:cNvPr id="4" name="">
            <a:extLst xmlns:a="http://schemas.openxmlformats.org/drawingml/2006/main">
              <a:ext uri="{FF2B5EF4-FFF2-40B4-BE49-F238E27FC236}">
                <a16:creationId xmlns:a16="http://schemas.microsoft.com/office/drawing/2014/main" id="{C8B9C726-0514-46A1-93D6-E570986D8466}"/>
              </a:ext>
            </a:extLst>
          </p:cNvPr>
          <p:cNvSpPr>
            <a:spLocks xmlns:a="http://schemas.openxmlformats.org/drawingml/2006/main" noGrp="1"/>
          </p:cNvSpPr>
          <p:nvPr/>
        </p:nvSpPr>
        <p:spPr>
          <a:xfrm xmlns:a="http://schemas.openxmlformats.org/drawingml/2006/main">
            <a:off x="914400" y="2276475"/>
            <a:ext cx="5810250" cy="316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B38"/>
                </a:solidFill>
                <a:latin typeface="Bitstream Charter"/>
                <a:ea typeface="Bitstream Charter"/>
                <a:cs typeface="Bitstream Charter"/>
              </a:defRPr>
            </a:pPr>
            <a:r>
              <a:rPr sz="2025" b="0">
                <a:solidFill>
                  <a:srgbClr val="142B38"/>
                </a:solidFill>
                <a:latin typeface="Bitstream Charter"/>
                <a:ea typeface="Bitstream Charter"/>
                <a:cs typeface="Bitstream Charter"/>
              </a:rPr>
              <a:t>1  Ask about customer data in a public AI chatbot.</a:t>
            </a:r>
          </a:p>
          <a:p xmlns:a="http://schemas.openxmlformats.org/drawingml/2006/main">
            <a:r>
              <a:t/>
            </a:r>
          </a:p>
          <a:p xmlns:a="http://schemas.openxmlformats.org/drawingml/2006/main">
            <a:pPr>
              <a:buNone/>
              <a:defRPr sz="2025" b="0">
                <a:solidFill>
                  <a:srgbClr val="142B38"/>
                </a:solidFill>
                <a:latin typeface="Bitstream Charter"/>
                <a:ea typeface="Bitstream Charter"/>
                <a:cs typeface="Bitstream Charter"/>
              </a:defRPr>
            </a:pPr>
            <a:r>
              <a:rPr sz="2025" b="0">
                <a:solidFill>
                  <a:srgbClr val="142B38"/>
                </a:solidFill>
                <a:latin typeface="Bitstream Charter"/>
                <a:ea typeface="Bitstream Charter"/>
                <a:cs typeface="Bitstream Charter"/>
              </a:rPr>
              <a:t>2  Inspect AI-01 and the SecurityReview queue.</a:t>
            </a:r>
          </a:p>
          <a:p xmlns:a="http://schemas.openxmlformats.org/drawingml/2006/main">
            <a:r>
              <a:t/>
            </a:r>
          </a:p>
          <a:p xmlns:a="http://schemas.openxmlformats.org/drawingml/2006/main">
            <a:pPr>
              <a:buNone/>
              <a:defRPr sz="2025" b="0">
                <a:solidFill>
                  <a:srgbClr val="142B38"/>
                </a:solidFill>
                <a:latin typeface="Bitstream Charter"/>
                <a:ea typeface="Bitstream Charter"/>
                <a:cs typeface="Bitstream Charter"/>
              </a:defRPr>
            </a:pPr>
            <a:r>
              <a:rPr sz="2025" b="0">
                <a:solidFill>
                  <a:srgbClr val="142B38"/>
                </a:solidFill>
                <a:latin typeface="Bitstream Charter"/>
                <a:ea typeface="Bitstream Charter"/>
                <a:cs typeface="Bitstream Charter"/>
              </a:rPr>
              <a:t>3  Approve and show the persisted case ID.</a:t>
            </a:r>
          </a:p>
          <a:p xmlns:a="http://schemas.openxmlformats.org/drawingml/2006/main">
            <a:r>
              <a:t/>
            </a:r>
          </a:p>
          <a:p xmlns:a="http://schemas.openxmlformats.org/drawingml/2006/main">
            <a:pPr>
              <a:buNone/>
              <a:defRPr sz="2025" b="0">
                <a:solidFill>
                  <a:srgbClr val="142B38"/>
                </a:solidFill>
                <a:latin typeface="Bitstream Charter"/>
                <a:ea typeface="Bitstream Charter"/>
                <a:cs typeface="Bitstream Charter"/>
              </a:defRPr>
            </a:pPr>
            <a:r>
              <a:rPr sz="2025" b="0">
                <a:solidFill>
                  <a:srgbClr val="142B38"/>
                </a:solidFill>
                <a:latin typeface="Bitstream Charter"/>
                <a:ea typeface="Bitstream Charter"/>
                <a:cs typeface="Bitstream Charter"/>
              </a:rPr>
              <a:t>4  Ask an unsupported retention question.</a:t>
            </a:r>
          </a:p>
          <a:p xmlns:a="http://schemas.openxmlformats.org/drawingml/2006/main">
            <a:r>
              <a:t/>
            </a:r>
          </a:p>
          <a:p xmlns:a="http://schemas.openxmlformats.org/drawingml/2006/main">
            <a:pPr>
              <a:buNone/>
              <a:defRPr sz="2025" b="0">
                <a:solidFill>
                  <a:srgbClr val="142B38"/>
                </a:solidFill>
                <a:latin typeface="Bitstream Charter"/>
                <a:ea typeface="Bitstream Charter"/>
                <a:cs typeface="Bitstream Charter"/>
              </a:defRPr>
            </a:pPr>
            <a:r>
              <a:rPr sz="2025" b="0">
                <a:solidFill>
                  <a:srgbClr val="142B38"/>
                </a:solidFill>
                <a:latin typeface="Bitstream Charter"/>
                <a:ea typeface="Bitstream Charter"/>
                <a:cs typeface="Bitstream Charter"/>
              </a:rPr>
              <a:t>5  Show abstention and no new case.</a:t>
            </a:r>
          </a:p>
        </p:txBody>
      </p:sp>
      <p:sp>
        <p:nvSpPr>
          <p:cNvPr id="5" name="">
            <a:extLst xmlns:a="http://schemas.openxmlformats.org/drawingml/2006/main">
              <a:ext uri="{FF2B5EF4-FFF2-40B4-BE49-F238E27FC236}">
                <a16:creationId xmlns:a16="http://schemas.microsoft.com/office/drawing/2014/main" id="{DE77F850-75CC-462C-89D4-8F9F23CBABA7}"/>
              </a:ext>
            </a:extLst>
          </p:cNvPr>
          <p:cNvSpPr>
            <a:spLocks xmlns:a="http://schemas.openxmlformats.org/drawingml/2006/main" noGrp="1"/>
          </p:cNvSpPr>
          <p:nvPr/>
        </p:nvSpPr>
        <p:spPr>
          <a:xfrm xmlns:a="http://schemas.openxmlformats.org/drawingml/2006/main">
            <a:off x="7277100" y="1628775"/>
            <a:ext cx="19050" cy="3857625"/>
          </a:xfrm>
          <a:prstGeom xmlns:a="http://schemas.openxmlformats.org/drawingml/2006/main" prst="rect">
            <a:avLst/>
          </a:prstGeom>
          <a:solidFill xmlns:a="http://schemas.openxmlformats.org/drawingml/2006/main">
            <a:srgbClr val="C7D8D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E8B4284-AE7A-47E3-8C47-D4813D32FEB1}"/>
              </a:ext>
            </a:extLst>
          </p:cNvPr>
          <p:cNvSpPr>
            <a:spLocks xmlns:a="http://schemas.openxmlformats.org/drawingml/2006/main" noGrp="1"/>
          </p:cNvSpPr>
          <p:nvPr/>
        </p:nvSpPr>
        <p:spPr>
          <a:xfrm xmlns:a="http://schemas.openxmlformats.org/drawingml/2006/main">
            <a:off x="7753350" y="1666875"/>
            <a:ext cx="3543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47A78"/>
                </a:solidFill>
                <a:latin typeface="Bitstream Charter"/>
                <a:ea typeface="Bitstream Charter"/>
                <a:cs typeface="Bitstream Charter"/>
              </a:defRPr>
            </a:pPr>
            <a:r>
              <a:rPr sz="2025" b="1">
                <a:solidFill>
                  <a:srgbClr val="047A78"/>
                </a:solidFill>
                <a:latin typeface="Bitstream Charter"/>
                <a:ea typeface="Bitstream Charter"/>
                <a:cs typeface="Bitstream Charter"/>
              </a:rPr>
              <a:t>What has been verified</a:t>
            </a:r>
          </a:p>
        </p:txBody>
      </p:sp>
      <p:sp>
        <p:nvSpPr>
          <p:cNvPr id="7" name="">
            <a:extLst xmlns:a="http://schemas.openxmlformats.org/drawingml/2006/main">
              <a:ext uri="{FF2B5EF4-FFF2-40B4-BE49-F238E27FC236}">
                <a16:creationId xmlns:a16="http://schemas.microsoft.com/office/drawing/2014/main" id="{9915D7C7-810A-4BA5-8351-E7C11AF69ED4}"/>
              </a:ext>
            </a:extLst>
          </p:cNvPr>
          <p:cNvSpPr>
            <a:spLocks xmlns:a="http://schemas.openxmlformats.org/drawingml/2006/main" noGrp="1"/>
          </p:cNvSpPr>
          <p:nvPr/>
        </p:nvSpPr>
        <p:spPr>
          <a:xfrm xmlns:a="http://schemas.openxmlformats.org/drawingml/2006/main">
            <a:off x="7753350" y="2343150"/>
            <a:ext cx="3476625" cy="2705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B38"/>
                </a:solidFill>
                <a:latin typeface="Bitstream Charter"/>
                <a:ea typeface="Bitstream Charter"/>
                <a:cs typeface="Bitstream Charter"/>
              </a:defRPr>
            </a:pPr>
            <a:r>
              <a:rPr sz="1950" b="0">
                <a:solidFill>
                  <a:srgbClr val="142B38"/>
                </a:solidFill>
                <a:latin typeface="Bitstream Charter"/>
                <a:ea typeface="Bitstream Charter"/>
                <a:cs typeface="Bitstream Charter"/>
              </a:rPr>
              <a:t>27/27 application tests passed using model fixtures.</a:t>
            </a:r>
          </a:p>
          <a:p xmlns:a="http://schemas.openxmlformats.org/drawingml/2006/main">
            <a:r>
              <a:t/>
            </a:r>
          </a:p>
          <a:p xmlns:a="http://schemas.openxmlformats.org/drawingml/2006/main">
            <a:pPr>
              <a:buNone/>
              <a:defRPr sz="1950" b="0">
                <a:solidFill>
                  <a:srgbClr val="142B38"/>
                </a:solidFill>
                <a:latin typeface="Bitstream Charter"/>
                <a:ea typeface="Bitstream Charter"/>
                <a:cs typeface="Bitstream Charter"/>
              </a:defRPr>
            </a:pPr>
            <a:r>
              <a:rPr sz="1950" b="0">
                <a:solidFill>
                  <a:srgbClr val="142B38"/>
                </a:solidFill>
                <a:latin typeface="Bitstream Charter"/>
                <a:ea typeface="Bitstream Charter"/>
                <a:cs typeface="Bitstream Charter"/>
              </a:rPr>
              <a:t>10/10 live-model checks passed.</a:t>
            </a:r>
          </a:p>
          <a:p xmlns:a="http://schemas.openxmlformats.org/drawingml/2006/main">
            <a:pPr>
              <a:buNone/>
              <a:defRPr sz="1950" b="0">
                <a:solidFill>
                  <a:srgbClr val="142B38"/>
                </a:solidFill>
                <a:latin typeface="Bitstream Charter"/>
                <a:ea typeface="Bitstream Charter"/>
                <a:cs typeface="Bitstream Charter"/>
              </a:defRPr>
            </a:pPr>
            <a:r>
              <a:rPr sz="1950" b="0">
                <a:solidFill>
                  <a:srgbClr val="142B38"/>
                </a:solidFill>
                <a:latin typeface="Bitstream Charter"/>
                <a:ea typeface="Bitstream Charter"/>
                <a:cs typeface="Bitstream Charter"/>
              </a:rPr>
              <a:t/>
            </a:r>
          </a:p>
          <a:p xmlns:a="http://schemas.openxmlformats.org/drawingml/2006/main">
            <a:pPr>
              <a:buNone/>
              <a:defRPr sz="1950" b="0">
                <a:solidFill>
                  <a:srgbClr val="142B38"/>
                </a:solidFill>
                <a:latin typeface="Bitstream Charter"/>
                <a:ea typeface="Bitstream Charter"/>
                <a:cs typeface="Bitstream Charter"/>
              </a:defRPr>
            </a:pPr>
            <a:r>
              <a:rPr sz="1950" b="0">
                <a:solidFill>
                  <a:srgbClr val="142B38"/>
                </a:solidFill>
                <a:latin typeface="Bitstream Charter"/>
                <a:ea typeface="Bitstream Charter"/>
                <a:cs typeface="Bitstream Charter"/>
              </a:rPr>
              <a:t>Live n8n runs show case creation, rejection and insufficient-evidence blocking.</a:t>
            </a:r>
          </a:p>
        </p:txBody>
      </p:sp>
      <p:sp>
        <p:nvSpPr>
          <p:cNvPr id="8" name="">
            <a:extLst xmlns:a="http://schemas.openxmlformats.org/drawingml/2006/main">
              <a:ext uri="{FF2B5EF4-FFF2-40B4-BE49-F238E27FC236}">
                <a16:creationId xmlns:a16="http://schemas.microsoft.com/office/drawing/2014/main" id="{6E9F97CB-989E-407F-AC66-FB10AB6F45DE}"/>
              </a:ext>
            </a:extLst>
          </p:cNvPr>
          <p:cNvSpPr>
            <a:spLocks xmlns:a="http://schemas.openxmlformats.org/drawingml/2006/main" noGrp="1"/>
          </p:cNvSpPr>
          <p:nvPr/>
        </p:nvSpPr>
        <p:spPr>
          <a:xfrm xmlns:a="http://schemas.openxmlformats.org/drawingml/2006/main">
            <a:off x="914400" y="60388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06673"/>
                </a:solidFill>
                <a:latin typeface="Bitstream Charter"/>
                <a:ea typeface="Bitstream Charter"/>
                <a:cs typeface="Bitstream Charter"/>
              </a:defRPr>
            </a:pPr>
            <a:r>
              <a:rPr sz="1725" b="0">
                <a:solidFill>
                  <a:srgbClr val="506673"/>
                </a:solidFill>
                <a:latin typeface="Bitstream Charter"/>
                <a:ea typeface="Bitstream Charter"/>
                <a:cs typeface="Bitstream Charter"/>
              </a:rPr>
              <a:t>Production path: SSO / RBAC → document ACLs → case-system connector → monitored pilot</a:t>
            </a:r>
          </a:p>
        </p:txBody>
      </p:sp>
    </p:spTree>
    <p:extLst>
      <p:ext uri="{BB962C8B-B14F-4D97-AF65-F5344CB8AC3E}">
        <p14:creationId xmlns:p14="http://schemas.microsoft.com/office/powerpoint/2010/main" val="13846035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2026-09-11T20:39:13.6180000Z</dcterms:created>
  <dcterms:modified xsi:type="dcterms:W3CDTF">2026-09-11T20:39:13.6180000Z</dcterms:modified>
</coreProperties>
</file>