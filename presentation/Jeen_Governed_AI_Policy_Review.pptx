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d985853e824edc" /><Relationship Type="http://schemas.openxmlformats.org/officeDocument/2006/relationships/extended-properties" Target="/docProps/app.xml" Id="Rcafdf8ccfbae4f88" /><Relationship Type="http://schemas.openxmlformats.org/officeDocument/2006/relationships/officeDocument" Target="/ppt/presentation.xml" Id="R44942056a5ff452e" /></Relationships>
</file>

<file path=ppt/presentation.xml><?xml version="1.0" encoding="utf-8"?>
<p:presentation xmlns:p="http://schemas.openxmlformats.org/presentationml/2006/main">
  <p:sldMasterIdLst>
    <p:sldMasterId xmlns:r="http://schemas.openxmlformats.org/officeDocument/2006/relationships" id="2147483648" r:id="Rf92e11d2786240ec"/>
  </p:sldMasterIdLst>
  <p:notesMasterIdLst>
    <p:notesMasterId xmlns:r="http://schemas.openxmlformats.org/officeDocument/2006/relationships" r:id="R677bd9f6e1354b5e"/>
  </p:notesMasterIdLst>
  <p:sldIdLst>
    <p:sldId xmlns:r="http://schemas.openxmlformats.org/officeDocument/2006/relationships" id="256" r:id="R8b6eb95a73db4921"/>
    <p:sldId xmlns:r="http://schemas.openxmlformats.org/officeDocument/2006/relationships" id="257" r:id="R2f8a8ecf32344f32"/>
    <p:sldId xmlns:r="http://schemas.openxmlformats.org/officeDocument/2006/relationships" id="258" r:id="R2292fd499a64411e"/>
    <p:sldId xmlns:r="http://schemas.openxmlformats.org/officeDocument/2006/relationships" id="259" r:id="Rb4e92a7e7f0c4dbb"/>
    <p:sldId xmlns:r="http://schemas.openxmlformats.org/officeDocument/2006/relationships" id="260" r:id="Rb56a739b66d54a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bc2bfcc46294f5a" /><Relationship Type="http://schemas.openxmlformats.org/officeDocument/2006/relationships/slideMaster" Target="/ppt/slideMasters/slideMaster1.xml" Id="Rf92e11d2786240ec" /><Relationship Type="http://schemas.openxmlformats.org/officeDocument/2006/relationships/notesMaster" Target="/ppt/notesMasters/notesMaster1.xml" Id="R677bd9f6e1354b5e" /><Relationship Type="http://schemas.openxmlformats.org/officeDocument/2006/relationships/presProps" Target="/ppt/presProps.xml" Id="R5d77097faf884aec" /><Relationship Type="http://schemas.openxmlformats.org/officeDocument/2006/relationships/viewProps" Target="/ppt/viewProps.xml" Id="R54181f5dde0a40a2" /><Relationship Type="http://schemas.openxmlformats.org/officeDocument/2006/relationships/tableStyles" Target="/ppt/tableStyles.xml" Id="R9867a90cb3f84982" /><Relationship Type="http://schemas.openxmlformats.org/officeDocument/2006/relationships/slide" Target="/ppt/slides/slide1.xml" Id="R8b6eb95a73db4921" /><Relationship Type="http://schemas.openxmlformats.org/officeDocument/2006/relationships/slide" Target="/ppt/slides/slide2.xml" Id="R2f8a8ecf32344f32" /><Relationship Type="http://schemas.openxmlformats.org/officeDocument/2006/relationships/slide" Target="/ppt/slides/slide3.xml" Id="R2292fd499a64411e" /><Relationship Type="http://schemas.openxmlformats.org/officeDocument/2006/relationships/slide" Target="/ppt/slides/slide4.xml" Id="Rb4e92a7e7f0c4dbb" /><Relationship Type="http://schemas.openxmlformats.org/officeDocument/2006/relationships/slide" Target="/ppt/slides/slide5.xml" Id="Rb56a739b66d54a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195ef636ee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227b5b751c4778" /><Relationship Type="http://schemas.openxmlformats.org/officeDocument/2006/relationships/notesMaster" Target="/ppt/notesMasters/notesMaster1.xml" Id="R4050028bf93c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9e5ec3a5144fdb" /><Relationship Type="http://schemas.openxmlformats.org/officeDocument/2006/relationships/notesMaster" Target="/ppt/notesMasters/notesMaster1.xml" Id="Rb566b0a8b55e43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32903050be4328" /><Relationship Type="http://schemas.openxmlformats.org/officeDocument/2006/relationships/notesMaster" Target="/ppt/notesMasters/notesMaster1.xml" Id="R504450d27f1247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a768bbbe2247c9" /><Relationship Type="http://schemas.openxmlformats.org/officeDocument/2006/relationships/notesMaster" Target="/ppt/notesMasters/notesMaster1.xml" Id="R959fe5447b7243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d7b9927ad746fd" /><Relationship Type="http://schemas.openxmlformats.org/officeDocument/2006/relationships/notesMaster" Target="/ppt/notesMasters/notesMaster1.xml" Id="R052cb58c53de4a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 start with the customer problem. Cedarbridge Bank is fictional, and the policies are synthetic. I chose a bank because an AI answer is not enough in this setting. The user also needs to see the source, understand who owns the next step, and know exactly what the approval allows.</a:t>
            </a:r>
            <a:endParaRPr/>
          </a:p>
          <a:p xmlns:a="http://schemas.openxmlformats.org/drawingml/2006/main">
            <a:r>
              <a:t/>
            </a:r>
            <a:endParaRPr/>
          </a:p>
          <a:p xmlns:a="http://schemas.openxmlformats.org/drawingml/2006/main">
            <a:r>
              <a:t>I imagined an operations analyst receiving questions about AI use or a new vendor. That person may have to search several documents and then decide which team should review the request. The example I use throughout the demo asks whether customer statements can be uploaded to a public AI chatbot for summarization.</a:t>
            </a:r>
            <a:endParaRPr/>
          </a:p>
          <a:p xmlns:a="http://schemas.openxmlformats.org/drawingml/2006/main">
            <a:r>
              <a:t/>
            </a:r>
            <a:endParaRPr/>
          </a:p>
          <a:p xmlns:a="http://schemas.openxmlformats.org/drawingml/2006/main">
            <a:r>
              <a:t>The AI Use Policy says those statements must not be uploaded, and it routes requests involving customer data and an external AI service to SecurityReview. The workflow finds that passage, shows it to a reviewer, and can open a SecurityReview case after approval. The case starts a review. It does not authorize the upload or create a policy exception.</a:t>
            </a:r>
            <a:endParaRPr/>
          </a:p>
          <a:p xmlns:a="http://schemas.openxmlformats.org/drawingml/2006/main">
            <a:r>
              <a:t/>
            </a:r>
            <a:endParaRPr/>
          </a:p>
          <a:p xmlns:a="http://schemas.openxmlformats.org/drawingml/2006/main">
            <a:r>
              <a:t>I kept the action this specific so I could test the complete path. The three outcomes at the bottom are from separate n8n runs: supported evidence plus approval created a case; rejection created no case; and insufficient evidence created no case even when approval was attempted.</a:t>
            </a:r>
            <a:endParaRPr/>
          </a:p>
          <a:p xmlns:a="http://schemas.openxmlformats.org/drawingml/2006/main">
            <a:r>
              <a:t/>
            </a:r>
            <a:endParaRPr/>
          </a:p>
          <a:p xmlns:a="http://schemas.openxmlformats.org/drawingml/2006/main">
            <a:r>
              <a:t>The idea I want to keep clear is simple: the system finds and shows the evidence, the reviewer decides, and the API controls whether anything is saved.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kept the first pilot small on purpose: three documents and one action, opening a review case. That was enough to demonstrate retrieval, a model decision, human review and persistence while still letting me inspect every source passage.</a:t>
            </a:r>
            <a:endParaRPr/>
          </a:p>
          <a:p xmlns:a="http://schemas.openxmlformats.org/drawingml/2006/main">
            <a:r>
              <a:t/>
            </a:r>
            <a:endParaRPr/>
          </a:p>
          <a:p xmlns:a="http://schemas.openxmlformats.org/drawingml/2006/main">
            <a:r>
              <a:t>The everyday problem has two parts. One is the time spent searching policies. The other is sending a request to the wrong team. The workflow puts the passage and proposed queue on the same page so a reviewer can check them together.</a:t>
            </a:r>
            <a:endParaRPr/>
          </a:p>
          <a:p xmlns:a="http://schemas.openxmlformats.org/drawingml/2006/main">
            <a:r>
              <a:t/>
            </a:r>
            <a:endParaRPr/>
          </a:p>
          <a:p xmlns:a="http://schemas.openxmlformats.org/drawingml/2006/main">
            <a:r>
              <a:t>If I were doing discovery with a customer, I would ask who receives these requests today, which policy copy is authoritative, who can approve each case, whether the requester can also be the reviewer, and what information the existing case system requires.</a:t>
            </a:r>
            <a:endParaRPr/>
          </a:p>
          <a:p xmlns:a="http://schemas.openxmlformats.org/drawingml/2006/main">
            <a:r>
              <a:t/>
            </a:r>
            <a:endParaRPr/>
          </a:p>
          <a:p xmlns:a="http://schemas.openxmlformats.org/drawingml/2006/main">
            <a:r>
              <a:t>For a pilot, I would first measure the current manual process. Then I would compare handling time, routing accuracy and reviewer overrides. I would also track when the workflow stops because the documents do not contain the answer. In a policy workflow, stopping can be the correct result.</a:t>
            </a:r>
            <a:endParaRPr/>
          </a:p>
          <a:p xmlns:a="http://schemas.openxmlformats.org/drawingml/2006/main">
            <a:r>
              <a:t/>
            </a:r>
            <a:endParaRPr/>
          </a:p>
          <a:p xmlns:a="http://schemas.openxmlformats.org/drawingml/2006/main">
            <a:r>
              <a:t>I have not measured customer time savings in this proof of concept. The results later in the deck are technical validation results. I would only make a business impact claim after a real pilot against an agreed baseline.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follows one request through the system. n8n manages the forms and the order of the steps. The Python service owns retrieval, the model call, validation, storage and case creation. The two services communicate over HTTP with JSON.</a:t>
            </a:r>
            <a:endParaRPr/>
          </a:p>
          <a:p xmlns:a="http://schemas.openxmlformats.org/drawingml/2006/main">
            <a:r>
              <a:t/>
            </a:r>
            <a:endParaRPr/>
          </a:p>
          <a:p xmlns:a="http://schemas.openxmlformats.org/drawingml/2006/main">
            <a:r>
              <a:t>The sources are the AI Use Policy, Vendor Intake Policy and Policy Review Procedure. They are synthetic and split into eight sections. When the user submits a question, BM25 ranks the sections and keeps up to four candidates. The API saves that result and returns a retrieval ID.</a:t>
            </a:r>
            <a:endParaRPr/>
          </a:p>
          <a:p xmlns:a="http://schemas.openxmlformats.org/drawingml/2006/main">
            <a:r>
              <a:t/>
            </a:r>
            <a:endParaRPr/>
          </a:p>
          <a:p xmlns:a="http://schemas.openxmlformats.org/drawingml/2006/main">
            <a:r>
              <a:t>The proposal step loads the saved question and passages. The configured OpenAI model selects one to three evidence IDs and suggests a review queue, or it returns insufficient. The policy text shown to the reviewer comes from the documents; the model does not write that passage.</a:t>
            </a:r>
            <a:endParaRPr/>
          </a:p>
          <a:p xmlns:a="http://schemas.openxmlformats.org/drawingml/2006/main">
            <a:r>
              <a:t/>
            </a:r>
            <a:endParaRPr/>
          </a:p>
          <a:p xmlns:a="http://schemas.openxmlformats.org/drawingml/2006/main">
            <a:r>
              <a:t>The API checks that the selected IDs were part of the retrieval and that the queue agrees with the source metadata. n8n then shows the original excerpts and waits for a person to approve or reject. After the decision, the API loads the stored proposal and checks it before creating or closing the case.</a:t>
            </a:r>
            <a:endParaRPr/>
          </a:p>
          <a:p xmlns:a="http://schemas.openxmlformats.org/drawingml/2006/main">
            <a:r>
              <a:t/>
            </a:r>
            <a:endParaRPr/>
          </a:p>
          <a:p xmlns:a="http://schemas.openxmlformats.org/drawingml/2006/main">
            <a:r>
              <a:t>I used BM25 because eight sections with specific policy language did not require an embedding service. I used SQLite because the demo needed persistent records and transactions without another database service. Docker Compose starts n8n and the API and keeps their data across restarts.</a:t>
            </a:r>
            <a:endParaRPr/>
          </a:p>
          <a:p xmlns:a="http://schemas.openxmlformats.org/drawingml/2006/main">
            <a:r>
              <a:t/>
            </a:r>
            <a:endParaRPr/>
          </a:p>
          <a:p xmlns:a="http://schemas.openxmlformats.org/drawingml/2006/main">
            <a:r>
              <a:t>The recorded live evaluation used the configured gpt-5.6-sol OpenAI model. This project uses direct HTTP and JSON between n8n and the API. It does not implement MCP, FastAPI, Kubernetes or Terraform.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review page from the customer-statements example. I would point first to the question, then the SecurityReview queue, citation AI-01 and the original passage.</a:t>
            </a:r>
            <a:endParaRPr/>
          </a:p>
          <a:p xmlns:a="http://schemas.openxmlformats.org/drawingml/2006/main">
            <a:r>
              <a:t/>
            </a:r>
            <a:endParaRPr/>
          </a:p>
          <a:p xmlns:a="http://schemas.openxmlformats.org/drawingml/2006/main">
            <a:r>
              <a:t>The passage says that customer statements and other confidential customer data must not be uploaded to public AI chatbots. It also says that a request involving customer data and an external AI service must be routed to SecurityReview before use.</a:t>
            </a:r>
            <a:endParaRPr/>
          </a:p>
          <a:p xmlns:a="http://schemas.openxmlformats.org/drawingml/2006/main">
            <a:r>
              <a:t/>
            </a:r>
            <a:endParaRPr/>
          </a:p>
          <a:p xmlns:a="http://schemas.openxmlformats.org/drawingml/2006/main">
            <a:r>
              <a:t>The API can check exact conditions. It verifies that the evidence IDs came from the saved retrieval, that the queue matches the source metadata, that the proposal has not expired, that the source files have not changed, and that the same proposal has not already been processed.</a:t>
            </a:r>
            <a:endParaRPr/>
          </a:p>
          <a:p xmlns:a="http://schemas.openxmlformats.org/drawingml/2006/main">
            <a:r>
              <a:t/>
            </a:r>
            <a:endParaRPr/>
          </a:p>
          <a:p xmlns:a="http://schemas.openxmlformats.org/drawingml/2006/main">
            <a:r>
              <a:t>Those checks do not prove that a passage is relevant. A real citation can still be the wrong citation for the question. The reviewer makes that judgment by reading the passage. That is why I separate the human relevance check from the API checks.</a:t>
            </a:r>
            <a:endParaRPr/>
          </a:p>
          <a:p xmlns:a="http://schemas.openxmlformats.org/drawingml/2006/main">
            <a:r>
              <a:t/>
            </a:r>
            <a:endParaRPr/>
          </a:p>
          <a:p xmlns:a="http://schemas.openxmlformats.org/drawingml/2006/main">
            <a:r>
              <a:t>The approval scope is also visible on the page. Approving this request only opens a review case. It does not permit the upload or grant a policy exception.</a:t>
            </a:r>
            <a:endParaRPr/>
          </a:p>
          <a:p xmlns:a="http://schemas.openxmlformats.org/drawingml/2006/main">
            <a:r>
              <a:t/>
            </a:r>
            <a:endParaRPr/>
          </a:p>
          <a:p xmlns:a="http://schemas.openxmlformats.org/drawingml/2006/main">
            <a:r>
              <a:t>The HTTP calls use an integration token, and the provider key remains in the API environment. The current reviewer name is typed into the form, so it is not a verified identity. Before a pilot, I would add sign-in, role-based approval, document permissions and protected audit storage.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separate the evidence on this slide because the three numbers answer different questions.</a:t>
            </a:r>
            <a:endParaRPr/>
          </a:p>
          <a:p xmlns:a="http://schemas.openxmlformats.org/drawingml/2006/main">
            <a:r>
              <a:t/>
            </a:r>
            <a:endParaRPr/>
          </a:p>
          <a:p xmlns:a="http://schemas.openxmlformats.org/drawingml/2006/main">
            <a:r>
              <a:t>The 27 application and HTTP checks use fixed model responses. That makes them repeatable and lets me test approval, rejection, expiry, source changes, repeated decisions, concurrent approvals and authentication without relying on a live provider every time.</a:t>
            </a:r>
            <a:endParaRPr/>
          </a:p>
          <a:p xmlns:a="http://schemas.openxmlformats.org/drawingml/2006/main">
            <a:r>
              <a:t/>
            </a:r>
            <a:endParaRPr/>
          </a:p>
          <a:p xmlns:a="http://schemas.openxmlformats.org/drawingml/2006/main">
            <a:r>
              <a:t>The ten curated checks use the live OpenAI model. Four questions were expected to return supported evidence with the right source IDs and queue. Six questions were expected to stop because the answer was missing or the prompt was adversarial. All ten matched those expected outcomes in the saved run.</a:t>
            </a:r>
            <a:endParaRPr/>
          </a:p>
          <a:p xmlns:a="http://schemas.openxmlformats.org/drawingml/2006/main">
            <a:r>
              <a:t/>
            </a:r>
            <a:endParaRPr/>
          </a:p>
          <a:p xmlns:a="http://schemas.openxmlformats.org/drawingml/2006/main">
            <a:r>
              <a:t>The three images are separate n8n executions. The first created a SecurityReview case after supported evidence and approval. The second created no case after rejection. The third created no case from an insufficient proposal, even when approval was selected.</a:t>
            </a:r>
            <a:endParaRPr/>
          </a:p>
          <a:p xmlns:a="http://schemas.openxmlformats.org/drawingml/2006/main">
            <a:r>
              <a:t/>
            </a:r>
            <a:endParaRPr/>
          </a:p>
          <a:p xmlns:a="http://schemas.openxmlformats.org/drawingml/2006/main">
            <a:r>
              <a:t>The ten live checks evaluate the recommendation step; they do not call the decision endpoint. That is why I do not use the live run to claim that zero cases were created. The three n8n executions demonstrate the action behavior.</a:t>
            </a:r>
            <a:endParaRPr/>
          </a:p>
          <a:p xmlns:a="http://schemas.openxmlformats.org/drawingml/2006/main">
            <a:r>
              <a:t/>
            </a:r>
            <a:endParaRPr/>
          </a:p>
          <a:p xmlns:a="http://schemas.openxmlformats.org/drawingml/2006/main">
            <a:r>
              <a:t>This is a small curated set, so I would not describe it as a general model accuracy score. Before a customer pilot, I would add more realistic questions and have policy owners judge the evidence relevance. I would also add SSO and role-based approval, document permissions, a real case-system connector and protected audit storage.</a:t>
            </a:r>
            <a:endParaRPr/>
          </a:p>
          <a:p xmlns:a="http://schemas.openxmlformats.org/drawingml/2006/main">
            <a:r>
              <a:t/>
            </a:r>
            <a:endParaRPr/>
          </a:p>
          <a:p xmlns:a="http://schemas.openxmlformats.org/drawingml/2006/main">
            <a:r>
              <a:t>My closing line is: the policy passage stays connected to the recommendation, the human decision and the saved case. The model helps with evidence selection and routing, while the reviewer and API keep control of the 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bb91d9db8d4e5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bd597fa94a4a6a" /><Relationship Type="http://schemas.openxmlformats.org/officeDocument/2006/relationships/slideLayout" Target="/ppt/slideLayouts/slideLayout1.xml" Id="Rc2472cea432b413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472cea432b413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6c07084aed485c" /><Relationship Type="http://schemas.openxmlformats.org/officeDocument/2006/relationships/image" Target="/ppt/media/image.png" Id="Rcde1092a123f4789" /><Relationship Type="http://schemas.openxmlformats.org/officeDocument/2006/relationships/notesSlide" Target="/ppt/notesSlides/notesSlide1.xml" Id="R96a9ee49d13b44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102b50ccfd4b2f" /><Relationship Type="http://schemas.openxmlformats.org/officeDocument/2006/relationships/notesSlide" Target="/ppt/notesSlides/notesSlide2.xml" Id="R2d2707ec1ad040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84d3bd48f8415d" /><Relationship Type="http://schemas.openxmlformats.org/officeDocument/2006/relationships/image" Target="/ppt/media/image2.png" Id="R22a17eb23ecc4a77" /><Relationship Type="http://schemas.openxmlformats.org/officeDocument/2006/relationships/notesSlide" Target="/ppt/notesSlides/notesSlide3.xml" Id="R967ea26f98214d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6889ecf906460c" /><Relationship Type="http://schemas.openxmlformats.org/officeDocument/2006/relationships/image" Target="/ppt/media/image3.png" Id="Rd32b0e228c754d8f" /><Relationship Type="http://schemas.openxmlformats.org/officeDocument/2006/relationships/notesSlide" Target="/ppt/notesSlides/notesSlide4.xml" Id="Rc5ace259178b4a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8f46dd05184cc2" /><Relationship Type="http://schemas.openxmlformats.org/officeDocument/2006/relationships/image" Target="/ppt/media/image4.png" Id="R8b87ed9c3d2043f3" /><Relationship Type="http://schemas.openxmlformats.org/officeDocument/2006/relationships/image" Target="/ppt/media/image5.png" Id="Rec31f24c61124f51" /><Relationship Type="http://schemas.openxmlformats.org/officeDocument/2006/relationships/image" Target="/ppt/media/image6.png" Id="R950d4a0b237744fa" /><Relationship Type="http://schemas.openxmlformats.org/officeDocument/2006/relationships/image" Target="/ppt/media/image7.png" Id="R3c72de46ce1d43a5" /><Relationship Type="http://schemas.openxmlformats.org/officeDocument/2006/relationships/notesSlide" Target="/ppt/notesSlides/notesSlide5.xml" Id="R6087c8d1b0b24f99" /></Relationships>
</file>

<file path=ppt/slides/slide1.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CCB179-1F52-4394-AF54-18A121D769E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B"/>
          </a:solidFill>
          <a:ln xmlns:a="http://schemas.openxmlformats.org/drawingml/2006/main" w="12700">
            <a:solidFill>
              <a:srgbClr val="F7FAFB">
                <a:alpha val="0"/>
              </a:srgbClr>
            </a:solidFill>
            <a:prstDash val="solid"/>
          </a:ln>
        </p:spPr>
      </p:sp>
      <p:sp>
        <p:nvSpPr>
          <p:cNvPr id="3" name="Shape 1">
            <a:extLst xmlns:a="http://schemas.openxmlformats.org/drawingml/2006/main">
              <a:ext uri="{FF2B5EF4-FFF2-40B4-BE49-F238E27FC236}">
                <a16:creationId xmlns:a16="http://schemas.microsoft.com/office/drawing/2014/main" id="{4DFA9CF8-34C6-4923-9133-0B8EE85D67AB}"/>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00897B"/>
          </a:solidFill>
          <a:ln xmlns:a="http://schemas.openxmlformats.org/drawingml/2006/main" w="12700">
            <a:solidFill>
              <a:srgbClr val="00897B"/>
            </a:solidFill>
            <a:prstDash val="solid"/>
          </a:ln>
        </p:spPr>
      </p:sp>
      <p:sp>
        <p:nvSpPr>
          <p:cNvPr id="4" name="Text 2">
            <a:extLst xmlns:a="http://schemas.openxmlformats.org/drawingml/2006/main">
              <a:ext uri="{FF2B5EF4-FFF2-40B4-BE49-F238E27FC236}">
                <a16:creationId xmlns:a16="http://schemas.microsoft.com/office/drawing/2014/main" id="{F4F76FAC-1337-4A1A-BBE6-99F54E4514CC}"/>
              </a:ext>
            </a:extLst>
          </p:cNvPr>
          <p:cNvSpPr>
            <a:spLocks xmlns:a="http://schemas.openxmlformats.org/drawingml/2006/main" noGrp="1"/>
          </p:cNvSpPr>
          <p:nvPr/>
        </p:nvSpPr>
        <p:spPr>
          <a:xfrm xmlns:a="http://schemas.openxmlformats.org/drawingml/2006/main">
            <a:off x="438912" y="6510528"/>
            <a:ext cx="5669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36A7B"/>
                </a:solidFill>
                <a:latin typeface="Aptos"/>
                <a:ea typeface="Aptos"/>
                <a:cs typeface="Aptos"/>
              </a:rPr>
              <a:t>Jeen AI Solution Engineer Home Assignment</a:t>
            </a:r>
            <a:endParaRPr sz="850"/>
          </a:p>
        </p:txBody>
      </p:sp>
      <p:sp>
        <p:nvSpPr>
          <p:cNvPr id="5" name="Text 3">
            <a:extLst xmlns:a="http://schemas.openxmlformats.org/drawingml/2006/main">
              <a:ext uri="{FF2B5EF4-FFF2-40B4-BE49-F238E27FC236}">
                <a16:creationId xmlns:a16="http://schemas.microsoft.com/office/drawing/2014/main" id="{315655D3-567E-4C60-820A-3CC7622AABF6}"/>
              </a:ext>
            </a:extLst>
          </p:cNvPr>
          <p:cNvSpPr>
            <a:spLocks xmlns:a="http://schemas.openxmlformats.org/drawingml/2006/main" noGrp="1"/>
          </p:cNvSpPr>
          <p:nvPr/>
        </p:nvSpPr>
        <p:spPr>
          <a:xfrm xmlns:a="http://schemas.openxmlformats.org/drawingml/2006/main">
            <a:off x="9738360" y="6510528"/>
            <a:ext cx="2011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536A7B"/>
                </a:solidFill>
                <a:latin typeface="Aptos"/>
                <a:ea typeface="Aptos"/>
                <a:cs typeface="Aptos"/>
              </a:rPr>
              <a:t>Shahista Tamkeen</a:t>
            </a:r>
            <a:endParaRPr sz="850"/>
          </a:p>
        </p:txBody>
      </p:sp>
      <p:sp>
        <p:nvSpPr>
          <p:cNvPr id="6" name="Text 4">
            <a:extLst xmlns:a="http://schemas.openxmlformats.org/drawingml/2006/main">
              <a:ext uri="{FF2B5EF4-FFF2-40B4-BE49-F238E27FC236}">
                <a16:creationId xmlns:a16="http://schemas.microsoft.com/office/drawing/2014/main" id="{BF2B0EC6-9EB5-47BD-9861-9DEB93818D4F}"/>
              </a:ext>
            </a:extLst>
          </p:cNvPr>
          <p:cNvSpPr>
            <a:spLocks xmlns:a="http://schemas.openxmlformats.org/drawingml/2006/main" noGrp="1"/>
          </p:cNvSpPr>
          <p:nvPr/>
        </p:nvSpPr>
        <p:spPr>
          <a:xfrm xmlns:a="http://schemas.openxmlformats.org/drawingml/2006/main">
            <a:off x="502920" y="502920"/>
            <a:ext cx="5715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02A43"/>
                </a:solidFill>
                <a:latin typeface="Aptos Display"/>
                <a:ea typeface="Aptos Display"/>
                <a:cs typeface="Aptos Display"/>
              </a:rPr>
              <a:t>Governed AI Policy Review Agent</a:t>
            </a:r>
            <a:endParaRPr sz="2800"/>
          </a:p>
        </p:txBody>
      </p:sp>
      <p:sp>
        <p:nvSpPr>
          <p:cNvPr id="7" name="Text 5">
            <a:extLst xmlns:a="http://schemas.openxmlformats.org/drawingml/2006/main">
              <a:ext uri="{FF2B5EF4-FFF2-40B4-BE49-F238E27FC236}">
                <a16:creationId xmlns:a16="http://schemas.microsoft.com/office/drawing/2014/main" id="{1568AA3F-F19D-44EB-B780-30833F32E024}"/>
              </a:ext>
            </a:extLst>
          </p:cNvPr>
          <p:cNvSpPr>
            <a:spLocks xmlns:a="http://schemas.openxmlformats.org/drawingml/2006/main" noGrp="1"/>
          </p:cNvSpPr>
          <p:nvPr/>
        </p:nvSpPr>
        <p:spPr>
          <a:xfrm xmlns:a="http://schemas.openxmlformats.org/drawingml/2006/main">
            <a:off x="521208" y="1097280"/>
            <a:ext cx="5669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36A7B"/>
                </a:solidFill>
              </a:rPr>
              <a:t>Cedarbridge Bank • fictional financial-services customer</a:t>
            </a:r>
            <a:endParaRPr sz="1150"/>
          </a:p>
        </p:txBody>
      </p:sp>
      <p:sp>
        <p:nvSpPr>
          <p:cNvPr id="8" name="Text 6">
            <a:extLst xmlns:a="http://schemas.openxmlformats.org/drawingml/2006/main">
              <a:ext uri="{FF2B5EF4-FFF2-40B4-BE49-F238E27FC236}">
                <a16:creationId xmlns:a16="http://schemas.microsoft.com/office/drawing/2014/main" id="{4624C95A-49AC-45EF-B6CE-62A322C7DC6A}"/>
              </a:ext>
            </a:extLst>
          </p:cNvPr>
          <p:cNvSpPr>
            <a:spLocks xmlns:a="http://schemas.openxmlformats.org/drawingml/2006/main" noGrp="1"/>
          </p:cNvSpPr>
          <p:nvPr/>
        </p:nvSpPr>
        <p:spPr>
          <a:xfrm xmlns:a="http://schemas.openxmlformats.org/drawingml/2006/main">
            <a:off x="530352" y="1572768"/>
            <a:ext cx="5715000" cy="10858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700" b="0">
                <a:solidFill>
                  <a:srgbClr val="102A43"/>
                </a:solidFill>
                <a:latin typeface="Aptos"/>
                <a:ea typeface="Aptos"/>
                <a:cs typeface="Aptos"/>
              </a:defRPr>
            </a:pPr>
            <a:r>
              <a:rPr sz="1700" b="0">
                <a:solidFill>
                  <a:srgbClr val="102A43"/>
                </a:solidFill>
                <a:latin typeface="Aptos"/>
                <a:ea typeface="Aptos"/>
                <a:cs typeface="Aptos"/>
              </a:rPr>
              <a:t>An operations analyst needs to find the right policy and review team. This demo brings the source evidence, routing recommendation and approval into one workflow.</a:t>
            </a:r>
            <a:endParaRPr sz="1700"/>
          </a:p>
        </p:txBody>
      </p:sp>
      <p:sp>
        <p:nvSpPr>
          <p:cNvPr id="9" name="Text 7">
            <a:extLst xmlns:a="http://schemas.openxmlformats.org/drawingml/2006/main">
              <a:ext uri="{FF2B5EF4-FFF2-40B4-BE49-F238E27FC236}">
                <a16:creationId xmlns:a16="http://schemas.microsoft.com/office/drawing/2014/main" id="{6FEFC466-C492-4A56-9927-97C0A6633877}"/>
              </a:ext>
            </a:extLst>
          </p:cNvPr>
          <p:cNvSpPr>
            <a:spLocks xmlns:a="http://schemas.openxmlformats.org/drawingml/2006/main" noGrp="1"/>
          </p:cNvSpPr>
          <p:nvPr/>
        </p:nvSpPr>
        <p:spPr>
          <a:xfrm xmlns:a="http://schemas.openxmlformats.org/drawingml/2006/main">
            <a:off x="548640" y="280720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Core pattern</a:t>
            </a:r>
            <a:endParaRPr sz="1000"/>
          </a:p>
        </p:txBody>
      </p:sp>
      <p:sp>
        <p:nvSpPr>
          <p:cNvPr id="10" name="Text 8">
            <a:extLst xmlns:a="http://schemas.openxmlformats.org/drawingml/2006/main">
              <a:ext uri="{FF2B5EF4-FFF2-40B4-BE49-F238E27FC236}">
                <a16:creationId xmlns:a16="http://schemas.microsoft.com/office/drawing/2014/main" id="{97E12E8B-EF4D-4B6A-BB58-E98DFBD94D72}"/>
              </a:ext>
            </a:extLst>
          </p:cNvPr>
          <p:cNvSpPr>
            <a:spLocks xmlns:a="http://schemas.openxmlformats.org/drawingml/2006/main" noGrp="1"/>
          </p:cNvSpPr>
          <p:nvPr/>
        </p:nvSpPr>
        <p:spPr>
          <a:xfrm xmlns:a="http://schemas.openxmlformats.org/drawingml/2006/main">
            <a:off x="548640" y="3090672"/>
            <a:ext cx="5989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50" b="1">
                <a:solidFill>
                  <a:srgbClr val="102A43"/>
                </a:solidFill>
              </a:rPr>
              <a:t>Retrieve → Ground → Recommend → Review → Validate → Act</a:t>
            </a:r>
            <a:endParaRPr sz="1450"/>
          </a:p>
        </p:txBody>
      </p:sp>
      <p:sp>
        <p:nvSpPr>
          <p:cNvPr id="11" name="Shape 9">
            <a:extLst xmlns:a="http://schemas.openxmlformats.org/drawingml/2006/main">
              <a:ext uri="{FF2B5EF4-FFF2-40B4-BE49-F238E27FC236}">
                <a16:creationId xmlns:a16="http://schemas.microsoft.com/office/drawing/2014/main" id="{EAC507A3-9F73-4007-8090-B4D0FF7FDEE4}"/>
              </a:ext>
            </a:extLst>
          </p:cNvPr>
          <p:cNvSpPr>
            <a:spLocks xmlns:a="http://schemas.openxmlformats.org/drawingml/2006/main" noGrp="1"/>
          </p:cNvSpPr>
          <p:nvPr/>
        </p:nvSpPr>
        <p:spPr>
          <a:xfrm xmlns:a="http://schemas.openxmlformats.org/drawingml/2006/main">
            <a:off x="548640" y="3621024"/>
            <a:ext cx="5989320" cy="0"/>
          </a:xfrm>
          <a:prstGeom xmlns:a="http://schemas.openxmlformats.org/drawingml/2006/main" prst="line">
            <a:avLst/>
          </a:prstGeom>
          <a:noFill xmlns:a="http://schemas.openxmlformats.org/drawingml/2006/main"/>
          <a:ln xmlns:a="http://schemas.openxmlformats.org/drawingml/2006/main" w="9525">
            <a:solidFill>
              <a:srgbClr val="C9D7DE"/>
            </a:solidFill>
            <a:prstDash val="solid"/>
          </a:ln>
        </p:spPr>
      </p:sp>
      <p:sp>
        <p:nvSpPr>
          <p:cNvPr id="12" name="Text 10">
            <a:extLst xmlns:a="http://schemas.openxmlformats.org/drawingml/2006/main">
              <a:ext uri="{FF2B5EF4-FFF2-40B4-BE49-F238E27FC236}">
                <a16:creationId xmlns:a16="http://schemas.microsoft.com/office/drawing/2014/main" id="{DE3BF403-F4AF-4DD4-A7C7-577479872043}"/>
              </a:ext>
            </a:extLst>
          </p:cNvPr>
          <p:cNvSpPr>
            <a:spLocks xmlns:a="http://schemas.openxmlformats.org/drawingml/2006/main" noGrp="1"/>
          </p:cNvSpPr>
          <p:nvPr/>
        </p:nvSpPr>
        <p:spPr>
          <a:xfrm xmlns:a="http://schemas.openxmlformats.org/drawingml/2006/main">
            <a:off x="548640" y="3977640"/>
            <a:ext cx="155448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2025" b="1">
                <a:solidFill>
                  <a:srgbClr val="006A63"/>
                </a:solidFill>
                <a:latin typeface="Aptos"/>
                <a:ea typeface="Aptos"/>
                <a:cs typeface="Aptos"/>
              </a:defRPr>
            </a:pPr>
            <a:r>
              <a:rPr sz="2025" b="1">
                <a:solidFill>
                  <a:srgbClr val="006A63"/>
                </a:solidFill>
                <a:latin typeface="Aptos"/>
                <a:ea typeface="Aptos"/>
                <a:cs typeface="Aptos"/>
              </a:rPr>
              <a:t>Approved</a:t>
            </a:r>
            <a:endParaRPr sz="2400"/>
          </a:p>
        </p:txBody>
      </p:sp>
      <p:sp>
        <p:nvSpPr>
          <p:cNvPr id="13" name="Text 11">
            <a:extLst xmlns:a="http://schemas.openxmlformats.org/drawingml/2006/main">
              <a:ext uri="{FF2B5EF4-FFF2-40B4-BE49-F238E27FC236}">
                <a16:creationId xmlns:a16="http://schemas.microsoft.com/office/drawing/2014/main" id="{064991E7-CA16-476C-9F11-47B259FA1D76}"/>
              </a:ext>
            </a:extLst>
          </p:cNvPr>
          <p:cNvSpPr>
            <a:spLocks xmlns:a="http://schemas.openxmlformats.org/drawingml/2006/main" noGrp="1"/>
          </p:cNvSpPr>
          <p:nvPr/>
        </p:nvSpPr>
        <p:spPr>
          <a:xfrm xmlns:a="http://schemas.openxmlformats.org/drawingml/2006/main">
            <a:off x="548640" y="4507992"/>
            <a:ext cx="16573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0">
                <a:solidFill>
                  <a:srgbClr val="536A7B"/>
                </a:solidFill>
                <a:latin typeface="Aptos"/>
                <a:ea typeface="Aptos"/>
                <a:cs typeface="Aptos"/>
              </a:defRPr>
            </a:pPr>
            <a:r>
              <a:rPr sz="1050" b="0">
                <a:solidFill>
                  <a:srgbClr val="536A7B"/>
                </a:solidFill>
                <a:latin typeface="Aptos"/>
                <a:ea typeface="Aptos"/>
                <a:cs typeface="Aptos"/>
              </a:rPr>
              <a:t>Review case created</a:t>
            </a:r>
            <a:endParaRPr sz="860"/>
          </a:p>
        </p:txBody>
      </p:sp>
      <p:sp>
        <p:nvSpPr>
          <p:cNvPr id="14" name="Text 12">
            <a:extLst xmlns:a="http://schemas.openxmlformats.org/drawingml/2006/main">
              <a:ext uri="{FF2B5EF4-FFF2-40B4-BE49-F238E27FC236}">
                <a16:creationId xmlns:a16="http://schemas.microsoft.com/office/drawing/2014/main" id="{50A777B2-F73D-4662-8402-2EF5C859434B}"/>
              </a:ext>
            </a:extLst>
          </p:cNvPr>
          <p:cNvSpPr>
            <a:spLocks xmlns:a="http://schemas.openxmlformats.org/drawingml/2006/main" noGrp="1"/>
          </p:cNvSpPr>
          <p:nvPr/>
        </p:nvSpPr>
        <p:spPr>
          <a:xfrm xmlns:a="http://schemas.openxmlformats.org/drawingml/2006/main">
            <a:off x="2331720" y="3977640"/>
            <a:ext cx="1600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2025" b="1">
                <a:solidFill>
                  <a:srgbClr val="006A63"/>
                </a:solidFill>
                <a:latin typeface="Aptos"/>
                <a:ea typeface="Aptos"/>
                <a:cs typeface="Aptos"/>
              </a:defRPr>
            </a:pPr>
            <a:r>
              <a:rPr sz="2025" b="1">
                <a:solidFill>
                  <a:srgbClr val="006A63"/>
                </a:solidFill>
                <a:latin typeface="Aptos"/>
                <a:ea typeface="Aptos"/>
                <a:cs typeface="Aptos"/>
              </a:rPr>
              <a:t>Rejected</a:t>
            </a:r>
            <a:endParaRPr sz="2400"/>
          </a:p>
        </p:txBody>
      </p:sp>
      <p:sp>
        <p:nvSpPr>
          <p:cNvPr id="15" name="Text 13">
            <a:extLst xmlns:a="http://schemas.openxmlformats.org/drawingml/2006/main">
              <a:ext uri="{FF2B5EF4-FFF2-40B4-BE49-F238E27FC236}">
                <a16:creationId xmlns:a16="http://schemas.microsoft.com/office/drawing/2014/main" id="{785958D2-32A4-41ED-9F11-256B419F5599}"/>
              </a:ext>
            </a:extLst>
          </p:cNvPr>
          <p:cNvSpPr>
            <a:spLocks xmlns:a="http://schemas.openxmlformats.org/drawingml/2006/main" noGrp="1"/>
          </p:cNvSpPr>
          <p:nvPr/>
        </p:nvSpPr>
        <p:spPr>
          <a:xfrm xmlns:a="http://schemas.openxmlformats.org/drawingml/2006/main">
            <a:off x="2331720" y="4507992"/>
            <a:ext cx="16573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0">
                <a:solidFill>
                  <a:srgbClr val="536A7B"/>
                </a:solidFill>
                <a:latin typeface="Aptos"/>
                <a:ea typeface="Aptos"/>
                <a:cs typeface="Aptos"/>
              </a:defRPr>
            </a:pPr>
            <a:r>
              <a:rPr sz="1050" b="0">
                <a:solidFill>
                  <a:srgbClr val="536A7B"/>
                </a:solidFill>
                <a:latin typeface="Aptos"/>
                <a:ea typeface="Aptos"/>
                <a:cs typeface="Aptos"/>
              </a:rPr>
              <a:t>No case created</a:t>
            </a:r>
            <a:endParaRPr sz="860"/>
          </a:p>
        </p:txBody>
      </p:sp>
      <p:sp>
        <p:nvSpPr>
          <p:cNvPr id="16" name="Text 14">
            <a:extLst xmlns:a="http://schemas.openxmlformats.org/drawingml/2006/main">
              <a:ext uri="{FF2B5EF4-FFF2-40B4-BE49-F238E27FC236}">
                <a16:creationId xmlns:a16="http://schemas.microsoft.com/office/drawing/2014/main" id="{D3C7AC16-5C97-49B4-AA3D-94D90834D2DC}"/>
              </a:ext>
            </a:extLst>
          </p:cNvPr>
          <p:cNvSpPr>
            <a:spLocks xmlns:a="http://schemas.openxmlformats.org/drawingml/2006/main" noGrp="1"/>
          </p:cNvSpPr>
          <p:nvPr/>
        </p:nvSpPr>
        <p:spPr>
          <a:xfrm xmlns:a="http://schemas.openxmlformats.org/drawingml/2006/main">
            <a:off x="4160520" y="3977640"/>
            <a:ext cx="1600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2025" b="1">
                <a:solidFill>
                  <a:srgbClr val="006A63"/>
                </a:solidFill>
                <a:latin typeface="Aptos"/>
                <a:ea typeface="Aptos"/>
                <a:cs typeface="Aptos"/>
              </a:defRPr>
            </a:pPr>
            <a:r>
              <a:rPr sz="2025" b="1">
                <a:solidFill>
                  <a:srgbClr val="006A63"/>
                </a:solidFill>
                <a:latin typeface="Aptos"/>
                <a:ea typeface="Aptos"/>
                <a:cs typeface="Aptos"/>
              </a:rPr>
              <a:t>Insufficient</a:t>
            </a:r>
            <a:endParaRPr sz="2400"/>
          </a:p>
        </p:txBody>
      </p:sp>
      <p:sp>
        <p:nvSpPr>
          <p:cNvPr id="17" name="Text 15">
            <a:extLst xmlns:a="http://schemas.openxmlformats.org/drawingml/2006/main">
              <a:ext uri="{FF2B5EF4-FFF2-40B4-BE49-F238E27FC236}">
                <a16:creationId xmlns:a16="http://schemas.microsoft.com/office/drawing/2014/main" id="{733DBF84-C232-476C-A040-B3868516854C}"/>
              </a:ext>
            </a:extLst>
          </p:cNvPr>
          <p:cNvSpPr>
            <a:spLocks xmlns:a="http://schemas.openxmlformats.org/drawingml/2006/main" noGrp="1"/>
          </p:cNvSpPr>
          <p:nvPr/>
        </p:nvSpPr>
        <p:spPr>
          <a:xfrm xmlns:a="http://schemas.openxmlformats.org/drawingml/2006/main">
            <a:off x="4160520" y="4507992"/>
            <a:ext cx="1809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0">
                <a:solidFill>
                  <a:srgbClr val="536A7B"/>
                </a:solidFill>
                <a:latin typeface="Aptos"/>
                <a:ea typeface="Aptos"/>
                <a:cs typeface="Aptos"/>
              </a:defRPr>
            </a:pPr>
            <a:r>
              <a:rPr sz="1050" b="0">
                <a:solidFill>
                  <a:srgbClr val="536A7B"/>
                </a:solidFill>
                <a:latin typeface="Aptos"/>
                <a:ea typeface="Aptos"/>
                <a:cs typeface="Aptos"/>
              </a:rPr>
              <a:t>No case created</a:t>
            </a:r>
            <a:endParaRPr sz="860"/>
          </a:p>
        </p:txBody>
      </p:sp>
      <p:sp>
        <p:nvSpPr>
          <p:cNvPr id="18" name="Shape 16">
            <a:extLst xmlns:a="http://schemas.openxmlformats.org/drawingml/2006/main">
              <a:ext uri="{FF2B5EF4-FFF2-40B4-BE49-F238E27FC236}">
                <a16:creationId xmlns:a16="http://schemas.microsoft.com/office/drawing/2014/main" id="{E984C00F-AAD0-43BA-9851-07452A3D7EE5}"/>
              </a:ext>
            </a:extLst>
          </p:cNvPr>
          <p:cNvSpPr>
            <a:spLocks xmlns:a="http://schemas.openxmlformats.org/drawingml/2006/main" noGrp="1"/>
          </p:cNvSpPr>
          <p:nvPr/>
        </p:nvSpPr>
        <p:spPr>
          <a:xfrm xmlns:a="http://schemas.openxmlformats.org/drawingml/2006/main">
            <a:off x="6446520" y="475488"/>
            <a:ext cx="0" cy="5394960"/>
          </a:xfrm>
          <a:prstGeom xmlns:a="http://schemas.openxmlformats.org/drawingml/2006/main" prst="line">
            <a:avLst/>
          </a:prstGeom>
          <a:noFill xmlns:a="http://schemas.openxmlformats.org/drawingml/2006/main"/>
          <a:ln xmlns:a="http://schemas.openxmlformats.org/drawingml/2006/main" w="12700">
            <a:solidFill>
              <a:srgbClr val="C9D7DE"/>
            </a:solidFill>
            <a:prstDash val="solid"/>
          </a:ln>
        </p:spPr>
      </p:sp>
      <p:sp>
        <p:nvSpPr>
          <p:cNvPr id="19" name="Shape 17">
            <a:extLst xmlns:a="http://schemas.openxmlformats.org/drawingml/2006/main">
              <a:ext uri="{FF2B5EF4-FFF2-40B4-BE49-F238E27FC236}">
                <a16:creationId xmlns:a16="http://schemas.microsoft.com/office/drawing/2014/main" id="{B3E2338E-76A5-47B2-A3D4-1BEF3916D478}"/>
              </a:ext>
            </a:extLst>
          </p:cNvPr>
          <p:cNvSpPr>
            <a:spLocks xmlns:a="http://schemas.openxmlformats.org/drawingml/2006/main" noGrp="1"/>
          </p:cNvSpPr>
          <p:nvPr/>
        </p:nvSpPr>
        <p:spPr>
          <a:xfrm xmlns:a="http://schemas.openxmlformats.org/drawingml/2006/main">
            <a:off x="6720840" y="685800"/>
            <a:ext cx="4892040" cy="2971800"/>
          </a:xfrm>
          <a:prstGeom xmlns:a="http://schemas.openxmlformats.org/drawingml/2006/main" prst="roundRect">
            <a:avLst>
              <a:gd name="adj" fmla="val 1231"/>
            </a:avLst>
          </a:prstGeom>
          <a:solidFill xmlns:a="http://schemas.openxmlformats.org/drawingml/2006/main">
            <a:srgbClr val="FFFFFF"/>
          </a:solidFill>
          <a:ln xmlns:a="http://schemas.openxmlformats.org/drawingml/2006/main" w="8890">
            <a:solidFill>
              <a:srgbClr val="C9D7DE"/>
            </a:solidFill>
            <a:prstDash val="solid"/>
          </a:ln>
        </p:spPr>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cde1092a123f4789"/>
          <a:stretch xmlns:a="http://schemas.openxmlformats.org/drawingml/2006/main"/>
        </p:blipFill>
        <p:spPr>
          <a:xfrm xmlns:a="http://schemas.openxmlformats.org/drawingml/2006/main">
            <a:off x="6810375" y="1097229"/>
            <a:ext cx="4695825" cy="2110842"/>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26D15AF2-D977-4D10-8DE5-B79D4BDC15A1}"/>
              </a:ext>
            </a:extLst>
          </p:cNvPr>
          <p:cNvSpPr>
            <a:spLocks xmlns:a="http://schemas.openxmlformats.org/drawingml/2006/main" noGrp="1"/>
          </p:cNvSpPr>
          <p:nvPr/>
        </p:nvSpPr>
        <p:spPr>
          <a:xfrm xmlns:a="http://schemas.openxmlformats.org/drawingml/2006/main">
            <a:off x="6748272" y="3822192"/>
            <a:ext cx="4114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006A63"/>
                </a:solidFill>
                <a:latin typeface="Aptos"/>
                <a:ea typeface="Aptos"/>
                <a:cs typeface="Aptos"/>
              </a:defRPr>
            </a:pPr>
            <a:r>
              <a:rPr sz="1050" b="1">
                <a:solidFill>
                  <a:srgbClr val="006A63"/>
                </a:solidFill>
                <a:latin typeface="Aptos"/>
                <a:ea typeface="Aptos"/>
                <a:cs typeface="Aptos"/>
              </a:rPr>
              <a:t>Recorded n8n workflow</a:t>
            </a:r>
            <a:endParaRPr sz="940"/>
          </a:p>
        </p:txBody>
      </p:sp>
      <p:sp>
        <p:nvSpPr>
          <p:cNvPr id="22" name="Text 19">
            <a:extLst xmlns:a="http://schemas.openxmlformats.org/drawingml/2006/main">
              <a:ext uri="{FF2B5EF4-FFF2-40B4-BE49-F238E27FC236}">
                <a16:creationId xmlns:a16="http://schemas.microsoft.com/office/drawing/2014/main" id="{C271FDEC-0090-4CD4-B444-2479758E57A3}"/>
              </a:ext>
            </a:extLst>
          </p:cNvPr>
          <p:cNvSpPr>
            <a:spLocks xmlns:a="http://schemas.openxmlformats.org/drawingml/2006/main" noGrp="1"/>
          </p:cNvSpPr>
          <p:nvPr/>
        </p:nvSpPr>
        <p:spPr>
          <a:xfrm xmlns:a="http://schemas.openxmlformats.org/drawingml/2006/main">
            <a:off x="6748272" y="4160520"/>
            <a:ext cx="48463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102A43"/>
                </a:solidFill>
                <a:latin typeface="Aptos"/>
                <a:ea typeface="Aptos"/>
                <a:cs typeface="Aptos"/>
              </a:defRPr>
            </a:pPr>
            <a:r>
              <a:rPr sz="1200" b="0">
                <a:solidFill>
                  <a:srgbClr val="102A43"/>
                </a:solidFill>
                <a:latin typeface="Aptos"/>
                <a:ea typeface="Aptos"/>
                <a:cs typeface="Aptos"/>
              </a:rPr>
              <a:t>• Example: customer statements in a public AI chatbot.</a:t>
            </a:r>
            <a:endParaRPr sz="1020"/>
          </a:p>
        </p:txBody>
      </p:sp>
      <p:sp>
        <p:nvSpPr>
          <p:cNvPr id="23" name="Text 20">
            <a:extLst xmlns:a="http://schemas.openxmlformats.org/drawingml/2006/main">
              <a:ext uri="{FF2B5EF4-FFF2-40B4-BE49-F238E27FC236}">
                <a16:creationId xmlns:a16="http://schemas.microsoft.com/office/drawing/2014/main" id="{7ACB4433-41B0-4BF2-9463-8CB94693C745}"/>
              </a:ext>
            </a:extLst>
          </p:cNvPr>
          <p:cNvSpPr>
            <a:spLocks xmlns:a="http://schemas.openxmlformats.org/drawingml/2006/main" noGrp="1"/>
          </p:cNvSpPr>
          <p:nvPr/>
        </p:nvSpPr>
        <p:spPr>
          <a:xfrm xmlns:a="http://schemas.openxmlformats.org/drawingml/2006/main">
            <a:off x="6748272" y="4648200"/>
            <a:ext cx="48463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102A43"/>
                </a:solidFill>
                <a:latin typeface="Aptos"/>
                <a:ea typeface="Aptos"/>
                <a:cs typeface="Aptos"/>
              </a:defRPr>
            </a:pPr>
            <a:r>
              <a:rPr sz="1200" b="0">
                <a:solidFill>
                  <a:srgbClr val="102A43"/>
                </a:solidFill>
                <a:latin typeface="Aptos"/>
                <a:ea typeface="Aptos"/>
                <a:cs typeface="Aptos"/>
              </a:rPr>
              <a:t>• Policy AI-01 directs the request to SecurityReview.</a:t>
            </a:r>
            <a:endParaRPr sz="1020"/>
          </a:p>
        </p:txBody>
      </p:sp>
      <p:sp>
        <p:nvSpPr>
          <p:cNvPr id="24" name="Text 21">
            <a:extLst xmlns:a="http://schemas.openxmlformats.org/drawingml/2006/main">
              <a:ext uri="{FF2B5EF4-FFF2-40B4-BE49-F238E27FC236}">
                <a16:creationId xmlns:a16="http://schemas.microsoft.com/office/drawing/2014/main" id="{49C56E00-0A3B-4111-AFF1-5F996FE2088C}"/>
              </a:ext>
            </a:extLst>
          </p:cNvPr>
          <p:cNvSpPr>
            <a:spLocks xmlns:a="http://schemas.openxmlformats.org/drawingml/2006/main" noGrp="1"/>
          </p:cNvSpPr>
          <p:nvPr/>
        </p:nvSpPr>
        <p:spPr>
          <a:xfrm xmlns:a="http://schemas.openxmlformats.org/drawingml/2006/main">
            <a:off x="6748272" y="5135880"/>
            <a:ext cx="484632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102A43"/>
                </a:solidFill>
                <a:latin typeface="Aptos"/>
                <a:ea typeface="Aptos"/>
                <a:cs typeface="Aptos"/>
              </a:defRPr>
            </a:pPr>
            <a:r>
              <a:rPr sz="1200" b="0">
                <a:solidFill>
                  <a:srgbClr val="102A43"/>
                </a:solidFill>
                <a:latin typeface="Aptos"/>
                <a:ea typeface="Aptos"/>
                <a:cs typeface="Aptos"/>
              </a:rPr>
              <a:t>• Approval opens a review case; it never permits the upload.</a:t>
            </a:r>
            <a:endParaRPr sz="1020"/>
          </a:p>
        </p:txBody>
      </p:sp>
    </p:spTree>
    <p:extLst>
      <p:ext uri="{BB962C8B-B14F-4D97-AF65-F5344CB8AC3E}">
        <p14:creationId xmlns:p14="http://schemas.microsoft.com/office/powerpoint/2010/main" val="1221692668"/>
      </p:ext>
    </p:extLst>
  </p:cSld>
</p:sld>
</file>

<file path=ppt/slides/slide2.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DC7BD0-18BD-4853-BE37-5EA8AAF0B5A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B"/>
          </a:solidFill>
          <a:ln xmlns:a="http://schemas.openxmlformats.org/drawingml/2006/main" w="12700">
            <a:solidFill>
              <a:srgbClr val="F7FAFB">
                <a:alpha val="0"/>
              </a:srgbClr>
            </a:solidFill>
            <a:prstDash val="solid"/>
          </a:ln>
        </p:spPr>
      </p:sp>
      <p:sp>
        <p:nvSpPr>
          <p:cNvPr id="3" name="Shape 1">
            <a:extLst xmlns:a="http://schemas.openxmlformats.org/drawingml/2006/main">
              <a:ext uri="{FF2B5EF4-FFF2-40B4-BE49-F238E27FC236}">
                <a16:creationId xmlns:a16="http://schemas.microsoft.com/office/drawing/2014/main" id="{3404963B-9581-4FA6-BDFC-EEFCEB9E0F00}"/>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00897B"/>
          </a:solidFill>
          <a:ln xmlns:a="http://schemas.openxmlformats.org/drawingml/2006/main" w="12700">
            <a:solidFill>
              <a:srgbClr val="00897B"/>
            </a:solidFill>
            <a:prstDash val="solid"/>
          </a:ln>
        </p:spPr>
      </p:sp>
      <p:sp>
        <p:nvSpPr>
          <p:cNvPr id="4" name="Text 2">
            <a:extLst xmlns:a="http://schemas.openxmlformats.org/drawingml/2006/main">
              <a:ext uri="{FF2B5EF4-FFF2-40B4-BE49-F238E27FC236}">
                <a16:creationId xmlns:a16="http://schemas.microsoft.com/office/drawing/2014/main" id="{26FC0BB2-A390-4BFE-998D-9A667639B9F0}"/>
              </a:ext>
            </a:extLst>
          </p:cNvPr>
          <p:cNvSpPr>
            <a:spLocks xmlns:a="http://schemas.openxmlformats.org/drawingml/2006/main" noGrp="1"/>
          </p:cNvSpPr>
          <p:nvPr/>
        </p:nvSpPr>
        <p:spPr>
          <a:xfrm xmlns:a="http://schemas.openxmlformats.org/drawingml/2006/main">
            <a:off x="438912" y="6510528"/>
            <a:ext cx="5669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36A7B"/>
                </a:solidFill>
                <a:latin typeface="Aptos"/>
                <a:ea typeface="Aptos"/>
                <a:cs typeface="Aptos"/>
              </a:rPr>
              <a:t>Jeen AI Solution Engineer Home Assignment</a:t>
            </a:r>
            <a:endParaRPr sz="850"/>
          </a:p>
        </p:txBody>
      </p:sp>
      <p:sp>
        <p:nvSpPr>
          <p:cNvPr id="5" name="Text 3">
            <a:extLst xmlns:a="http://schemas.openxmlformats.org/drawingml/2006/main">
              <a:ext uri="{FF2B5EF4-FFF2-40B4-BE49-F238E27FC236}">
                <a16:creationId xmlns:a16="http://schemas.microsoft.com/office/drawing/2014/main" id="{E42B14B9-12D2-4973-B072-BDCE3467A74B}"/>
              </a:ext>
            </a:extLst>
          </p:cNvPr>
          <p:cNvSpPr>
            <a:spLocks xmlns:a="http://schemas.openxmlformats.org/drawingml/2006/main" noGrp="1"/>
          </p:cNvSpPr>
          <p:nvPr/>
        </p:nvSpPr>
        <p:spPr>
          <a:xfrm xmlns:a="http://schemas.openxmlformats.org/drawingml/2006/main">
            <a:off x="9738360" y="6510528"/>
            <a:ext cx="2011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536A7B"/>
                </a:solidFill>
                <a:latin typeface="Aptos"/>
                <a:ea typeface="Aptos"/>
                <a:cs typeface="Aptos"/>
              </a:rPr>
              <a:t>Shahista Tamkeen</a:t>
            </a:r>
            <a:endParaRPr sz="850"/>
          </a:p>
        </p:txBody>
      </p:sp>
      <p:sp>
        <p:nvSpPr>
          <p:cNvPr id="6" name="Text 4">
            <a:extLst xmlns:a="http://schemas.openxmlformats.org/drawingml/2006/main">
              <a:ext uri="{FF2B5EF4-FFF2-40B4-BE49-F238E27FC236}">
                <a16:creationId xmlns:a16="http://schemas.microsoft.com/office/drawing/2014/main" id="{F83C7F61-E812-4325-9ABB-F33B4C5BA175}"/>
              </a:ext>
            </a:extLst>
          </p:cNvPr>
          <p:cNvSpPr>
            <a:spLocks xmlns:a="http://schemas.openxmlformats.org/drawingml/2006/main" noGrp="1"/>
          </p:cNvSpPr>
          <p:nvPr/>
        </p:nvSpPr>
        <p:spPr>
          <a:xfrm xmlns:a="http://schemas.openxmlformats.org/drawingml/2006/main">
            <a:off x="502920" y="320040"/>
            <a:ext cx="8961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02A43"/>
                </a:solidFill>
                <a:latin typeface="Aptos Display"/>
                <a:ea typeface="Aptos Display"/>
                <a:cs typeface="Aptos Display"/>
              </a:rPr>
              <a:t>Why this use case is worth prioritizing</a:t>
            </a:r>
            <a:endParaRPr sz="2400"/>
          </a:p>
        </p:txBody>
      </p:sp>
      <p:sp>
        <p:nvSpPr>
          <p:cNvPr id="7" name="Text 5">
            <a:extLst xmlns:a="http://schemas.openxmlformats.org/drawingml/2006/main">
              <a:ext uri="{FF2B5EF4-FFF2-40B4-BE49-F238E27FC236}">
                <a16:creationId xmlns:a16="http://schemas.microsoft.com/office/drawing/2014/main" id="{3571CF85-F5B8-47F9-9FF8-23234FE003B6}"/>
              </a:ext>
            </a:extLst>
          </p:cNvPr>
          <p:cNvSpPr>
            <a:spLocks xmlns:a="http://schemas.openxmlformats.org/drawingml/2006/main" noGrp="1"/>
          </p:cNvSpPr>
          <p:nvPr/>
        </p:nvSpPr>
        <p:spPr>
          <a:xfrm xmlns:a="http://schemas.openxmlformats.org/drawingml/2006/main">
            <a:off x="521208" y="786384"/>
            <a:ext cx="9326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536A7B"/>
                </a:solidFill>
                <a:latin typeface="Aptos"/>
                <a:ea typeface="Aptos"/>
                <a:cs typeface="Aptos"/>
              </a:defRPr>
            </a:pPr>
            <a:r>
              <a:rPr sz="1200" b="0">
                <a:solidFill>
                  <a:srgbClr val="536A7B"/>
                </a:solidFill>
                <a:latin typeface="Aptos"/>
                <a:ea typeface="Aptos"/>
                <a:cs typeface="Aptos"/>
              </a:rPr>
              <a:t>A focused pilot for policy lookup, review routing and controlled case creation.</a:t>
            </a:r>
            <a:endParaRPr sz="1050"/>
          </a:p>
        </p:txBody>
      </p:sp>
      <p:sp>
        <p:nvSpPr>
          <p:cNvPr id="8" name="Text 6">
            <a:extLst xmlns:a="http://schemas.openxmlformats.org/drawingml/2006/main">
              <a:ext uri="{FF2B5EF4-FFF2-40B4-BE49-F238E27FC236}">
                <a16:creationId xmlns:a16="http://schemas.microsoft.com/office/drawing/2014/main" id="{C5793488-6281-4FC4-979D-54474551E3ED}"/>
              </a:ext>
            </a:extLst>
          </p:cNvPr>
          <p:cNvSpPr>
            <a:spLocks xmlns:a="http://schemas.openxmlformats.org/drawingml/2006/main" noGrp="1"/>
          </p:cNvSpPr>
          <p:nvPr/>
        </p:nvSpPr>
        <p:spPr>
          <a:xfrm xmlns:a="http://schemas.openxmlformats.org/drawingml/2006/main">
            <a:off x="566928" y="1325880"/>
            <a:ext cx="20116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6A63"/>
                </a:solidFill>
              </a:rPr>
              <a:t>Business problem</a:t>
            </a:r>
            <a:endParaRPr sz="1100"/>
          </a:p>
        </p:txBody>
      </p:sp>
      <p:sp>
        <p:nvSpPr>
          <p:cNvPr id="9" name="Text 7">
            <a:extLst xmlns:a="http://schemas.openxmlformats.org/drawingml/2006/main">
              <a:ext uri="{FF2B5EF4-FFF2-40B4-BE49-F238E27FC236}">
                <a16:creationId xmlns:a16="http://schemas.microsoft.com/office/drawing/2014/main" id="{32751E67-45F7-488F-B792-FF534904CB4C}"/>
              </a:ext>
            </a:extLst>
          </p:cNvPr>
          <p:cNvSpPr>
            <a:spLocks xmlns:a="http://schemas.openxmlformats.org/drawingml/2006/main" noGrp="1"/>
          </p:cNvSpPr>
          <p:nvPr/>
        </p:nvSpPr>
        <p:spPr>
          <a:xfrm xmlns:a="http://schemas.openxmlformats.org/drawingml/2006/main">
            <a:off x="566928" y="1628775"/>
            <a:ext cx="4846320" cy="11906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425" b="0">
                <a:solidFill>
                  <a:srgbClr val="102A43"/>
                </a:solidFill>
                <a:latin typeface="Aptos"/>
                <a:ea typeface="Aptos"/>
                <a:cs typeface="Aptos"/>
              </a:defRPr>
            </a:pPr>
            <a:r>
              <a:rPr sz="1425" b="0">
                <a:solidFill>
                  <a:srgbClr val="102A43"/>
                </a:solidFill>
                <a:latin typeface="Aptos"/>
                <a:ea typeface="Aptos"/>
                <a:cs typeface="Aptos"/>
              </a:rPr>
              <a:t>Operations teams search separate policies and decide who should review each request. A useful pilot should reduce lookup effort and make routing more consistent, while keeping the reviewer in control.</a:t>
            </a:r>
            <a:endParaRPr sz="1300"/>
          </a:p>
        </p:txBody>
      </p:sp>
      <p:sp>
        <p:nvSpPr>
          <p:cNvPr id="10" name="Shape 8">
            <a:extLst xmlns:a="http://schemas.openxmlformats.org/drawingml/2006/main">
              <a:ext uri="{FF2B5EF4-FFF2-40B4-BE49-F238E27FC236}">
                <a16:creationId xmlns:a16="http://schemas.microsoft.com/office/drawing/2014/main" id="{CF32B7E3-C29E-4661-86F8-6FC928F946EE}"/>
              </a:ext>
            </a:extLst>
          </p:cNvPr>
          <p:cNvSpPr>
            <a:spLocks xmlns:a="http://schemas.openxmlformats.org/drawingml/2006/main" noGrp="1"/>
          </p:cNvSpPr>
          <p:nvPr/>
        </p:nvSpPr>
        <p:spPr>
          <a:xfrm xmlns:a="http://schemas.openxmlformats.org/drawingml/2006/main">
            <a:off x="5650992" y="1417320"/>
            <a:ext cx="0" cy="4206240"/>
          </a:xfrm>
          <a:prstGeom xmlns:a="http://schemas.openxmlformats.org/drawingml/2006/main" prst="line">
            <a:avLst/>
          </a:prstGeom>
          <a:noFill xmlns:a="http://schemas.openxmlformats.org/drawingml/2006/main"/>
          <a:ln xmlns:a="http://schemas.openxmlformats.org/drawingml/2006/main" w="12700">
            <a:solidFill>
              <a:srgbClr val="C9D7DE"/>
            </a:solidFill>
            <a:prstDash val="solid"/>
          </a:ln>
        </p:spPr>
      </p:sp>
      <p:sp>
        <p:nvSpPr>
          <p:cNvPr id="11" name="Text 9">
            <a:extLst xmlns:a="http://schemas.openxmlformats.org/drawingml/2006/main">
              <a:ext uri="{FF2B5EF4-FFF2-40B4-BE49-F238E27FC236}">
                <a16:creationId xmlns:a16="http://schemas.microsoft.com/office/drawing/2014/main" id="{B942F6DA-4644-4F41-8A55-190B62E0E40F}"/>
              </a:ext>
            </a:extLst>
          </p:cNvPr>
          <p:cNvSpPr>
            <a:spLocks xmlns:a="http://schemas.openxmlformats.org/drawingml/2006/main" noGrp="1"/>
          </p:cNvSpPr>
          <p:nvPr/>
        </p:nvSpPr>
        <p:spPr>
          <a:xfrm xmlns:a="http://schemas.openxmlformats.org/drawingml/2006/main">
            <a:off x="5897880" y="1325880"/>
            <a:ext cx="29260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6A63"/>
                </a:solidFill>
              </a:rPr>
              <a:t>Good pilot characteristics</a:t>
            </a:r>
            <a:endParaRPr sz="1100"/>
          </a:p>
        </p:txBody>
      </p:sp>
      <p:sp>
        <p:nvSpPr>
          <p:cNvPr id="12" name="Text 10">
            <a:extLst xmlns:a="http://schemas.openxmlformats.org/drawingml/2006/main">
              <a:ext uri="{FF2B5EF4-FFF2-40B4-BE49-F238E27FC236}">
                <a16:creationId xmlns:a16="http://schemas.microsoft.com/office/drawing/2014/main" id="{5259DB53-0E10-4A10-8B25-581BB1FA1FE9}"/>
              </a:ext>
            </a:extLst>
          </p:cNvPr>
          <p:cNvSpPr>
            <a:spLocks xmlns:a="http://schemas.openxmlformats.org/drawingml/2006/main" noGrp="1"/>
          </p:cNvSpPr>
          <p:nvPr/>
        </p:nvSpPr>
        <p:spPr>
          <a:xfrm xmlns:a="http://schemas.openxmlformats.org/drawingml/2006/main">
            <a:off x="5897880" y="1691640"/>
            <a:ext cx="53035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102A43"/>
                </a:solidFill>
                <a:latin typeface="Aptos"/>
                <a:ea typeface="Aptos"/>
                <a:cs typeface="Aptos"/>
              </a:defRPr>
            </a:pPr>
            <a:r>
              <a:rPr sz="1200" b="0">
                <a:solidFill>
                  <a:srgbClr val="102A43"/>
                </a:solidFill>
                <a:latin typeface="Aptos"/>
                <a:ea typeface="Aptos"/>
                <a:cs typeface="Aptos"/>
              </a:rPr>
              <a:t>• One policy owner and a small, inspectable corpus.</a:t>
            </a:r>
            <a:endParaRPr sz="1100"/>
          </a:p>
        </p:txBody>
      </p:sp>
      <p:sp>
        <p:nvSpPr>
          <p:cNvPr id="13" name="Text 11">
            <a:extLst xmlns:a="http://schemas.openxmlformats.org/drawingml/2006/main">
              <a:ext uri="{FF2B5EF4-FFF2-40B4-BE49-F238E27FC236}">
                <a16:creationId xmlns:a16="http://schemas.microsoft.com/office/drawing/2014/main" id="{CE966CF8-A8A5-42D9-932C-ECD1A0AD1065}"/>
              </a:ext>
            </a:extLst>
          </p:cNvPr>
          <p:cNvSpPr>
            <a:spLocks xmlns:a="http://schemas.openxmlformats.org/drawingml/2006/main" noGrp="1"/>
          </p:cNvSpPr>
          <p:nvPr/>
        </p:nvSpPr>
        <p:spPr>
          <a:xfrm xmlns:a="http://schemas.openxmlformats.org/drawingml/2006/main">
            <a:off x="5897880" y="2084832"/>
            <a:ext cx="530352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102A43"/>
                </a:solidFill>
                <a:latin typeface="Aptos"/>
                <a:ea typeface="Aptos"/>
                <a:cs typeface="Aptos"/>
              </a:defRPr>
            </a:pPr>
            <a:r>
              <a:rPr sz="1200" b="0">
                <a:solidFill>
                  <a:srgbClr val="102A43"/>
                </a:solidFill>
                <a:latin typeface="Aptos"/>
                <a:ea typeface="Aptos"/>
                <a:cs typeface="Aptos"/>
              </a:rPr>
              <a:t>• A limited action: open a review case for the right team.</a:t>
            </a:r>
            <a:endParaRPr sz="1100"/>
          </a:p>
        </p:txBody>
      </p:sp>
      <p:sp>
        <p:nvSpPr>
          <p:cNvPr id="14" name="Text 12">
            <a:extLst xmlns:a="http://schemas.openxmlformats.org/drawingml/2006/main">
              <a:ext uri="{FF2B5EF4-FFF2-40B4-BE49-F238E27FC236}">
                <a16:creationId xmlns:a16="http://schemas.microsoft.com/office/drawing/2014/main" id="{621A026D-D463-4A87-B3CE-10EDB23442B2}"/>
              </a:ext>
            </a:extLst>
          </p:cNvPr>
          <p:cNvSpPr>
            <a:spLocks xmlns:a="http://schemas.openxmlformats.org/drawingml/2006/main" noGrp="1"/>
          </p:cNvSpPr>
          <p:nvPr/>
        </p:nvSpPr>
        <p:spPr>
          <a:xfrm xmlns:a="http://schemas.openxmlformats.org/drawingml/2006/main">
            <a:off x="5897880" y="2478024"/>
            <a:ext cx="530352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102A43"/>
                </a:solidFill>
                <a:latin typeface="Aptos"/>
                <a:ea typeface="Aptos"/>
                <a:cs typeface="Aptos"/>
              </a:defRPr>
            </a:pPr>
            <a:r>
              <a:rPr sz="1200" b="0">
                <a:solidFill>
                  <a:srgbClr val="102A43"/>
                </a:solidFill>
                <a:latin typeface="Aptos"/>
                <a:ea typeface="Aptos"/>
                <a:cs typeface="Aptos"/>
              </a:rPr>
              <a:t>• Agreed measures for relevance, routing and reviewer overrides.</a:t>
            </a:r>
            <a:endParaRPr sz="1100"/>
          </a:p>
        </p:txBody>
      </p:sp>
      <p:sp>
        <p:nvSpPr>
          <p:cNvPr id="15" name="Shape 13">
            <a:extLst xmlns:a="http://schemas.openxmlformats.org/drawingml/2006/main">
              <a:ext uri="{FF2B5EF4-FFF2-40B4-BE49-F238E27FC236}">
                <a16:creationId xmlns:a16="http://schemas.microsoft.com/office/drawing/2014/main" id="{BE1BA13E-B620-41A1-B097-9C29C252AA02}"/>
              </a:ext>
            </a:extLst>
          </p:cNvPr>
          <p:cNvSpPr>
            <a:spLocks xmlns:a="http://schemas.openxmlformats.org/drawingml/2006/main" noGrp="1"/>
          </p:cNvSpPr>
          <p:nvPr/>
        </p:nvSpPr>
        <p:spPr>
          <a:xfrm xmlns:a="http://schemas.openxmlformats.org/drawingml/2006/main">
            <a:off x="566928" y="2980944"/>
            <a:ext cx="10607040" cy="0"/>
          </a:xfrm>
          <a:prstGeom xmlns:a="http://schemas.openxmlformats.org/drawingml/2006/main" prst="line">
            <a:avLst/>
          </a:prstGeom>
          <a:noFill xmlns:a="http://schemas.openxmlformats.org/drawingml/2006/main"/>
          <a:ln xmlns:a="http://schemas.openxmlformats.org/drawingml/2006/main" w="9525">
            <a:solidFill>
              <a:srgbClr val="C9D7DE"/>
            </a:solidFill>
            <a:prstDash val="solid"/>
          </a:ln>
        </p:spPr>
      </p:sp>
      <p:sp>
        <p:nvSpPr>
          <p:cNvPr id="16" name="Text 14">
            <a:extLst xmlns:a="http://schemas.openxmlformats.org/drawingml/2006/main">
              <a:ext uri="{FF2B5EF4-FFF2-40B4-BE49-F238E27FC236}">
                <a16:creationId xmlns:a16="http://schemas.microsoft.com/office/drawing/2014/main" id="{0C4EE66F-FCCC-4E8B-AA3E-D0107BBC3706}"/>
              </a:ext>
            </a:extLst>
          </p:cNvPr>
          <p:cNvSpPr>
            <a:spLocks xmlns:a="http://schemas.openxmlformats.org/drawingml/2006/main" noGrp="1"/>
          </p:cNvSpPr>
          <p:nvPr/>
        </p:nvSpPr>
        <p:spPr>
          <a:xfrm xmlns:a="http://schemas.openxmlformats.org/drawingml/2006/main">
            <a:off x="566928" y="3246120"/>
            <a:ext cx="20116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1">
                <a:solidFill>
                  <a:srgbClr val="006A63"/>
                </a:solidFill>
                <a:latin typeface="Aptos"/>
                <a:ea typeface="Aptos"/>
                <a:cs typeface="Aptos"/>
              </a:defRPr>
            </a:pPr>
            <a:r>
              <a:rPr sz="1200" b="1">
                <a:solidFill>
                  <a:srgbClr val="006A63"/>
                </a:solidFill>
                <a:latin typeface="Aptos"/>
                <a:ea typeface="Aptos"/>
                <a:cs typeface="Aptos"/>
              </a:rPr>
              <a:t>Pilot success measures</a:t>
            </a:r>
            <a:endParaRPr sz="1100"/>
          </a:p>
        </p:txBody>
      </p:sp>
      <p:sp>
        <p:nvSpPr>
          <p:cNvPr id="17" name="Text 15">
            <a:extLst xmlns:a="http://schemas.openxmlformats.org/drawingml/2006/main">
              <a:ext uri="{FF2B5EF4-FFF2-40B4-BE49-F238E27FC236}">
                <a16:creationId xmlns:a16="http://schemas.microsoft.com/office/drawing/2014/main" id="{8FAF6597-3365-4B63-9974-AC695D7FEB16}"/>
              </a:ext>
            </a:extLst>
          </p:cNvPr>
          <p:cNvSpPr>
            <a:spLocks xmlns:a="http://schemas.openxmlformats.org/drawingml/2006/main" noGrp="1"/>
          </p:cNvSpPr>
          <p:nvPr/>
        </p:nvSpPr>
        <p:spPr>
          <a:xfrm xmlns:a="http://schemas.openxmlformats.org/drawingml/2006/main">
            <a:off x="566928" y="3593592"/>
            <a:ext cx="21945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006A63"/>
                </a:solidFill>
                <a:latin typeface="Aptos"/>
                <a:ea typeface="Aptos"/>
                <a:cs typeface="Aptos"/>
              </a:defRPr>
            </a:pPr>
            <a:r>
              <a:rPr sz="1050" b="1">
                <a:solidFill>
                  <a:srgbClr val="006A63"/>
                </a:solidFill>
                <a:latin typeface="Aptos"/>
                <a:ea typeface="Aptos"/>
                <a:cs typeface="Aptos"/>
              </a:rPr>
              <a:t>Current pain</a:t>
            </a:r>
            <a:endParaRPr sz="920"/>
          </a:p>
        </p:txBody>
      </p:sp>
      <p:sp>
        <p:nvSpPr>
          <p:cNvPr id="18" name="Text 16">
            <a:extLst xmlns:a="http://schemas.openxmlformats.org/drawingml/2006/main">
              <a:ext uri="{FF2B5EF4-FFF2-40B4-BE49-F238E27FC236}">
                <a16:creationId xmlns:a16="http://schemas.microsoft.com/office/drawing/2014/main" id="{2B8602B0-A101-4A6A-A191-735C5AD62B81}"/>
              </a:ext>
            </a:extLst>
          </p:cNvPr>
          <p:cNvSpPr>
            <a:spLocks xmlns:a="http://schemas.openxmlformats.org/drawingml/2006/main" noGrp="1"/>
          </p:cNvSpPr>
          <p:nvPr/>
        </p:nvSpPr>
        <p:spPr>
          <a:xfrm xmlns:a="http://schemas.openxmlformats.org/drawingml/2006/main">
            <a:off x="3246120" y="3593592"/>
            <a:ext cx="21945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006A63"/>
                </a:solidFill>
                <a:latin typeface="Aptos"/>
                <a:ea typeface="Aptos"/>
                <a:cs typeface="Aptos"/>
              </a:defRPr>
            </a:pPr>
            <a:r>
              <a:rPr sz="1050" b="1">
                <a:solidFill>
                  <a:srgbClr val="006A63"/>
                </a:solidFill>
                <a:latin typeface="Aptos"/>
                <a:ea typeface="Aptos"/>
                <a:cs typeface="Aptos"/>
              </a:rPr>
              <a:t>AI-assisted improvement</a:t>
            </a:r>
            <a:endParaRPr sz="920"/>
          </a:p>
        </p:txBody>
      </p:sp>
      <p:sp>
        <p:nvSpPr>
          <p:cNvPr id="19" name="Text 17">
            <a:extLst xmlns:a="http://schemas.openxmlformats.org/drawingml/2006/main">
              <a:ext uri="{FF2B5EF4-FFF2-40B4-BE49-F238E27FC236}">
                <a16:creationId xmlns:a16="http://schemas.microsoft.com/office/drawing/2014/main" id="{BE8C0C1A-6E33-40EE-AE0E-1AAC6A309019}"/>
              </a:ext>
            </a:extLst>
          </p:cNvPr>
          <p:cNvSpPr>
            <a:spLocks xmlns:a="http://schemas.openxmlformats.org/drawingml/2006/main" noGrp="1"/>
          </p:cNvSpPr>
          <p:nvPr/>
        </p:nvSpPr>
        <p:spPr>
          <a:xfrm xmlns:a="http://schemas.openxmlformats.org/drawingml/2006/main">
            <a:off x="5897880" y="35935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006A63"/>
                </a:solidFill>
                <a:latin typeface="Aptos"/>
                <a:ea typeface="Aptos"/>
                <a:cs typeface="Aptos"/>
              </a:defRPr>
            </a:pPr>
            <a:r>
              <a:rPr sz="1050" b="1">
                <a:solidFill>
                  <a:srgbClr val="006A63"/>
                </a:solidFill>
                <a:latin typeface="Aptos"/>
                <a:ea typeface="Aptos"/>
                <a:cs typeface="Aptos"/>
              </a:rPr>
              <a:t>How I would measure it</a:t>
            </a:r>
            <a:endParaRPr sz="920"/>
          </a:p>
        </p:txBody>
      </p:sp>
      <p:sp>
        <p:nvSpPr>
          <p:cNvPr id="20" name="Text 18">
            <a:extLst xmlns:a="http://schemas.openxmlformats.org/drawingml/2006/main">
              <a:ext uri="{FF2B5EF4-FFF2-40B4-BE49-F238E27FC236}">
                <a16:creationId xmlns:a16="http://schemas.microsoft.com/office/drawing/2014/main" id="{B65A5242-012C-4895-827A-B5BCD10243FC}"/>
              </a:ext>
            </a:extLst>
          </p:cNvPr>
          <p:cNvSpPr>
            <a:spLocks xmlns:a="http://schemas.openxmlformats.org/drawingml/2006/main" noGrp="1"/>
          </p:cNvSpPr>
          <p:nvPr/>
        </p:nvSpPr>
        <p:spPr>
          <a:xfrm xmlns:a="http://schemas.openxmlformats.org/drawingml/2006/main">
            <a:off x="8613648" y="3593592"/>
            <a:ext cx="21945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006A63"/>
                </a:solidFill>
                <a:latin typeface="Aptos"/>
                <a:ea typeface="Aptos"/>
                <a:cs typeface="Aptos"/>
              </a:defRPr>
            </a:pPr>
            <a:r>
              <a:rPr sz="1050" b="1">
                <a:solidFill>
                  <a:srgbClr val="006A63"/>
                </a:solidFill>
                <a:latin typeface="Aptos"/>
                <a:ea typeface="Aptos"/>
                <a:cs typeface="Aptos"/>
              </a:rPr>
              <a:t>Acceptance gate</a:t>
            </a:r>
            <a:endParaRPr sz="920"/>
          </a:p>
        </p:txBody>
      </p:sp>
      <p:sp>
        <p:nvSpPr>
          <p:cNvPr id="21" name="Shape 19">
            <a:extLst xmlns:a="http://schemas.openxmlformats.org/drawingml/2006/main">
              <a:ext uri="{FF2B5EF4-FFF2-40B4-BE49-F238E27FC236}">
                <a16:creationId xmlns:a16="http://schemas.microsoft.com/office/drawing/2014/main" id="{565FE9B6-FD7A-4839-A200-57B7B7EA6C1F}"/>
              </a:ext>
            </a:extLst>
          </p:cNvPr>
          <p:cNvSpPr>
            <a:spLocks xmlns:a="http://schemas.openxmlformats.org/drawingml/2006/main" noGrp="1"/>
          </p:cNvSpPr>
          <p:nvPr/>
        </p:nvSpPr>
        <p:spPr>
          <a:xfrm xmlns:a="http://schemas.openxmlformats.org/drawingml/2006/main">
            <a:off x="566928" y="3794760"/>
            <a:ext cx="10607040" cy="0"/>
          </a:xfrm>
          <a:prstGeom xmlns:a="http://schemas.openxmlformats.org/drawingml/2006/main" prst="line">
            <a:avLst/>
          </a:prstGeom>
          <a:noFill xmlns:a="http://schemas.openxmlformats.org/drawingml/2006/main"/>
          <a:ln xmlns:a="http://schemas.openxmlformats.org/drawingml/2006/main" w="7620">
            <a:solidFill>
              <a:srgbClr val="C9D7DE"/>
            </a:solidFill>
            <a:prstDash val="solid"/>
          </a:ln>
        </p:spPr>
      </p:sp>
      <p:sp>
        <p:nvSpPr>
          <p:cNvPr id="22" name="Text 20">
            <a:extLst xmlns:a="http://schemas.openxmlformats.org/drawingml/2006/main">
              <a:ext uri="{FF2B5EF4-FFF2-40B4-BE49-F238E27FC236}">
                <a16:creationId xmlns:a16="http://schemas.microsoft.com/office/drawing/2014/main" id="{199710FA-A1E6-47C4-8AA3-2A2C9FCAE5C6}"/>
              </a:ext>
            </a:extLst>
          </p:cNvPr>
          <p:cNvSpPr>
            <a:spLocks xmlns:a="http://schemas.openxmlformats.org/drawingml/2006/main" noGrp="1"/>
          </p:cNvSpPr>
          <p:nvPr/>
        </p:nvSpPr>
        <p:spPr>
          <a:xfrm xmlns:a="http://schemas.openxmlformats.org/drawingml/2006/main">
            <a:off x="566928" y="3913632"/>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1">
                <a:solidFill>
                  <a:srgbClr val="102A43"/>
                </a:solidFill>
                <a:latin typeface="Aptos"/>
                <a:ea typeface="Aptos"/>
                <a:cs typeface="Aptos"/>
              </a:defRPr>
            </a:pPr>
            <a:r>
              <a:rPr sz="1125" b="1">
                <a:solidFill>
                  <a:srgbClr val="102A43"/>
                </a:solidFill>
                <a:latin typeface="Aptos"/>
                <a:ea typeface="Aptos"/>
                <a:cs typeface="Aptos"/>
              </a:rPr>
              <a:t>Policy lookup</a:t>
            </a:r>
            <a:endParaRPr sz="1020"/>
          </a:p>
        </p:txBody>
      </p:sp>
      <p:sp>
        <p:nvSpPr>
          <p:cNvPr id="23" name="Text 21">
            <a:extLst xmlns:a="http://schemas.openxmlformats.org/drawingml/2006/main">
              <a:ext uri="{FF2B5EF4-FFF2-40B4-BE49-F238E27FC236}">
                <a16:creationId xmlns:a16="http://schemas.microsoft.com/office/drawing/2014/main" id="{F7201B76-1D29-4B3E-8490-32FFD10F45FF}"/>
              </a:ext>
            </a:extLst>
          </p:cNvPr>
          <p:cNvSpPr>
            <a:spLocks xmlns:a="http://schemas.openxmlformats.org/drawingml/2006/main" noGrp="1"/>
          </p:cNvSpPr>
          <p:nvPr/>
        </p:nvSpPr>
        <p:spPr>
          <a:xfrm xmlns:a="http://schemas.openxmlformats.org/drawingml/2006/main">
            <a:off x="3246120" y="3913632"/>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One cited evidence view</a:t>
            </a:r>
            <a:endParaRPr sz="1020"/>
          </a:p>
        </p:txBody>
      </p:sp>
      <p:sp>
        <p:nvSpPr>
          <p:cNvPr id="24" name="Text 22">
            <a:extLst xmlns:a="http://schemas.openxmlformats.org/drawingml/2006/main">
              <a:ext uri="{FF2B5EF4-FFF2-40B4-BE49-F238E27FC236}">
                <a16:creationId xmlns:a16="http://schemas.microsoft.com/office/drawing/2014/main" id="{B06DFB0A-F53C-4439-9283-892F09BB8BF7}"/>
              </a:ext>
            </a:extLst>
          </p:cNvPr>
          <p:cNvSpPr>
            <a:spLocks xmlns:a="http://schemas.openxmlformats.org/drawingml/2006/main" noGrp="1"/>
          </p:cNvSpPr>
          <p:nvPr/>
        </p:nvSpPr>
        <p:spPr>
          <a:xfrm xmlns:a="http://schemas.openxmlformats.org/drawingml/2006/main">
            <a:off x="5897880" y="3913632"/>
            <a:ext cx="2286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Time to locate evidence</a:t>
            </a:r>
            <a:endParaRPr sz="1020"/>
          </a:p>
        </p:txBody>
      </p:sp>
      <p:sp>
        <p:nvSpPr>
          <p:cNvPr id="25" name="Text 23">
            <a:extLst xmlns:a="http://schemas.openxmlformats.org/drawingml/2006/main">
              <a:ext uri="{FF2B5EF4-FFF2-40B4-BE49-F238E27FC236}">
                <a16:creationId xmlns:a16="http://schemas.microsoft.com/office/drawing/2014/main" id="{ED16DC04-ED0D-46F2-AF67-293A6F5997FD}"/>
              </a:ext>
            </a:extLst>
          </p:cNvPr>
          <p:cNvSpPr>
            <a:spLocks xmlns:a="http://schemas.openxmlformats.org/drawingml/2006/main" noGrp="1"/>
          </p:cNvSpPr>
          <p:nvPr/>
        </p:nvSpPr>
        <p:spPr>
          <a:xfrm xmlns:a="http://schemas.openxmlformats.org/drawingml/2006/main">
            <a:off x="8613648" y="3913632"/>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Reviewer confirms relevance</a:t>
            </a:r>
            <a:endParaRPr sz="1020"/>
          </a:p>
        </p:txBody>
      </p:sp>
      <p:sp>
        <p:nvSpPr>
          <p:cNvPr id="26" name="Shape 24">
            <a:extLst xmlns:a="http://schemas.openxmlformats.org/drawingml/2006/main">
              <a:ext uri="{FF2B5EF4-FFF2-40B4-BE49-F238E27FC236}">
                <a16:creationId xmlns:a16="http://schemas.microsoft.com/office/drawing/2014/main" id="{A8058A7A-A2C6-4D01-9250-EC71CFAD8FCA}"/>
              </a:ext>
            </a:extLst>
          </p:cNvPr>
          <p:cNvSpPr>
            <a:spLocks xmlns:a="http://schemas.openxmlformats.org/drawingml/2006/main" noGrp="1"/>
          </p:cNvSpPr>
          <p:nvPr/>
        </p:nvSpPr>
        <p:spPr>
          <a:xfrm xmlns:a="http://schemas.openxmlformats.org/drawingml/2006/main">
            <a:off x="566928" y="4453128"/>
            <a:ext cx="10607040" cy="0"/>
          </a:xfrm>
          <a:prstGeom xmlns:a="http://schemas.openxmlformats.org/drawingml/2006/main" prst="line">
            <a:avLst/>
          </a:prstGeom>
          <a:noFill xmlns:a="http://schemas.openxmlformats.org/drawingml/2006/main"/>
          <a:ln xmlns:a="http://schemas.openxmlformats.org/drawingml/2006/main" w="7620">
            <a:solidFill>
              <a:srgbClr val="C9D7DE"/>
            </a:solidFill>
            <a:prstDash val="solid"/>
          </a:ln>
        </p:spPr>
      </p:sp>
      <p:sp>
        <p:nvSpPr>
          <p:cNvPr id="27" name="Text 25">
            <a:extLst xmlns:a="http://schemas.openxmlformats.org/drawingml/2006/main">
              <a:ext uri="{FF2B5EF4-FFF2-40B4-BE49-F238E27FC236}">
                <a16:creationId xmlns:a16="http://schemas.microsoft.com/office/drawing/2014/main" id="{B81B9EB9-3E16-408D-AE8D-7294772BDDF5}"/>
              </a:ext>
            </a:extLst>
          </p:cNvPr>
          <p:cNvSpPr>
            <a:spLocks xmlns:a="http://schemas.openxmlformats.org/drawingml/2006/main" noGrp="1"/>
          </p:cNvSpPr>
          <p:nvPr/>
        </p:nvSpPr>
        <p:spPr>
          <a:xfrm xmlns:a="http://schemas.openxmlformats.org/drawingml/2006/main">
            <a:off x="566928" y="4572000"/>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1">
                <a:solidFill>
                  <a:srgbClr val="102A43"/>
                </a:solidFill>
                <a:latin typeface="Aptos"/>
                <a:ea typeface="Aptos"/>
                <a:cs typeface="Aptos"/>
              </a:defRPr>
            </a:pPr>
            <a:r>
              <a:rPr sz="1125" b="1">
                <a:solidFill>
                  <a:srgbClr val="102A43"/>
                </a:solidFill>
                <a:latin typeface="Aptos"/>
                <a:ea typeface="Aptos"/>
                <a:cs typeface="Aptos"/>
              </a:rPr>
              <a:t>Routing inconsistency</a:t>
            </a:r>
            <a:endParaRPr sz="1020"/>
          </a:p>
        </p:txBody>
      </p:sp>
      <p:sp>
        <p:nvSpPr>
          <p:cNvPr id="28" name="Text 26">
            <a:extLst xmlns:a="http://schemas.openxmlformats.org/drawingml/2006/main">
              <a:ext uri="{FF2B5EF4-FFF2-40B4-BE49-F238E27FC236}">
                <a16:creationId xmlns:a16="http://schemas.microsoft.com/office/drawing/2014/main" id="{40622941-E41C-4AD5-9498-343C949C1C52}"/>
              </a:ext>
            </a:extLst>
          </p:cNvPr>
          <p:cNvSpPr>
            <a:spLocks xmlns:a="http://schemas.openxmlformats.org/drawingml/2006/main" noGrp="1"/>
          </p:cNvSpPr>
          <p:nvPr/>
        </p:nvSpPr>
        <p:spPr>
          <a:xfrm xmlns:a="http://schemas.openxmlformats.org/drawingml/2006/main">
            <a:off x="3246120" y="4572000"/>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Queue constrained by policy</a:t>
            </a:r>
            <a:endParaRPr sz="1020"/>
          </a:p>
        </p:txBody>
      </p:sp>
      <p:sp>
        <p:nvSpPr>
          <p:cNvPr id="29" name="Text 27">
            <a:extLst xmlns:a="http://schemas.openxmlformats.org/drawingml/2006/main">
              <a:ext uri="{FF2B5EF4-FFF2-40B4-BE49-F238E27FC236}">
                <a16:creationId xmlns:a16="http://schemas.microsoft.com/office/drawing/2014/main" id="{CF3CA7E2-EA94-46FA-9129-73B1988C987F}"/>
              </a:ext>
            </a:extLst>
          </p:cNvPr>
          <p:cNvSpPr>
            <a:spLocks xmlns:a="http://schemas.openxmlformats.org/drawingml/2006/main" noGrp="1"/>
          </p:cNvSpPr>
          <p:nvPr/>
        </p:nvSpPr>
        <p:spPr>
          <a:xfrm xmlns:a="http://schemas.openxmlformats.org/drawingml/2006/main">
            <a:off x="5897880" y="4572000"/>
            <a:ext cx="2286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Correct queue / override rate</a:t>
            </a:r>
            <a:endParaRPr sz="1020"/>
          </a:p>
        </p:txBody>
      </p:sp>
      <p:sp>
        <p:nvSpPr>
          <p:cNvPr id="30" name="Text 28">
            <a:extLst xmlns:a="http://schemas.openxmlformats.org/drawingml/2006/main">
              <a:ext uri="{FF2B5EF4-FFF2-40B4-BE49-F238E27FC236}">
                <a16:creationId xmlns:a16="http://schemas.microsoft.com/office/drawing/2014/main" id="{F6CC8CB5-D5C0-4BCF-89FB-BBFD45DD6AC8}"/>
              </a:ext>
            </a:extLst>
          </p:cNvPr>
          <p:cNvSpPr>
            <a:spLocks xmlns:a="http://schemas.openxmlformats.org/drawingml/2006/main" noGrp="1"/>
          </p:cNvSpPr>
          <p:nvPr/>
        </p:nvSpPr>
        <p:spPr>
          <a:xfrm xmlns:a="http://schemas.openxmlformats.org/drawingml/2006/main">
            <a:off x="8613648" y="4572000"/>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No unknown queues</a:t>
            </a:r>
            <a:endParaRPr sz="1020"/>
          </a:p>
        </p:txBody>
      </p:sp>
      <p:sp>
        <p:nvSpPr>
          <p:cNvPr id="31" name="Shape 29">
            <a:extLst xmlns:a="http://schemas.openxmlformats.org/drawingml/2006/main">
              <a:ext uri="{FF2B5EF4-FFF2-40B4-BE49-F238E27FC236}">
                <a16:creationId xmlns:a16="http://schemas.microsoft.com/office/drawing/2014/main" id="{E240CFCE-2BA3-4A98-90C1-2ABD000A9134}"/>
              </a:ext>
            </a:extLst>
          </p:cNvPr>
          <p:cNvSpPr>
            <a:spLocks xmlns:a="http://schemas.openxmlformats.org/drawingml/2006/main" noGrp="1"/>
          </p:cNvSpPr>
          <p:nvPr/>
        </p:nvSpPr>
        <p:spPr>
          <a:xfrm xmlns:a="http://schemas.openxmlformats.org/drawingml/2006/main">
            <a:off x="566928" y="5111496"/>
            <a:ext cx="10607040" cy="0"/>
          </a:xfrm>
          <a:prstGeom xmlns:a="http://schemas.openxmlformats.org/drawingml/2006/main" prst="line">
            <a:avLst/>
          </a:prstGeom>
          <a:noFill xmlns:a="http://schemas.openxmlformats.org/drawingml/2006/main"/>
          <a:ln xmlns:a="http://schemas.openxmlformats.org/drawingml/2006/main" w="7620">
            <a:solidFill>
              <a:srgbClr val="C9D7DE"/>
            </a:solidFill>
            <a:prstDash val="solid"/>
          </a:ln>
        </p:spPr>
      </p:sp>
      <p:sp>
        <p:nvSpPr>
          <p:cNvPr id="32" name="Text 30">
            <a:extLst xmlns:a="http://schemas.openxmlformats.org/drawingml/2006/main">
              <a:ext uri="{FF2B5EF4-FFF2-40B4-BE49-F238E27FC236}">
                <a16:creationId xmlns:a16="http://schemas.microsoft.com/office/drawing/2014/main" id="{3FF34598-C50E-4053-9CEF-D14D132CCAF7}"/>
              </a:ext>
            </a:extLst>
          </p:cNvPr>
          <p:cNvSpPr>
            <a:spLocks xmlns:a="http://schemas.openxmlformats.org/drawingml/2006/main" noGrp="1"/>
          </p:cNvSpPr>
          <p:nvPr/>
        </p:nvSpPr>
        <p:spPr>
          <a:xfrm xmlns:a="http://schemas.openxmlformats.org/drawingml/2006/main">
            <a:off x="566928" y="523036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1">
                <a:solidFill>
                  <a:srgbClr val="102A43"/>
                </a:solidFill>
                <a:latin typeface="Aptos"/>
                <a:ea typeface="Aptos"/>
                <a:cs typeface="Aptos"/>
              </a:defRPr>
            </a:pPr>
            <a:r>
              <a:rPr sz="1125" b="1">
                <a:solidFill>
                  <a:srgbClr val="102A43"/>
                </a:solidFill>
                <a:latin typeface="Aptos"/>
                <a:ea typeface="Aptos"/>
                <a:cs typeface="Aptos"/>
              </a:rPr>
              <a:t>Unsafe automation</a:t>
            </a:r>
            <a:endParaRPr sz="1020"/>
          </a:p>
        </p:txBody>
      </p:sp>
      <p:sp>
        <p:nvSpPr>
          <p:cNvPr id="33" name="Text 31">
            <a:extLst xmlns:a="http://schemas.openxmlformats.org/drawingml/2006/main">
              <a:ext uri="{FF2B5EF4-FFF2-40B4-BE49-F238E27FC236}">
                <a16:creationId xmlns:a16="http://schemas.microsoft.com/office/drawing/2014/main" id="{C695E4ED-34D1-4C2D-B121-8DD6456BA645}"/>
              </a:ext>
            </a:extLst>
          </p:cNvPr>
          <p:cNvSpPr>
            <a:spLocks xmlns:a="http://schemas.openxmlformats.org/drawingml/2006/main" noGrp="1"/>
          </p:cNvSpPr>
          <p:nvPr/>
        </p:nvSpPr>
        <p:spPr>
          <a:xfrm xmlns:a="http://schemas.openxmlformats.org/drawingml/2006/main">
            <a:off x="3246120" y="523036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Action gated by approval</a:t>
            </a:r>
            <a:endParaRPr sz="1020"/>
          </a:p>
        </p:txBody>
      </p:sp>
      <p:sp>
        <p:nvSpPr>
          <p:cNvPr id="34" name="Text 32">
            <a:extLst xmlns:a="http://schemas.openxmlformats.org/drawingml/2006/main">
              <a:ext uri="{FF2B5EF4-FFF2-40B4-BE49-F238E27FC236}">
                <a16:creationId xmlns:a16="http://schemas.microsoft.com/office/drawing/2014/main" id="{A4F5C712-7F48-4ACD-AD28-DD3DD05074E3}"/>
              </a:ext>
            </a:extLst>
          </p:cNvPr>
          <p:cNvSpPr>
            <a:spLocks xmlns:a="http://schemas.openxmlformats.org/drawingml/2006/main" noGrp="1"/>
          </p:cNvSpPr>
          <p:nvPr/>
        </p:nvSpPr>
        <p:spPr>
          <a:xfrm xmlns:a="http://schemas.openxmlformats.org/drawingml/2006/main">
            <a:off x="5897880" y="5230368"/>
            <a:ext cx="2286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Cases created without approval</a:t>
            </a:r>
            <a:endParaRPr sz="1020"/>
          </a:p>
        </p:txBody>
      </p:sp>
      <p:sp>
        <p:nvSpPr>
          <p:cNvPr id="35" name="Text 33">
            <a:extLst xmlns:a="http://schemas.openxmlformats.org/drawingml/2006/main">
              <a:ext uri="{FF2B5EF4-FFF2-40B4-BE49-F238E27FC236}">
                <a16:creationId xmlns:a16="http://schemas.microsoft.com/office/drawing/2014/main" id="{567FD055-FC09-4492-A534-4A54F2575C41}"/>
              </a:ext>
            </a:extLst>
          </p:cNvPr>
          <p:cNvSpPr>
            <a:spLocks xmlns:a="http://schemas.openxmlformats.org/drawingml/2006/main" noGrp="1"/>
          </p:cNvSpPr>
          <p:nvPr/>
        </p:nvSpPr>
        <p:spPr>
          <a:xfrm xmlns:a="http://schemas.openxmlformats.org/drawingml/2006/main">
            <a:off x="8613648" y="523036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Zero</a:t>
            </a:r>
            <a:endParaRPr sz="1020"/>
          </a:p>
        </p:txBody>
      </p:sp>
      <p:sp>
        <p:nvSpPr>
          <p:cNvPr id="36" name="Shape 34">
            <a:extLst xmlns:a="http://schemas.openxmlformats.org/drawingml/2006/main">
              <a:ext uri="{FF2B5EF4-FFF2-40B4-BE49-F238E27FC236}">
                <a16:creationId xmlns:a16="http://schemas.microsoft.com/office/drawing/2014/main" id="{26CD18C6-C29B-4C5C-9F8F-B4971AF1486B}"/>
              </a:ext>
            </a:extLst>
          </p:cNvPr>
          <p:cNvSpPr>
            <a:spLocks xmlns:a="http://schemas.openxmlformats.org/drawingml/2006/main" noGrp="1"/>
          </p:cNvSpPr>
          <p:nvPr/>
        </p:nvSpPr>
        <p:spPr>
          <a:xfrm xmlns:a="http://schemas.openxmlformats.org/drawingml/2006/main">
            <a:off x="566928" y="5833872"/>
            <a:ext cx="3566160" cy="301752"/>
          </a:xfrm>
          <a:prstGeom xmlns:a="http://schemas.openxmlformats.org/drawingml/2006/main" prst="roundRect">
            <a:avLst>
              <a:gd name="adj" fmla="val 12121"/>
            </a:avLst>
          </a:prstGeom>
          <a:solidFill xmlns:a="http://schemas.openxmlformats.org/drawingml/2006/main">
            <a:srgbClr val="FFF6D6"/>
          </a:solidFill>
          <a:ln xmlns:a="http://schemas.openxmlformats.org/drawingml/2006/main" w="12700">
            <a:solidFill>
              <a:srgbClr val="FFF6D6"/>
            </a:solidFill>
            <a:prstDash val="solid"/>
          </a:ln>
        </p:spPr>
      </p:sp>
      <p:sp>
        <p:nvSpPr>
          <p:cNvPr id="37" name="Text 35">
            <a:extLst xmlns:a="http://schemas.openxmlformats.org/drawingml/2006/main">
              <a:ext uri="{FF2B5EF4-FFF2-40B4-BE49-F238E27FC236}">
                <a16:creationId xmlns:a16="http://schemas.microsoft.com/office/drawing/2014/main" id="{A5C98A35-75F3-4499-8155-39597A05B7DD}"/>
              </a:ext>
            </a:extLst>
          </p:cNvPr>
          <p:cNvSpPr>
            <a:spLocks xmlns:a="http://schemas.openxmlformats.org/drawingml/2006/main" noGrp="1"/>
          </p:cNvSpPr>
          <p:nvPr/>
        </p:nvSpPr>
        <p:spPr>
          <a:xfrm xmlns:a="http://schemas.openxmlformats.org/drawingml/2006/main">
            <a:off x="640080" y="5876925"/>
            <a:ext cx="3419856" cy="209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975" b="1">
                <a:solidFill>
                  <a:srgbClr val="102A43"/>
                </a:solidFill>
                <a:latin typeface="Aptos"/>
                <a:ea typeface="Aptos"/>
                <a:cs typeface="Aptos"/>
              </a:defRPr>
            </a:pPr>
            <a:r>
              <a:rPr sz="975" b="1">
                <a:solidFill>
                  <a:srgbClr val="102A43"/>
                </a:solidFill>
                <a:latin typeface="Aptos"/>
                <a:ea typeface="Aptos"/>
                <a:cs typeface="Aptos"/>
              </a:rPr>
              <a:t>Measure against the manual baseline</a:t>
            </a:r>
            <a:endParaRPr sz="820"/>
          </a:p>
        </p:txBody>
      </p:sp>
      <p:sp>
        <p:nvSpPr>
          <p:cNvPr id="38" name="Text 36">
            <a:extLst xmlns:a="http://schemas.openxmlformats.org/drawingml/2006/main">
              <a:ext uri="{FF2B5EF4-FFF2-40B4-BE49-F238E27FC236}">
                <a16:creationId xmlns:a16="http://schemas.microsoft.com/office/drawing/2014/main" id="{593436C4-AC53-4655-966D-E4782AC18294}"/>
              </a:ext>
            </a:extLst>
          </p:cNvPr>
          <p:cNvSpPr>
            <a:spLocks xmlns:a="http://schemas.openxmlformats.org/drawingml/2006/main" noGrp="1"/>
          </p:cNvSpPr>
          <p:nvPr/>
        </p:nvSpPr>
        <p:spPr>
          <a:xfrm xmlns:a="http://schemas.openxmlformats.org/drawingml/2006/main">
            <a:off x="4343400" y="5810250"/>
            <a:ext cx="70104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125" b="0">
                <a:solidFill>
                  <a:srgbClr val="536A7B"/>
                </a:solidFill>
                <a:latin typeface="Aptos"/>
                <a:ea typeface="Aptos"/>
                <a:cs typeface="Aptos"/>
              </a:defRPr>
            </a:pPr>
            <a:r>
              <a:rPr sz="1125" b="0">
                <a:solidFill>
                  <a:srgbClr val="536A7B"/>
                </a:solidFill>
                <a:latin typeface="Aptos"/>
                <a:ea typeface="Aptos"/>
                <a:cs typeface="Aptos"/>
              </a:rPr>
              <a:t>Compare handling time, routing accuracy and reviewer overrides.</a:t>
            </a:r>
            <a:endParaRPr sz="980"/>
          </a:p>
        </p:txBody>
      </p:sp>
    </p:spTree>
    <p:extLst>
      <p:ext uri="{BB962C8B-B14F-4D97-AF65-F5344CB8AC3E}">
        <p14:creationId xmlns:p14="http://schemas.microsoft.com/office/powerpoint/2010/main" val="466218808"/>
      </p:ext>
    </p:extLst>
  </p:cSld>
</p:sld>
</file>

<file path=ppt/slides/slide3.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297BEB1-22FC-406B-BDDA-2D56B331655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B"/>
          </a:solidFill>
          <a:ln xmlns:a="http://schemas.openxmlformats.org/drawingml/2006/main" w="12700">
            <a:solidFill>
              <a:srgbClr val="F7FAFB">
                <a:alpha val="0"/>
              </a:srgbClr>
            </a:solidFill>
            <a:prstDash val="solid"/>
          </a:ln>
        </p:spPr>
      </p:sp>
      <p:sp>
        <p:nvSpPr>
          <p:cNvPr id="3" name="Shape 1">
            <a:extLst xmlns:a="http://schemas.openxmlformats.org/drawingml/2006/main">
              <a:ext uri="{FF2B5EF4-FFF2-40B4-BE49-F238E27FC236}">
                <a16:creationId xmlns:a16="http://schemas.microsoft.com/office/drawing/2014/main" id="{B0B70DBD-B1E2-479E-96FF-1B0D5E6F3A79}"/>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00897B"/>
          </a:solidFill>
          <a:ln xmlns:a="http://schemas.openxmlformats.org/drawingml/2006/main" w="12700">
            <a:solidFill>
              <a:srgbClr val="00897B"/>
            </a:solidFill>
            <a:prstDash val="solid"/>
          </a:ln>
        </p:spPr>
      </p:sp>
      <p:sp>
        <p:nvSpPr>
          <p:cNvPr id="4" name="Text 2">
            <a:extLst xmlns:a="http://schemas.openxmlformats.org/drawingml/2006/main">
              <a:ext uri="{FF2B5EF4-FFF2-40B4-BE49-F238E27FC236}">
                <a16:creationId xmlns:a16="http://schemas.microsoft.com/office/drawing/2014/main" id="{E58E973A-93D1-488C-A308-C871B7C0EA4D}"/>
              </a:ext>
            </a:extLst>
          </p:cNvPr>
          <p:cNvSpPr>
            <a:spLocks xmlns:a="http://schemas.openxmlformats.org/drawingml/2006/main" noGrp="1"/>
          </p:cNvSpPr>
          <p:nvPr/>
        </p:nvSpPr>
        <p:spPr>
          <a:xfrm xmlns:a="http://schemas.openxmlformats.org/drawingml/2006/main">
            <a:off x="438912" y="6510528"/>
            <a:ext cx="5669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36A7B"/>
                </a:solidFill>
                <a:latin typeface="Aptos"/>
                <a:ea typeface="Aptos"/>
                <a:cs typeface="Aptos"/>
              </a:rPr>
              <a:t>Jeen AI Solution Engineer Home Assignment</a:t>
            </a:r>
            <a:endParaRPr sz="850"/>
          </a:p>
        </p:txBody>
      </p:sp>
      <p:sp>
        <p:nvSpPr>
          <p:cNvPr id="5" name="Text 3">
            <a:extLst xmlns:a="http://schemas.openxmlformats.org/drawingml/2006/main">
              <a:ext uri="{FF2B5EF4-FFF2-40B4-BE49-F238E27FC236}">
                <a16:creationId xmlns:a16="http://schemas.microsoft.com/office/drawing/2014/main" id="{B929BAE7-F2AA-46C6-820B-7631BBBE1F55}"/>
              </a:ext>
            </a:extLst>
          </p:cNvPr>
          <p:cNvSpPr>
            <a:spLocks xmlns:a="http://schemas.openxmlformats.org/drawingml/2006/main" noGrp="1"/>
          </p:cNvSpPr>
          <p:nvPr/>
        </p:nvSpPr>
        <p:spPr>
          <a:xfrm xmlns:a="http://schemas.openxmlformats.org/drawingml/2006/main">
            <a:off x="9738360" y="6510528"/>
            <a:ext cx="2011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536A7B"/>
                </a:solidFill>
                <a:latin typeface="Aptos"/>
                <a:ea typeface="Aptos"/>
                <a:cs typeface="Aptos"/>
              </a:rPr>
              <a:t>Shahista Tamkeen</a:t>
            </a:r>
            <a:endParaRPr sz="850"/>
          </a:p>
        </p:txBody>
      </p:sp>
      <p:sp>
        <p:nvSpPr>
          <p:cNvPr id="6" name="Text 4">
            <a:extLst xmlns:a="http://schemas.openxmlformats.org/drawingml/2006/main">
              <a:ext uri="{FF2B5EF4-FFF2-40B4-BE49-F238E27FC236}">
                <a16:creationId xmlns:a16="http://schemas.microsoft.com/office/drawing/2014/main" id="{B1AB90B5-B267-4F5E-B848-5F9BB9E73307}"/>
              </a:ext>
            </a:extLst>
          </p:cNvPr>
          <p:cNvSpPr>
            <a:spLocks xmlns:a="http://schemas.openxmlformats.org/drawingml/2006/main" noGrp="1"/>
          </p:cNvSpPr>
          <p:nvPr/>
        </p:nvSpPr>
        <p:spPr>
          <a:xfrm xmlns:a="http://schemas.openxmlformats.org/drawingml/2006/main">
            <a:off x="502920" y="320040"/>
            <a:ext cx="8961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400" b="1">
                <a:solidFill>
                  <a:srgbClr val="102A43"/>
                </a:solidFill>
                <a:latin typeface="Aptos Display"/>
                <a:ea typeface="Aptos Display"/>
                <a:cs typeface="Aptos Display"/>
              </a:defRPr>
            </a:pPr>
            <a:r>
              <a:rPr sz="2400" b="1">
                <a:solidFill>
                  <a:srgbClr val="102A43"/>
                </a:solidFill>
                <a:latin typeface="Aptos Display"/>
                <a:ea typeface="Aptos Display"/>
                <a:cs typeface="Aptos Display"/>
              </a:rPr>
              <a:t>Workflow and technical architecture</a:t>
            </a:r>
            <a:endParaRPr sz="2400"/>
          </a:p>
        </p:txBody>
      </p:sp>
      <p:sp>
        <p:nvSpPr>
          <p:cNvPr id="7" name="Text 5">
            <a:extLst xmlns:a="http://schemas.openxmlformats.org/drawingml/2006/main">
              <a:ext uri="{FF2B5EF4-FFF2-40B4-BE49-F238E27FC236}">
                <a16:creationId xmlns:a16="http://schemas.microsoft.com/office/drawing/2014/main" id="{D7DC50F5-73D7-4E1C-BD65-DC41DA850D31}"/>
              </a:ext>
            </a:extLst>
          </p:cNvPr>
          <p:cNvSpPr>
            <a:spLocks xmlns:a="http://schemas.openxmlformats.org/drawingml/2006/main" noGrp="1"/>
          </p:cNvSpPr>
          <p:nvPr/>
        </p:nvSpPr>
        <p:spPr>
          <a:xfrm xmlns:a="http://schemas.openxmlformats.org/drawingml/2006/main">
            <a:off x="521208" y="786384"/>
            <a:ext cx="9326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536A7B"/>
                </a:solidFill>
                <a:latin typeface="Aptos"/>
                <a:ea typeface="Aptos"/>
                <a:cs typeface="Aptos"/>
              </a:defRPr>
            </a:pPr>
            <a:r>
              <a:rPr sz="1200" b="0">
                <a:solidFill>
                  <a:srgbClr val="536A7B"/>
                </a:solidFill>
                <a:latin typeface="Aptos"/>
                <a:ea typeface="Aptos"/>
                <a:cs typeface="Aptos"/>
              </a:rPr>
              <a:t>n8n runs the forms and workflow; the Python API owns retrieval, validation and storage.</a:t>
            </a:r>
            <a:endParaRPr sz="1050"/>
          </a:p>
        </p:txBody>
      </p:sp>
      <p:sp>
        <p:nvSpPr>
          <p:cNvPr id="8" name="Shape 6">
            <a:extLst xmlns:a="http://schemas.openxmlformats.org/drawingml/2006/main">
              <a:ext uri="{FF2B5EF4-FFF2-40B4-BE49-F238E27FC236}">
                <a16:creationId xmlns:a16="http://schemas.microsoft.com/office/drawing/2014/main" id="{C4B3E9D3-AADA-4E7A-B475-AA63472008CD}"/>
              </a:ext>
            </a:extLst>
          </p:cNvPr>
          <p:cNvSpPr>
            <a:spLocks xmlns:a="http://schemas.openxmlformats.org/drawingml/2006/main" noGrp="1"/>
          </p:cNvSpPr>
          <p:nvPr/>
        </p:nvSpPr>
        <p:spPr>
          <a:xfrm xmlns:a="http://schemas.openxmlformats.org/drawingml/2006/main">
            <a:off x="2121408" y="1920240"/>
            <a:ext cx="292608" cy="0"/>
          </a:xfrm>
          <a:prstGeom xmlns:a="http://schemas.openxmlformats.org/drawingml/2006/main" prst="line">
            <a:avLst/>
          </a:prstGeom>
          <a:noFill xmlns:a="http://schemas.openxmlformats.org/drawingml/2006/main"/>
          <a:ln xmlns:a="http://schemas.openxmlformats.org/drawingml/2006/main" w="17780">
            <a:solidFill>
              <a:srgbClr val="00897B"/>
            </a:solidFill>
            <a:prstDash val="solid"/>
            <a:headEnd type="none"/>
            <a:tailEnd type="triangle"/>
          </a:ln>
        </p:spPr>
      </p:sp>
      <p:sp>
        <p:nvSpPr>
          <p:cNvPr id="9" name="Shape 7">
            <a:extLst xmlns:a="http://schemas.openxmlformats.org/drawingml/2006/main">
              <a:ext uri="{FF2B5EF4-FFF2-40B4-BE49-F238E27FC236}">
                <a16:creationId xmlns:a16="http://schemas.microsoft.com/office/drawing/2014/main" id="{3EF4D54C-2E86-43F3-8CBA-035C54294BA8}"/>
              </a:ext>
            </a:extLst>
          </p:cNvPr>
          <p:cNvSpPr>
            <a:spLocks xmlns:a="http://schemas.openxmlformats.org/drawingml/2006/main" noGrp="1"/>
          </p:cNvSpPr>
          <p:nvPr/>
        </p:nvSpPr>
        <p:spPr>
          <a:xfrm xmlns:a="http://schemas.openxmlformats.org/drawingml/2006/main">
            <a:off x="4041648" y="1920240"/>
            <a:ext cx="292608" cy="0"/>
          </a:xfrm>
          <a:prstGeom xmlns:a="http://schemas.openxmlformats.org/drawingml/2006/main" prst="line">
            <a:avLst/>
          </a:prstGeom>
          <a:noFill xmlns:a="http://schemas.openxmlformats.org/drawingml/2006/main"/>
          <a:ln xmlns:a="http://schemas.openxmlformats.org/drawingml/2006/main" w="17780">
            <a:solidFill>
              <a:srgbClr val="00897B"/>
            </a:solidFill>
            <a:prstDash val="solid"/>
            <a:headEnd type="none"/>
            <a:tailEnd type="triangle"/>
          </a:ln>
        </p:spPr>
      </p:sp>
      <p:sp>
        <p:nvSpPr>
          <p:cNvPr id="10" name="Shape 8">
            <a:extLst xmlns:a="http://schemas.openxmlformats.org/drawingml/2006/main">
              <a:ext uri="{FF2B5EF4-FFF2-40B4-BE49-F238E27FC236}">
                <a16:creationId xmlns:a16="http://schemas.microsoft.com/office/drawing/2014/main" id="{DDA9DFD8-0CAA-4B7C-A5A8-07D121FA9190}"/>
              </a:ext>
            </a:extLst>
          </p:cNvPr>
          <p:cNvSpPr>
            <a:spLocks xmlns:a="http://schemas.openxmlformats.org/drawingml/2006/main" noGrp="1"/>
          </p:cNvSpPr>
          <p:nvPr/>
        </p:nvSpPr>
        <p:spPr>
          <a:xfrm xmlns:a="http://schemas.openxmlformats.org/drawingml/2006/main">
            <a:off x="5961888" y="1920240"/>
            <a:ext cx="292608" cy="0"/>
          </a:xfrm>
          <a:prstGeom xmlns:a="http://schemas.openxmlformats.org/drawingml/2006/main" prst="line">
            <a:avLst/>
          </a:prstGeom>
          <a:noFill xmlns:a="http://schemas.openxmlformats.org/drawingml/2006/main"/>
          <a:ln xmlns:a="http://schemas.openxmlformats.org/drawingml/2006/main" w="17780">
            <a:solidFill>
              <a:srgbClr val="00897B"/>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89F8B0D8-C955-4573-9B14-D291CFE2CE59}"/>
              </a:ext>
            </a:extLst>
          </p:cNvPr>
          <p:cNvSpPr>
            <a:spLocks xmlns:a="http://schemas.openxmlformats.org/drawingml/2006/main" noGrp="1"/>
          </p:cNvSpPr>
          <p:nvPr/>
        </p:nvSpPr>
        <p:spPr>
          <a:xfrm xmlns:a="http://schemas.openxmlformats.org/drawingml/2006/main">
            <a:off x="7882128" y="1920240"/>
            <a:ext cx="292608" cy="0"/>
          </a:xfrm>
          <a:prstGeom xmlns:a="http://schemas.openxmlformats.org/drawingml/2006/main" prst="line">
            <a:avLst/>
          </a:prstGeom>
          <a:noFill xmlns:a="http://schemas.openxmlformats.org/drawingml/2006/main"/>
          <a:ln xmlns:a="http://schemas.openxmlformats.org/drawingml/2006/main" w="17780">
            <a:solidFill>
              <a:srgbClr val="00897B"/>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554F395D-5BEF-42DE-BD22-6274C4F6F309}"/>
              </a:ext>
            </a:extLst>
          </p:cNvPr>
          <p:cNvSpPr>
            <a:spLocks xmlns:a="http://schemas.openxmlformats.org/drawingml/2006/main" noGrp="1"/>
          </p:cNvSpPr>
          <p:nvPr/>
        </p:nvSpPr>
        <p:spPr>
          <a:xfrm xmlns:a="http://schemas.openxmlformats.org/drawingml/2006/main">
            <a:off x="9802368" y="1920240"/>
            <a:ext cx="292608" cy="0"/>
          </a:xfrm>
          <a:prstGeom xmlns:a="http://schemas.openxmlformats.org/drawingml/2006/main" prst="line">
            <a:avLst/>
          </a:prstGeom>
          <a:noFill xmlns:a="http://schemas.openxmlformats.org/drawingml/2006/main"/>
          <a:ln xmlns:a="http://schemas.openxmlformats.org/drawingml/2006/main" w="17780">
            <a:solidFill>
              <a:srgbClr val="00897B"/>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807EC80E-6706-4958-A2D3-DAE08F4A3D5B}"/>
              </a:ext>
            </a:extLst>
          </p:cNvPr>
          <p:cNvSpPr>
            <a:spLocks xmlns:a="http://schemas.openxmlformats.org/drawingml/2006/main" noGrp="1"/>
          </p:cNvSpPr>
          <p:nvPr/>
        </p:nvSpPr>
        <p:spPr>
          <a:xfrm xmlns:a="http://schemas.openxmlformats.org/drawingml/2006/main">
            <a:off x="530352" y="1417320"/>
            <a:ext cx="1536192" cy="100584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8890">
            <a:solidFill>
              <a:srgbClr val="C9D7DE"/>
            </a:solidFill>
            <a:prstDash val="solid"/>
          </a:ln>
        </p:spPr>
      </p:sp>
      <p:sp>
        <p:nvSpPr>
          <p:cNvPr id="14" name="Text 12">
            <a:extLst xmlns:a="http://schemas.openxmlformats.org/drawingml/2006/main">
              <a:ext uri="{FF2B5EF4-FFF2-40B4-BE49-F238E27FC236}">
                <a16:creationId xmlns:a16="http://schemas.microsoft.com/office/drawing/2014/main" id="{1CDB0A21-44A0-4D63-9234-D7EBA576518B}"/>
              </a:ext>
            </a:extLst>
          </p:cNvPr>
          <p:cNvSpPr>
            <a:spLocks xmlns:a="http://schemas.openxmlformats.org/drawingml/2006/main" noGrp="1"/>
          </p:cNvSpPr>
          <p:nvPr/>
        </p:nvSpPr>
        <p:spPr>
          <a:xfrm xmlns:a="http://schemas.openxmlformats.org/drawingml/2006/main">
            <a:off x="658368" y="1527048"/>
            <a:ext cx="228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1</a:t>
            </a:r>
            <a:endParaRPr sz="1000"/>
          </a:p>
        </p:txBody>
      </p:sp>
      <p:sp>
        <p:nvSpPr>
          <p:cNvPr id="15" name="Text 13">
            <a:extLst xmlns:a="http://schemas.openxmlformats.org/drawingml/2006/main">
              <a:ext uri="{FF2B5EF4-FFF2-40B4-BE49-F238E27FC236}">
                <a16:creationId xmlns:a16="http://schemas.microsoft.com/office/drawing/2014/main" id="{82169692-6B32-4669-83AF-B5EBFA4B185C}"/>
              </a:ext>
            </a:extLst>
          </p:cNvPr>
          <p:cNvSpPr>
            <a:spLocks xmlns:a="http://schemas.openxmlformats.org/drawingml/2006/main" noGrp="1"/>
          </p:cNvSpPr>
          <p:nvPr/>
        </p:nvSpPr>
        <p:spPr>
          <a:xfrm xmlns:a="http://schemas.openxmlformats.org/drawingml/2006/main">
            <a:off x="932688" y="1508760"/>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60" b="1">
                <a:solidFill>
                  <a:srgbClr val="102A43"/>
                </a:solidFill>
              </a:rPr>
              <a:t>Request</a:t>
            </a:r>
            <a:endParaRPr sz="1060"/>
          </a:p>
        </p:txBody>
      </p:sp>
      <p:sp>
        <p:nvSpPr>
          <p:cNvPr id="16" name="Text 14">
            <a:extLst xmlns:a="http://schemas.openxmlformats.org/drawingml/2006/main">
              <a:ext uri="{FF2B5EF4-FFF2-40B4-BE49-F238E27FC236}">
                <a16:creationId xmlns:a16="http://schemas.microsoft.com/office/drawing/2014/main" id="{7B3E9F8C-48DD-4B1C-8A6E-E92E7CDC0E1C}"/>
              </a:ext>
            </a:extLst>
          </p:cNvPr>
          <p:cNvSpPr>
            <a:spLocks xmlns:a="http://schemas.openxmlformats.org/drawingml/2006/main" noGrp="1"/>
          </p:cNvSpPr>
          <p:nvPr/>
        </p:nvSpPr>
        <p:spPr>
          <a:xfrm xmlns:a="http://schemas.openxmlformats.org/drawingml/2006/main">
            <a:off x="658368" y="1801368"/>
            <a:ext cx="128016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Question and request ID</a:t>
            </a:r>
            <a:endParaRPr sz="840"/>
          </a:p>
        </p:txBody>
      </p:sp>
      <p:sp>
        <p:nvSpPr>
          <p:cNvPr id="17" name="Shape 15">
            <a:extLst xmlns:a="http://schemas.openxmlformats.org/drawingml/2006/main">
              <a:ext uri="{FF2B5EF4-FFF2-40B4-BE49-F238E27FC236}">
                <a16:creationId xmlns:a16="http://schemas.microsoft.com/office/drawing/2014/main" id="{19ADE597-6806-4E64-8C32-89A1C79E6C12}"/>
              </a:ext>
            </a:extLst>
          </p:cNvPr>
          <p:cNvSpPr>
            <a:spLocks xmlns:a="http://schemas.openxmlformats.org/drawingml/2006/main" noGrp="1"/>
          </p:cNvSpPr>
          <p:nvPr/>
        </p:nvSpPr>
        <p:spPr>
          <a:xfrm xmlns:a="http://schemas.openxmlformats.org/drawingml/2006/main">
            <a:off x="2450592" y="1417320"/>
            <a:ext cx="1536192" cy="100584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8890">
            <a:solidFill>
              <a:srgbClr val="C9D7DE"/>
            </a:solidFill>
            <a:prstDash val="solid"/>
          </a:ln>
        </p:spPr>
      </p:sp>
      <p:sp>
        <p:nvSpPr>
          <p:cNvPr id="18" name="Text 16">
            <a:extLst xmlns:a="http://schemas.openxmlformats.org/drawingml/2006/main">
              <a:ext uri="{FF2B5EF4-FFF2-40B4-BE49-F238E27FC236}">
                <a16:creationId xmlns:a16="http://schemas.microsoft.com/office/drawing/2014/main" id="{F1958082-E95A-4171-ABCE-6FF567E67AF8}"/>
              </a:ext>
            </a:extLst>
          </p:cNvPr>
          <p:cNvSpPr>
            <a:spLocks xmlns:a="http://schemas.openxmlformats.org/drawingml/2006/main" noGrp="1"/>
          </p:cNvSpPr>
          <p:nvPr/>
        </p:nvSpPr>
        <p:spPr>
          <a:xfrm xmlns:a="http://schemas.openxmlformats.org/drawingml/2006/main">
            <a:off x="2578608" y="1527048"/>
            <a:ext cx="228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2</a:t>
            </a:r>
            <a:endParaRPr sz="1000"/>
          </a:p>
        </p:txBody>
      </p:sp>
      <p:sp>
        <p:nvSpPr>
          <p:cNvPr id="19" name="Text 17">
            <a:extLst xmlns:a="http://schemas.openxmlformats.org/drawingml/2006/main">
              <a:ext uri="{FF2B5EF4-FFF2-40B4-BE49-F238E27FC236}">
                <a16:creationId xmlns:a16="http://schemas.microsoft.com/office/drawing/2014/main" id="{A0BFC312-F23B-48E6-8D7D-7FA58F961C8E}"/>
              </a:ext>
            </a:extLst>
          </p:cNvPr>
          <p:cNvSpPr>
            <a:spLocks xmlns:a="http://schemas.openxmlformats.org/drawingml/2006/main" noGrp="1"/>
          </p:cNvSpPr>
          <p:nvPr/>
        </p:nvSpPr>
        <p:spPr>
          <a:xfrm xmlns:a="http://schemas.openxmlformats.org/drawingml/2006/main">
            <a:off x="2852928" y="1508760"/>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60" b="1">
                <a:solidFill>
                  <a:srgbClr val="102A43"/>
                </a:solidFill>
              </a:rPr>
              <a:t>Retrieve</a:t>
            </a:r>
            <a:endParaRPr sz="1060"/>
          </a:p>
        </p:txBody>
      </p:sp>
      <p:sp>
        <p:nvSpPr>
          <p:cNvPr id="20" name="Text 18">
            <a:extLst xmlns:a="http://schemas.openxmlformats.org/drawingml/2006/main">
              <a:ext uri="{FF2B5EF4-FFF2-40B4-BE49-F238E27FC236}">
                <a16:creationId xmlns:a16="http://schemas.microsoft.com/office/drawing/2014/main" id="{B334B4C2-C21A-4380-ABFC-E2B29CDE144C}"/>
              </a:ext>
            </a:extLst>
          </p:cNvPr>
          <p:cNvSpPr>
            <a:spLocks xmlns:a="http://schemas.openxmlformats.org/drawingml/2006/main" noGrp="1"/>
          </p:cNvSpPr>
          <p:nvPr/>
        </p:nvSpPr>
        <p:spPr>
          <a:xfrm xmlns:a="http://schemas.openxmlformats.org/drawingml/2006/main">
            <a:off x="2578608" y="1801368"/>
            <a:ext cx="128016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BM25 retrieves up to 4 sections</a:t>
            </a:r>
            <a:endParaRPr sz="840"/>
          </a:p>
        </p:txBody>
      </p:sp>
      <p:sp>
        <p:nvSpPr>
          <p:cNvPr id="21" name="Shape 19">
            <a:extLst xmlns:a="http://schemas.openxmlformats.org/drawingml/2006/main">
              <a:ext uri="{FF2B5EF4-FFF2-40B4-BE49-F238E27FC236}">
                <a16:creationId xmlns:a16="http://schemas.microsoft.com/office/drawing/2014/main" id="{1D7FAB4E-83FE-4636-8B79-FE6945C991B2}"/>
              </a:ext>
            </a:extLst>
          </p:cNvPr>
          <p:cNvSpPr>
            <a:spLocks xmlns:a="http://schemas.openxmlformats.org/drawingml/2006/main" noGrp="1"/>
          </p:cNvSpPr>
          <p:nvPr/>
        </p:nvSpPr>
        <p:spPr>
          <a:xfrm xmlns:a="http://schemas.openxmlformats.org/drawingml/2006/main">
            <a:off x="4370832" y="1417320"/>
            <a:ext cx="1536192" cy="100584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8890">
            <a:solidFill>
              <a:srgbClr val="C9D7DE"/>
            </a:solidFill>
            <a:prstDash val="solid"/>
          </a:ln>
        </p:spPr>
      </p:sp>
      <p:sp>
        <p:nvSpPr>
          <p:cNvPr id="22" name="Text 20">
            <a:extLst xmlns:a="http://schemas.openxmlformats.org/drawingml/2006/main">
              <a:ext uri="{FF2B5EF4-FFF2-40B4-BE49-F238E27FC236}">
                <a16:creationId xmlns:a16="http://schemas.microsoft.com/office/drawing/2014/main" id="{F5E19337-52D6-415F-A8AF-AD5024EEA219}"/>
              </a:ext>
            </a:extLst>
          </p:cNvPr>
          <p:cNvSpPr>
            <a:spLocks xmlns:a="http://schemas.openxmlformats.org/drawingml/2006/main" noGrp="1"/>
          </p:cNvSpPr>
          <p:nvPr/>
        </p:nvSpPr>
        <p:spPr>
          <a:xfrm xmlns:a="http://schemas.openxmlformats.org/drawingml/2006/main">
            <a:off x="4498848" y="1527048"/>
            <a:ext cx="228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3</a:t>
            </a:r>
            <a:endParaRPr sz="1000"/>
          </a:p>
        </p:txBody>
      </p:sp>
      <p:sp>
        <p:nvSpPr>
          <p:cNvPr id="23" name="Text 21">
            <a:extLst xmlns:a="http://schemas.openxmlformats.org/drawingml/2006/main">
              <a:ext uri="{FF2B5EF4-FFF2-40B4-BE49-F238E27FC236}">
                <a16:creationId xmlns:a16="http://schemas.microsoft.com/office/drawing/2014/main" id="{2B91B016-104F-4A73-A1EE-9359AFCB6FA1}"/>
              </a:ext>
            </a:extLst>
          </p:cNvPr>
          <p:cNvSpPr>
            <a:spLocks xmlns:a="http://schemas.openxmlformats.org/drawingml/2006/main" noGrp="1"/>
          </p:cNvSpPr>
          <p:nvPr/>
        </p:nvSpPr>
        <p:spPr>
          <a:xfrm xmlns:a="http://schemas.openxmlformats.org/drawingml/2006/main">
            <a:off x="4773168" y="1508760"/>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60" b="1">
                <a:solidFill>
                  <a:srgbClr val="102A43"/>
                </a:solidFill>
              </a:rPr>
              <a:t>LLM decision</a:t>
            </a:r>
            <a:endParaRPr sz="1060"/>
          </a:p>
        </p:txBody>
      </p:sp>
      <p:sp>
        <p:nvSpPr>
          <p:cNvPr id="24" name="Text 22">
            <a:extLst xmlns:a="http://schemas.openxmlformats.org/drawingml/2006/main">
              <a:ext uri="{FF2B5EF4-FFF2-40B4-BE49-F238E27FC236}">
                <a16:creationId xmlns:a16="http://schemas.microsoft.com/office/drawing/2014/main" id="{840ABBD9-EC31-4871-AFCB-6795096473CD}"/>
              </a:ext>
            </a:extLst>
          </p:cNvPr>
          <p:cNvSpPr>
            <a:spLocks xmlns:a="http://schemas.openxmlformats.org/drawingml/2006/main" noGrp="1"/>
          </p:cNvSpPr>
          <p:nvPr/>
        </p:nvSpPr>
        <p:spPr>
          <a:xfrm xmlns:a="http://schemas.openxmlformats.org/drawingml/2006/main">
            <a:off x="4498848" y="1801368"/>
            <a:ext cx="128016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Select evidence IDs and a queue</a:t>
            </a:r>
            <a:endParaRPr sz="840"/>
          </a:p>
        </p:txBody>
      </p:sp>
      <p:sp>
        <p:nvSpPr>
          <p:cNvPr id="25" name="Shape 23">
            <a:extLst xmlns:a="http://schemas.openxmlformats.org/drawingml/2006/main">
              <a:ext uri="{FF2B5EF4-FFF2-40B4-BE49-F238E27FC236}">
                <a16:creationId xmlns:a16="http://schemas.microsoft.com/office/drawing/2014/main" id="{4798810B-33D0-4ED5-8475-D2E925E2A611}"/>
              </a:ext>
            </a:extLst>
          </p:cNvPr>
          <p:cNvSpPr>
            <a:spLocks xmlns:a="http://schemas.openxmlformats.org/drawingml/2006/main" noGrp="1"/>
          </p:cNvSpPr>
          <p:nvPr/>
        </p:nvSpPr>
        <p:spPr>
          <a:xfrm xmlns:a="http://schemas.openxmlformats.org/drawingml/2006/main">
            <a:off x="6291072" y="1417320"/>
            <a:ext cx="1536192" cy="100584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8890">
            <a:solidFill>
              <a:srgbClr val="C9D7DE"/>
            </a:solidFill>
            <a:prstDash val="solid"/>
          </a:ln>
        </p:spPr>
      </p:sp>
      <p:sp>
        <p:nvSpPr>
          <p:cNvPr id="26" name="Text 24">
            <a:extLst xmlns:a="http://schemas.openxmlformats.org/drawingml/2006/main">
              <a:ext uri="{FF2B5EF4-FFF2-40B4-BE49-F238E27FC236}">
                <a16:creationId xmlns:a16="http://schemas.microsoft.com/office/drawing/2014/main" id="{D22A4191-6CB9-44C1-8A14-EE2BB105B93E}"/>
              </a:ext>
            </a:extLst>
          </p:cNvPr>
          <p:cNvSpPr>
            <a:spLocks xmlns:a="http://schemas.openxmlformats.org/drawingml/2006/main" noGrp="1"/>
          </p:cNvSpPr>
          <p:nvPr/>
        </p:nvSpPr>
        <p:spPr>
          <a:xfrm xmlns:a="http://schemas.openxmlformats.org/drawingml/2006/main">
            <a:off x="6419088" y="1527048"/>
            <a:ext cx="228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4</a:t>
            </a:r>
            <a:endParaRPr sz="1000"/>
          </a:p>
        </p:txBody>
      </p:sp>
      <p:sp>
        <p:nvSpPr>
          <p:cNvPr id="27" name="Text 25">
            <a:extLst xmlns:a="http://schemas.openxmlformats.org/drawingml/2006/main">
              <a:ext uri="{FF2B5EF4-FFF2-40B4-BE49-F238E27FC236}">
                <a16:creationId xmlns:a16="http://schemas.microsoft.com/office/drawing/2014/main" id="{BA3CE119-CEC3-4413-B743-4DA6AAB1AF4C}"/>
              </a:ext>
            </a:extLst>
          </p:cNvPr>
          <p:cNvSpPr>
            <a:spLocks xmlns:a="http://schemas.openxmlformats.org/drawingml/2006/main" noGrp="1"/>
          </p:cNvSpPr>
          <p:nvPr/>
        </p:nvSpPr>
        <p:spPr>
          <a:xfrm xmlns:a="http://schemas.openxmlformats.org/drawingml/2006/main">
            <a:off x="6693408" y="1508760"/>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60" b="1">
                <a:solidFill>
                  <a:srgbClr val="102A43"/>
                </a:solidFill>
              </a:rPr>
              <a:t>Validate</a:t>
            </a:r>
            <a:endParaRPr sz="1060"/>
          </a:p>
        </p:txBody>
      </p:sp>
      <p:sp>
        <p:nvSpPr>
          <p:cNvPr id="28" name="Text 26">
            <a:extLst xmlns:a="http://schemas.openxmlformats.org/drawingml/2006/main">
              <a:ext uri="{FF2B5EF4-FFF2-40B4-BE49-F238E27FC236}">
                <a16:creationId xmlns:a16="http://schemas.microsoft.com/office/drawing/2014/main" id="{C05CA264-2938-4593-9FFF-E27C14A97EED}"/>
              </a:ext>
            </a:extLst>
          </p:cNvPr>
          <p:cNvSpPr>
            <a:spLocks xmlns:a="http://schemas.openxmlformats.org/drawingml/2006/main" noGrp="1"/>
          </p:cNvSpPr>
          <p:nvPr/>
        </p:nvSpPr>
        <p:spPr>
          <a:xfrm xmlns:a="http://schemas.openxmlformats.org/drawingml/2006/main">
            <a:off x="6419088" y="1801368"/>
            <a:ext cx="128016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Check IDs and queue metadata</a:t>
            </a:r>
            <a:endParaRPr sz="840"/>
          </a:p>
        </p:txBody>
      </p:sp>
      <p:sp>
        <p:nvSpPr>
          <p:cNvPr id="29" name="Shape 27">
            <a:extLst xmlns:a="http://schemas.openxmlformats.org/drawingml/2006/main">
              <a:ext uri="{FF2B5EF4-FFF2-40B4-BE49-F238E27FC236}">
                <a16:creationId xmlns:a16="http://schemas.microsoft.com/office/drawing/2014/main" id="{78DED617-01F4-46FE-BA49-FDA8BE27CD80}"/>
              </a:ext>
            </a:extLst>
          </p:cNvPr>
          <p:cNvSpPr>
            <a:spLocks xmlns:a="http://schemas.openxmlformats.org/drawingml/2006/main" noGrp="1"/>
          </p:cNvSpPr>
          <p:nvPr/>
        </p:nvSpPr>
        <p:spPr>
          <a:xfrm xmlns:a="http://schemas.openxmlformats.org/drawingml/2006/main">
            <a:off x="8211312" y="1417320"/>
            <a:ext cx="1536192" cy="100584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8890">
            <a:solidFill>
              <a:srgbClr val="C9D7DE"/>
            </a:solidFill>
            <a:prstDash val="solid"/>
          </a:ln>
        </p:spPr>
      </p:sp>
      <p:sp>
        <p:nvSpPr>
          <p:cNvPr id="30" name="Text 28">
            <a:extLst xmlns:a="http://schemas.openxmlformats.org/drawingml/2006/main">
              <a:ext uri="{FF2B5EF4-FFF2-40B4-BE49-F238E27FC236}">
                <a16:creationId xmlns:a16="http://schemas.microsoft.com/office/drawing/2014/main" id="{5D0FAB96-5D8B-49E0-B157-24F478658016}"/>
              </a:ext>
            </a:extLst>
          </p:cNvPr>
          <p:cNvSpPr>
            <a:spLocks xmlns:a="http://schemas.openxmlformats.org/drawingml/2006/main" noGrp="1"/>
          </p:cNvSpPr>
          <p:nvPr/>
        </p:nvSpPr>
        <p:spPr>
          <a:xfrm xmlns:a="http://schemas.openxmlformats.org/drawingml/2006/main">
            <a:off x="8339328" y="1527048"/>
            <a:ext cx="228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5</a:t>
            </a:r>
            <a:endParaRPr sz="1000"/>
          </a:p>
        </p:txBody>
      </p:sp>
      <p:sp>
        <p:nvSpPr>
          <p:cNvPr id="31" name="Text 29">
            <a:extLst xmlns:a="http://schemas.openxmlformats.org/drawingml/2006/main">
              <a:ext uri="{FF2B5EF4-FFF2-40B4-BE49-F238E27FC236}">
                <a16:creationId xmlns:a16="http://schemas.microsoft.com/office/drawing/2014/main" id="{B69196D0-59D8-4800-95B6-B62075FFCF99}"/>
              </a:ext>
            </a:extLst>
          </p:cNvPr>
          <p:cNvSpPr>
            <a:spLocks xmlns:a="http://schemas.openxmlformats.org/drawingml/2006/main" noGrp="1"/>
          </p:cNvSpPr>
          <p:nvPr/>
        </p:nvSpPr>
        <p:spPr>
          <a:xfrm xmlns:a="http://schemas.openxmlformats.org/drawingml/2006/main">
            <a:off x="8613648" y="1508760"/>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60" b="1">
                <a:solidFill>
                  <a:srgbClr val="102A43"/>
                </a:solidFill>
              </a:rPr>
              <a:t>Human review</a:t>
            </a:r>
            <a:endParaRPr sz="1060"/>
          </a:p>
        </p:txBody>
      </p:sp>
      <p:sp>
        <p:nvSpPr>
          <p:cNvPr id="32" name="Text 30">
            <a:extLst xmlns:a="http://schemas.openxmlformats.org/drawingml/2006/main">
              <a:ext uri="{FF2B5EF4-FFF2-40B4-BE49-F238E27FC236}">
                <a16:creationId xmlns:a16="http://schemas.microsoft.com/office/drawing/2014/main" id="{2345411F-622F-4F68-BBBA-AC97A4C97AC5}"/>
              </a:ext>
            </a:extLst>
          </p:cNvPr>
          <p:cNvSpPr>
            <a:spLocks xmlns:a="http://schemas.openxmlformats.org/drawingml/2006/main" noGrp="1"/>
          </p:cNvSpPr>
          <p:nvPr/>
        </p:nvSpPr>
        <p:spPr>
          <a:xfrm xmlns:a="http://schemas.openxmlformats.org/drawingml/2006/main">
            <a:off x="8339328" y="1801368"/>
            <a:ext cx="128016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Check relevance; approve or reject</a:t>
            </a:r>
            <a:endParaRPr sz="840"/>
          </a:p>
        </p:txBody>
      </p:sp>
      <p:sp>
        <p:nvSpPr>
          <p:cNvPr id="33" name="Shape 31">
            <a:extLst xmlns:a="http://schemas.openxmlformats.org/drawingml/2006/main">
              <a:ext uri="{FF2B5EF4-FFF2-40B4-BE49-F238E27FC236}">
                <a16:creationId xmlns:a16="http://schemas.microsoft.com/office/drawing/2014/main" id="{F868324A-A41F-4830-A42F-797DAED73732}"/>
              </a:ext>
            </a:extLst>
          </p:cNvPr>
          <p:cNvSpPr>
            <a:spLocks xmlns:a="http://schemas.openxmlformats.org/drawingml/2006/main" noGrp="1"/>
          </p:cNvSpPr>
          <p:nvPr/>
        </p:nvSpPr>
        <p:spPr>
          <a:xfrm xmlns:a="http://schemas.openxmlformats.org/drawingml/2006/main">
            <a:off x="10131552" y="1417320"/>
            <a:ext cx="1536192" cy="100584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8890">
            <a:solidFill>
              <a:srgbClr val="C9D7DE"/>
            </a:solidFill>
            <a:prstDash val="solid"/>
          </a:ln>
        </p:spPr>
      </p:sp>
      <p:sp>
        <p:nvSpPr>
          <p:cNvPr id="34" name="Text 32">
            <a:extLst xmlns:a="http://schemas.openxmlformats.org/drawingml/2006/main">
              <a:ext uri="{FF2B5EF4-FFF2-40B4-BE49-F238E27FC236}">
                <a16:creationId xmlns:a16="http://schemas.microsoft.com/office/drawing/2014/main" id="{6ED3E55D-4663-4A3C-AAF5-4935C07920C0}"/>
              </a:ext>
            </a:extLst>
          </p:cNvPr>
          <p:cNvSpPr>
            <a:spLocks xmlns:a="http://schemas.openxmlformats.org/drawingml/2006/main" noGrp="1"/>
          </p:cNvSpPr>
          <p:nvPr/>
        </p:nvSpPr>
        <p:spPr>
          <a:xfrm xmlns:a="http://schemas.openxmlformats.org/drawingml/2006/main">
            <a:off x="10259568" y="1527048"/>
            <a:ext cx="228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06A63"/>
                </a:solidFill>
              </a:rPr>
              <a:t>6</a:t>
            </a:r>
            <a:endParaRPr sz="1000"/>
          </a:p>
        </p:txBody>
      </p:sp>
      <p:sp>
        <p:nvSpPr>
          <p:cNvPr id="35" name="Text 33">
            <a:extLst xmlns:a="http://schemas.openxmlformats.org/drawingml/2006/main">
              <a:ext uri="{FF2B5EF4-FFF2-40B4-BE49-F238E27FC236}">
                <a16:creationId xmlns:a16="http://schemas.microsoft.com/office/drawing/2014/main" id="{BC153240-0AB7-4A3D-AE95-FAEC416F8E58}"/>
              </a:ext>
            </a:extLst>
          </p:cNvPr>
          <p:cNvSpPr>
            <a:spLocks xmlns:a="http://schemas.openxmlformats.org/drawingml/2006/main" noGrp="1"/>
          </p:cNvSpPr>
          <p:nvPr/>
        </p:nvSpPr>
        <p:spPr>
          <a:xfrm xmlns:a="http://schemas.openxmlformats.org/drawingml/2006/main">
            <a:off x="10533888" y="1508760"/>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60" b="1">
                <a:solidFill>
                  <a:srgbClr val="102A43"/>
                </a:solidFill>
              </a:rPr>
              <a:t>Create / close</a:t>
            </a:r>
            <a:endParaRPr sz="1060"/>
          </a:p>
        </p:txBody>
      </p:sp>
      <p:sp>
        <p:nvSpPr>
          <p:cNvPr id="36" name="Text 34">
            <a:extLst xmlns:a="http://schemas.openxmlformats.org/drawingml/2006/main">
              <a:ext uri="{FF2B5EF4-FFF2-40B4-BE49-F238E27FC236}">
                <a16:creationId xmlns:a16="http://schemas.microsoft.com/office/drawing/2014/main" id="{307EF59E-3663-4139-A902-4193B3019D4C}"/>
              </a:ext>
            </a:extLst>
          </p:cNvPr>
          <p:cNvSpPr>
            <a:spLocks xmlns:a="http://schemas.openxmlformats.org/drawingml/2006/main" noGrp="1"/>
          </p:cNvSpPr>
          <p:nvPr/>
        </p:nvSpPr>
        <p:spPr>
          <a:xfrm xmlns:a="http://schemas.openxmlformats.org/drawingml/2006/main">
            <a:off x="10259568" y="1801368"/>
            <a:ext cx="128016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Check approval and stored proposal</a:t>
            </a:r>
            <a:endParaRPr sz="840"/>
          </a:p>
        </p:txBody>
      </p:sp>
      <p:sp>
        <p:nvSpPr>
          <p:cNvPr id="37" name="Shape 35">
            <a:extLst xmlns:a="http://schemas.openxmlformats.org/drawingml/2006/main">
              <a:ext uri="{FF2B5EF4-FFF2-40B4-BE49-F238E27FC236}">
                <a16:creationId xmlns:a16="http://schemas.microsoft.com/office/drawing/2014/main" id="{9E6E21D2-F616-4CF6-B3FE-5282F2F7790A}"/>
              </a:ext>
            </a:extLst>
          </p:cNvPr>
          <p:cNvSpPr>
            <a:spLocks xmlns:a="http://schemas.openxmlformats.org/drawingml/2006/main" noGrp="1"/>
          </p:cNvSpPr>
          <p:nvPr/>
        </p:nvSpPr>
        <p:spPr>
          <a:xfrm xmlns:a="http://schemas.openxmlformats.org/drawingml/2006/main">
            <a:off x="566928" y="2788920"/>
            <a:ext cx="6492240" cy="3291840"/>
          </a:xfrm>
          <a:prstGeom xmlns:a="http://schemas.openxmlformats.org/drawingml/2006/main" prst="roundRect">
            <a:avLst>
              <a:gd name="adj" fmla="val 1111"/>
            </a:avLst>
          </a:prstGeom>
          <a:solidFill xmlns:a="http://schemas.openxmlformats.org/drawingml/2006/main">
            <a:srgbClr val="FFFFFF"/>
          </a:solidFill>
          <a:ln xmlns:a="http://schemas.openxmlformats.org/drawingml/2006/main" w="8890">
            <a:solidFill>
              <a:srgbClr val="C9D7DE"/>
            </a:solidFill>
            <a:prstDash val="solid"/>
          </a:ln>
        </p:spPr>
      </p:sp>
      <p:pic>
        <p:nvPicPr>
          <p:cNvPr id="85" name="Image 0"/>
          <p:cNvPicPr>
            <a:picLocks xmlns:a="http://schemas.openxmlformats.org/drawingml/2006/main" noChangeAspect="1"/>
          </p:cNvPicPr>
          <p:nvPr/>
        </p:nvPicPr>
        <p:blipFill>
          <a:blip xmlns:r="http://schemas.openxmlformats.org/officeDocument/2006/relationships" xmlns:a="http://schemas.openxmlformats.org/drawingml/2006/main" r:embed="R22a17eb23ecc4a77"/>
          <a:stretch xmlns:a="http://schemas.openxmlformats.org/drawingml/2006/main"/>
        </p:blipFill>
        <p:spPr>
          <a:xfrm xmlns:a="http://schemas.openxmlformats.org/drawingml/2006/main">
            <a:off x="685800" y="3036417"/>
            <a:ext cx="6238875" cy="2804465"/>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88613FFD-9AF2-4839-9D58-005B39F37E55}"/>
              </a:ext>
            </a:extLst>
          </p:cNvPr>
          <p:cNvSpPr>
            <a:spLocks xmlns:a="http://schemas.openxmlformats.org/drawingml/2006/main" noGrp="1"/>
          </p:cNvSpPr>
          <p:nvPr/>
        </p:nvSpPr>
        <p:spPr>
          <a:xfrm xmlns:a="http://schemas.openxmlformats.org/drawingml/2006/main">
            <a:off x="594360" y="6162675"/>
            <a:ext cx="10953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536A7B"/>
                </a:solidFill>
                <a:latin typeface="Aptos"/>
                <a:ea typeface="Aptos"/>
                <a:cs typeface="Aptos"/>
              </a:defRPr>
            </a:pPr>
            <a:r>
              <a:rPr sz="1200" b="0">
                <a:solidFill>
                  <a:srgbClr val="536A7B"/>
                </a:solidFill>
                <a:latin typeface="Aptos"/>
                <a:ea typeface="Aptos"/>
                <a:cs typeface="Aptos"/>
              </a:rPr>
              <a:t>Sources: AI Use Policy • Vendor Intake Policy • Policy Review Procedure</a:t>
            </a:r>
            <a:endParaRPr sz="880"/>
          </a:p>
        </p:txBody>
      </p:sp>
      <p:sp>
        <p:nvSpPr>
          <p:cNvPr id="40" name="Shape 37">
            <a:extLst xmlns:a="http://schemas.openxmlformats.org/drawingml/2006/main">
              <a:ext uri="{FF2B5EF4-FFF2-40B4-BE49-F238E27FC236}">
                <a16:creationId xmlns:a16="http://schemas.microsoft.com/office/drawing/2014/main" id="{C962A38B-3749-41D6-A828-2A32E2EC6B53}"/>
              </a:ext>
            </a:extLst>
          </p:cNvPr>
          <p:cNvSpPr>
            <a:spLocks xmlns:a="http://schemas.openxmlformats.org/drawingml/2006/main" noGrp="1"/>
          </p:cNvSpPr>
          <p:nvPr/>
        </p:nvSpPr>
        <p:spPr>
          <a:xfrm xmlns:a="http://schemas.openxmlformats.org/drawingml/2006/main">
            <a:off x="7333488" y="2788920"/>
            <a:ext cx="0" cy="3154680"/>
          </a:xfrm>
          <a:prstGeom xmlns:a="http://schemas.openxmlformats.org/drawingml/2006/main" prst="line">
            <a:avLst/>
          </a:prstGeom>
          <a:noFill xmlns:a="http://schemas.openxmlformats.org/drawingml/2006/main"/>
          <a:ln xmlns:a="http://schemas.openxmlformats.org/drawingml/2006/main" w="12700">
            <a:solidFill>
              <a:srgbClr val="C9D7DE"/>
            </a:solidFill>
            <a:prstDash val="solid"/>
          </a:ln>
        </p:spPr>
      </p:sp>
      <p:sp>
        <p:nvSpPr>
          <p:cNvPr id="41" name="Text 38">
            <a:extLst xmlns:a="http://schemas.openxmlformats.org/drawingml/2006/main">
              <a:ext uri="{FF2B5EF4-FFF2-40B4-BE49-F238E27FC236}">
                <a16:creationId xmlns:a16="http://schemas.microsoft.com/office/drawing/2014/main" id="{09481045-4141-43D1-9302-3EA2FCC4B272}"/>
              </a:ext>
            </a:extLst>
          </p:cNvPr>
          <p:cNvSpPr>
            <a:spLocks xmlns:a="http://schemas.openxmlformats.org/drawingml/2006/main" noGrp="1"/>
          </p:cNvSpPr>
          <p:nvPr/>
        </p:nvSpPr>
        <p:spPr>
          <a:xfrm xmlns:a="http://schemas.openxmlformats.org/drawingml/2006/main">
            <a:off x="7635240" y="2816352"/>
            <a:ext cx="20116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06A63"/>
                </a:solidFill>
              </a:rPr>
              <a:t>Technical choices</a:t>
            </a:r>
            <a:endParaRPr sz="1100"/>
          </a:p>
        </p:txBody>
      </p:sp>
      <p:sp>
        <p:nvSpPr>
          <p:cNvPr id="42" name="Text 39">
            <a:extLst xmlns:a="http://schemas.openxmlformats.org/drawingml/2006/main">
              <a:ext uri="{FF2B5EF4-FFF2-40B4-BE49-F238E27FC236}">
                <a16:creationId xmlns:a16="http://schemas.microsoft.com/office/drawing/2014/main" id="{B2186B09-CE59-4E7F-BC86-AADCC20B607B}"/>
              </a:ext>
            </a:extLst>
          </p:cNvPr>
          <p:cNvSpPr>
            <a:spLocks xmlns:a="http://schemas.openxmlformats.org/drawingml/2006/main" noGrp="1"/>
          </p:cNvSpPr>
          <p:nvPr/>
        </p:nvSpPr>
        <p:spPr>
          <a:xfrm xmlns:a="http://schemas.openxmlformats.org/drawingml/2006/main">
            <a:off x="7635240" y="3218688"/>
            <a:ext cx="3931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0">
                <a:solidFill>
                  <a:srgbClr val="102A43"/>
                </a:solidFill>
                <a:latin typeface="Aptos"/>
                <a:ea typeface="Aptos"/>
                <a:cs typeface="Aptos"/>
              </a:defRPr>
            </a:pPr>
            <a:r>
              <a:rPr sz="1275" b="0">
                <a:solidFill>
                  <a:srgbClr val="102A43"/>
                </a:solidFill>
                <a:latin typeface="Aptos"/>
                <a:ea typeface="Aptos"/>
                <a:cs typeface="Aptos"/>
              </a:rPr>
              <a:t>• BM25: inspectable retrieval for this small policy corpus.</a:t>
            </a:r>
            <a:endParaRPr sz="1060"/>
          </a:p>
        </p:txBody>
      </p:sp>
      <p:sp>
        <p:nvSpPr>
          <p:cNvPr id="43" name="Text 40">
            <a:extLst xmlns:a="http://schemas.openxmlformats.org/drawingml/2006/main">
              <a:ext uri="{FF2B5EF4-FFF2-40B4-BE49-F238E27FC236}">
                <a16:creationId xmlns:a16="http://schemas.microsoft.com/office/drawing/2014/main" id="{A750EA7A-5941-4BA4-B728-02169FC3DFFB}"/>
              </a:ext>
            </a:extLst>
          </p:cNvPr>
          <p:cNvSpPr>
            <a:spLocks xmlns:a="http://schemas.openxmlformats.org/drawingml/2006/main" noGrp="1"/>
          </p:cNvSpPr>
          <p:nvPr/>
        </p:nvSpPr>
        <p:spPr>
          <a:xfrm xmlns:a="http://schemas.openxmlformats.org/drawingml/2006/main">
            <a:off x="7635240" y="3768852"/>
            <a:ext cx="3931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0">
                <a:solidFill>
                  <a:srgbClr val="102A43"/>
                </a:solidFill>
                <a:latin typeface="Aptos"/>
                <a:ea typeface="Aptos"/>
                <a:cs typeface="Aptos"/>
              </a:defRPr>
            </a:pPr>
            <a:r>
              <a:rPr sz="1275" b="0">
                <a:solidFill>
                  <a:srgbClr val="102A43"/>
                </a:solidFill>
                <a:latin typeface="Aptos"/>
                <a:ea typeface="Aptos"/>
                <a:cs typeface="Aptos"/>
              </a:rPr>
              <a:t>• OpenAI: selects evidence; the API shows original excerpts.</a:t>
            </a:r>
            <a:endParaRPr sz="1060"/>
          </a:p>
        </p:txBody>
      </p:sp>
      <p:sp>
        <p:nvSpPr>
          <p:cNvPr id="44" name="Text 41">
            <a:extLst xmlns:a="http://schemas.openxmlformats.org/drawingml/2006/main">
              <a:ext uri="{FF2B5EF4-FFF2-40B4-BE49-F238E27FC236}">
                <a16:creationId xmlns:a16="http://schemas.microsoft.com/office/drawing/2014/main" id="{17802571-847A-457A-ADFC-96C7FC7F6D1E}"/>
              </a:ext>
            </a:extLst>
          </p:cNvPr>
          <p:cNvSpPr>
            <a:spLocks xmlns:a="http://schemas.openxmlformats.org/drawingml/2006/main" noGrp="1"/>
          </p:cNvSpPr>
          <p:nvPr/>
        </p:nvSpPr>
        <p:spPr>
          <a:xfrm xmlns:a="http://schemas.openxmlformats.org/drawingml/2006/main">
            <a:off x="7635240" y="4319016"/>
            <a:ext cx="3931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0">
                <a:solidFill>
                  <a:srgbClr val="102A43"/>
                </a:solidFill>
                <a:latin typeface="Aptos"/>
                <a:ea typeface="Aptos"/>
                <a:cs typeface="Aptos"/>
              </a:defRPr>
            </a:pPr>
            <a:r>
              <a:rPr sz="1275" b="0">
                <a:solidFill>
                  <a:srgbClr val="102A43"/>
                </a:solidFill>
                <a:latin typeface="Aptos"/>
                <a:ea typeface="Aptos"/>
                <a:cs typeface="Aptos"/>
              </a:rPr>
              <a:t>• Python + SQLite: validation, cases and audit records.</a:t>
            </a:r>
            <a:endParaRPr sz="1060"/>
          </a:p>
        </p:txBody>
      </p:sp>
      <p:sp>
        <p:nvSpPr>
          <p:cNvPr id="45" name="Text 42">
            <a:extLst xmlns:a="http://schemas.openxmlformats.org/drawingml/2006/main">
              <a:ext uri="{FF2B5EF4-FFF2-40B4-BE49-F238E27FC236}">
                <a16:creationId xmlns:a16="http://schemas.microsoft.com/office/drawing/2014/main" id="{378C56BB-A8CB-4677-88E5-C9DD4F9797BC}"/>
              </a:ext>
            </a:extLst>
          </p:cNvPr>
          <p:cNvSpPr>
            <a:spLocks xmlns:a="http://schemas.openxmlformats.org/drawingml/2006/main" noGrp="1"/>
          </p:cNvSpPr>
          <p:nvPr/>
        </p:nvSpPr>
        <p:spPr>
          <a:xfrm xmlns:a="http://schemas.openxmlformats.org/drawingml/2006/main">
            <a:off x="7635240" y="4869180"/>
            <a:ext cx="3931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0">
                <a:solidFill>
                  <a:srgbClr val="102A43"/>
                </a:solidFill>
                <a:latin typeface="Aptos"/>
                <a:ea typeface="Aptos"/>
                <a:cs typeface="Aptos"/>
              </a:defRPr>
            </a:pPr>
            <a:r>
              <a:rPr sz="1275" b="0">
                <a:solidFill>
                  <a:srgbClr val="102A43"/>
                </a:solidFill>
                <a:latin typeface="Aptos"/>
                <a:ea typeface="Aptos"/>
                <a:cs typeface="Aptos"/>
              </a:rPr>
              <a:t>• Docker Compose: runs n8n and the API with persistent data.</a:t>
            </a:r>
            <a:endParaRPr sz="1060"/>
          </a:p>
        </p:txBody>
      </p:sp>
      <p:sp>
        <p:nvSpPr>
          <p:cNvPr id="46" name="Shape 43">
            <a:extLst xmlns:a="http://schemas.openxmlformats.org/drawingml/2006/main">
              <a:ext uri="{FF2B5EF4-FFF2-40B4-BE49-F238E27FC236}">
                <a16:creationId xmlns:a16="http://schemas.microsoft.com/office/drawing/2014/main" id="{00DB27B6-20B5-4251-819B-D71B98018834}"/>
              </a:ext>
            </a:extLst>
          </p:cNvPr>
          <p:cNvSpPr>
            <a:spLocks xmlns:a="http://schemas.openxmlformats.org/drawingml/2006/main" noGrp="1"/>
          </p:cNvSpPr>
          <p:nvPr/>
        </p:nvSpPr>
        <p:spPr>
          <a:xfrm xmlns:a="http://schemas.openxmlformats.org/drawingml/2006/main">
            <a:off x="7635240" y="5532120"/>
            <a:ext cx="3383280" cy="301752"/>
          </a:xfrm>
          <a:prstGeom xmlns:a="http://schemas.openxmlformats.org/drawingml/2006/main" prst="roundRect">
            <a:avLst>
              <a:gd name="adj" fmla="val 12121"/>
            </a:avLst>
          </a:prstGeom>
          <a:solidFill xmlns:a="http://schemas.openxmlformats.org/drawingml/2006/main">
            <a:srgbClr val="E2F4F1"/>
          </a:solidFill>
          <a:ln xmlns:a="http://schemas.openxmlformats.org/drawingml/2006/main" w="12700">
            <a:solidFill>
              <a:srgbClr val="E2F4F1"/>
            </a:solidFill>
            <a:prstDash val="solid"/>
          </a:ln>
        </p:spPr>
      </p:sp>
      <p:sp>
        <p:nvSpPr>
          <p:cNvPr id="47" name="Text 44">
            <a:extLst xmlns:a="http://schemas.openxmlformats.org/drawingml/2006/main">
              <a:ext uri="{FF2B5EF4-FFF2-40B4-BE49-F238E27FC236}">
                <a16:creationId xmlns:a16="http://schemas.microsoft.com/office/drawing/2014/main" id="{72062151-0FF3-4F97-B959-2D8CB3E93BFA}"/>
              </a:ext>
            </a:extLst>
          </p:cNvPr>
          <p:cNvSpPr>
            <a:spLocks xmlns:a="http://schemas.openxmlformats.org/drawingml/2006/main" noGrp="1"/>
          </p:cNvSpPr>
          <p:nvPr/>
        </p:nvSpPr>
        <p:spPr>
          <a:xfrm xmlns:a="http://schemas.openxmlformats.org/drawingml/2006/main">
            <a:off x="7708392" y="5570220"/>
            <a:ext cx="323697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006A63"/>
                </a:solidFill>
                <a:latin typeface="Aptos"/>
                <a:ea typeface="Aptos"/>
                <a:cs typeface="Aptos"/>
              </a:defRPr>
            </a:pPr>
            <a:r>
              <a:rPr sz="1050" b="1">
                <a:solidFill>
                  <a:srgbClr val="006A63"/>
                </a:solidFill>
                <a:latin typeface="Aptos"/>
                <a:ea typeface="Aptos"/>
                <a:cs typeface="Aptos"/>
              </a:rPr>
              <a:t>3 synthetic documents / 8 policy sections</a:t>
            </a:r>
            <a:endParaRPr sz="820"/>
          </a:p>
        </p:txBody>
      </p:sp>
    </p:spTree>
    <p:extLst>
      <p:ext uri="{BB962C8B-B14F-4D97-AF65-F5344CB8AC3E}">
        <p14:creationId xmlns:p14="http://schemas.microsoft.com/office/powerpoint/2010/main" val="969434837"/>
      </p:ext>
    </p:extLst>
  </p:cSld>
</p:sld>
</file>

<file path=ppt/slides/slide4.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360CFB8-CB3D-46E0-9F59-F652F50C430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B"/>
          </a:solidFill>
          <a:ln xmlns:a="http://schemas.openxmlformats.org/drawingml/2006/main" w="12700">
            <a:solidFill>
              <a:srgbClr val="F7FAFB">
                <a:alpha val="0"/>
              </a:srgbClr>
            </a:solidFill>
            <a:prstDash val="solid"/>
          </a:ln>
        </p:spPr>
      </p:sp>
      <p:sp>
        <p:nvSpPr>
          <p:cNvPr id="3" name="Shape 1">
            <a:extLst xmlns:a="http://schemas.openxmlformats.org/drawingml/2006/main">
              <a:ext uri="{FF2B5EF4-FFF2-40B4-BE49-F238E27FC236}">
                <a16:creationId xmlns:a16="http://schemas.microsoft.com/office/drawing/2014/main" id="{32BFCBDC-D56C-4127-89FD-1C6A4B8DA8E2}"/>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00897B"/>
          </a:solidFill>
          <a:ln xmlns:a="http://schemas.openxmlformats.org/drawingml/2006/main" w="12700">
            <a:solidFill>
              <a:srgbClr val="00897B"/>
            </a:solidFill>
            <a:prstDash val="solid"/>
          </a:ln>
        </p:spPr>
      </p:sp>
      <p:sp>
        <p:nvSpPr>
          <p:cNvPr id="4" name="Text 2">
            <a:extLst xmlns:a="http://schemas.openxmlformats.org/drawingml/2006/main">
              <a:ext uri="{FF2B5EF4-FFF2-40B4-BE49-F238E27FC236}">
                <a16:creationId xmlns:a16="http://schemas.microsoft.com/office/drawing/2014/main" id="{428AF266-7067-491A-8665-80930ACFDA8D}"/>
              </a:ext>
            </a:extLst>
          </p:cNvPr>
          <p:cNvSpPr>
            <a:spLocks xmlns:a="http://schemas.openxmlformats.org/drawingml/2006/main" noGrp="1"/>
          </p:cNvSpPr>
          <p:nvPr/>
        </p:nvSpPr>
        <p:spPr>
          <a:xfrm xmlns:a="http://schemas.openxmlformats.org/drawingml/2006/main">
            <a:off x="438912" y="6510528"/>
            <a:ext cx="5669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36A7B"/>
                </a:solidFill>
                <a:latin typeface="Aptos"/>
                <a:ea typeface="Aptos"/>
                <a:cs typeface="Aptos"/>
              </a:rPr>
              <a:t>Jeen AI Solution Engineer Home Assignment</a:t>
            </a:r>
            <a:endParaRPr sz="850"/>
          </a:p>
        </p:txBody>
      </p:sp>
      <p:sp>
        <p:nvSpPr>
          <p:cNvPr id="5" name="Text 3">
            <a:extLst xmlns:a="http://schemas.openxmlformats.org/drawingml/2006/main">
              <a:ext uri="{FF2B5EF4-FFF2-40B4-BE49-F238E27FC236}">
                <a16:creationId xmlns:a16="http://schemas.microsoft.com/office/drawing/2014/main" id="{3E0479D5-BD0D-44D4-9A0E-34FF081B0356}"/>
              </a:ext>
            </a:extLst>
          </p:cNvPr>
          <p:cNvSpPr>
            <a:spLocks xmlns:a="http://schemas.openxmlformats.org/drawingml/2006/main" noGrp="1"/>
          </p:cNvSpPr>
          <p:nvPr/>
        </p:nvSpPr>
        <p:spPr>
          <a:xfrm xmlns:a="http://schemas.openxmlformats.org/drawingml/2006/main">
            <a:off x="9738360" y="6510528"/>
            <a:ext cx="2011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536A7B"/>
                </a:solidFill>
                <a:latin typeface="Aptos"/>
                <a:ea typeface="Aptos"/>
                <a:cs typeface="Aptos"/>
              </a:rPr>
              <a:t>Shahista Tamkeen</a:t>
            </a:r>
            <a:endParaRPr sz="850"/>
          </a:p>
        </p:txBody>
      </p:sp>
      <p:sp>
        <p:nvSpPr>
          <p:cNvPr id="6" name="Text 4">
            <a:extLst xmlns:a="http://schemas.openxmlformats.org/drawingml/2006/main">
              <a:ext uri="{FF2B5EF4-FFF2-40B4-BE49-F238E27FC236}">
                <a16:creationId xmlns:a16="http://schemas.microsoft.com/office/drawing/2014/main" id="{AC0DA4AC-49BB-4AB8-BC81-A92AB15F9F55}"/>
              </a:ext>
            </a:extLst>
          </p:cNvPr>
          <p:cNvSpPr>
            <a:spLocks xmlns:a="http://schemas.openxmlformats.org/drawingml/2006/main" noGrp="1"/>
          </p:cNvSpPr>
          <p:nvPr/>
        </p:nvSpPr>
        <p:spPr>
          <a:xfrm xmlns:a="http://schemas.openxmlformats.org/drawingml/2006/main">
            <a:off x="502920" y="320040"/>
            <a:ext cx="8961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102A43"/>
                </a:solidFill>
                <a:latin typeface="Aptos Display"/>
                <a:ea typeface="Aptos Display"/>
                <a:cs typeface="Aptos Display"/>
              </a:rPr>
              <a:t>Evidence is visible before action is allowed</a:t>
            </a:r>
            <a:endParaRPr sz="2400"/>
          </a:p>
        </p:txBody>
      </p:sp>
      <p:sp>
        <p:nvSpPr>
          <p:cNvPr id="7" name="Text 5">
            <a:extLst xmlns:a="http://schemas.openxmlformats.org/drawingml/2006/main">
              <a:ext uri="{FF2B5EF4-FFF2-40B4-BE49-F238E27FC236}">
                <a16:creationId xmlns:a16="http://schemas.microsoft.com/office/drawing/2014/main" id="{AA10E91A-AF88-42BE-B6D1-845F2BA24250}"/>
              </a:ext>
            </a:extLst>
          </p:cNvPr>
          <p:cNvSpPr>
            <a:spLocks xmlns:a="http://schemas.openxmlformats.org/drawingml/2006/main" noGrp="1"/>
          </p:cNvSpPr>
          <p:nvPr/>
        </p:nvSpPr>
        <p:spPr>
          <a:xfrm xmlns:a="http://schemas.openxmlformats.org/drawingml/2006/main">
            <a:off x="521208" y="786384"/>
            <a:ext cx="9326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536A7B"/>
                </a:solidFill>
                <a:latin typeface="Aptos"/>
                <a:ea typeface="Aptos"/>
                <a:cs typeface="Aptos"/>
              </a:defRPr>
            </a:pPr>
            <a:r>
              <a:rPr sz="1200" b="0">
                <a:solidFill>
                  <a:srgbClr val="536A7B"/>
                </a:solidFill>
                <a:latin typeface="Aptos"/>
                <a:ea typeface="Aptos"/>
                <a:cs typeface="Aptos"/>
              </a:rPr>
              <a:t>The reviewer sees the source passage, the proposed queue and the action scope before deciding.</a:t>
            </a:r>
            <a:endParaRPr sz="1050"/>
          </a:p>
        </p:txBody>
      </p:sp>
      <p:sp>
        <p:nvSpPr>
          <p:cNvPr id="8" name="Shape 6">
            <a:extLst xmlns:a="http://schemas.openxmlformats.org/drawingml/2006/main">
              <a:ext uri="{FF2B5EF4-FFF2-40B4-BE49-F238E27FC236}">
                <a16:creationId xmlns:a16="http://schemas.microsoft.com/office/drawing/2014/main" id="{276D795F-C05B-468B-BF25-8627BBAF1F11}"/>
              </a:ext>
            </a:extLst>
          </p:cNvPr>
          <p:cNvSpPr>
            <a:spLocks xmlns:a="http://schemas.openxmlformats.org/drawingml/2006/main" noGrp="1"/>
          </p:cNvSpPr>
          <p:nvPr/>
        </p:nvSpPr>
        <p:spPr>
          <a:xfrm xmlns:a="http://schemas.openxmlformats.org/drawingml/2006/main">
            <a:off x="594360" y="1234440"/>
            <a:ext cx="4069080" cy="4983480"/>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8890">
            <a:solidFill>
              <a:srgbClr val="C9D7DE"/>
            </a:solidFill>
            <a:prstDash val="solid"/>
          </a:ln>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d32b0e228c754d8f"/>
          <a:stretch xmlns:a="http://schemas.openxmlformats.org/drawingml/2006/main"/>
        </p:blipFill>
        <p:spPr>
          <a:xfrm xmlns:a="http://schemas.openxmlformats.org/drawingml/2006/main">
            <a:off x="742950" y="1837899"/>
            <a:ext cx="3771900" cy="3582251"/>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6C44AE98-BF5F-4A8E-8B0A-DAD1B4DB0CB1}"/>
              </a:ext>
            </a:extLst>
          </p:cNvPr>
          <p:cNvSpPr>
            <a:spLocks xmlns:a="http://schemas.openxmlformats.org/drawingml/2006/main" noGrp="1"/>
          </p:cNvSpPr>
          <p:nvPr/>
        </p:nvSpPr>
        <p:spPr>
          <a:xfrm xmlns:a="http://schemas.openxmlformats.org/drawingml/2006/main">
            <a:off x="4983480" y="1234440"/>
            <a:ext cx="0" cy="4846320"/>
          </a:xfrm>
          <a:prstGeom xmlns:a="http://schemas.openxmlformats.org/drawingml/2006/main" prst="line">
            <a:avLst/>
          </a:prstGeom>
          <a:noFill xmlns:a="http://schemas.openxmlformats.org/drawingml/2006/main"/>
          <a:ln xmlns:a="http://schemas.openxmlformats.org/drawingml/2006/main" w="12700">
            <a:solidFill>
              <a:srgbClr val="C9D7DE"/>
            </a:solidFill>
            <a:prstDash val="solid"/>
          </a:ln>
        </p:spPr>
      </p:sp>
      <p:sp>
        <p:nvSpPr>
          <p:cNvPr id="11" name="Text 8">
            <a:extLst xmlns:a="http://schemas.openxmlformats.org/drawingml/2006/main">
              <a:ext uri="{FF2B5EF4-FFF2-40B4-BE49-F238E27FC236}">
                <a16:creationId xmlns:a16="http://schemas.microsoft.com/office/drawing/2014/main" id="{752297EB-2787-444A-8E10-9611CB386170}"/>
              </a:ext>
            </a:extLst>
          </p:cNvPr>
          <p:cNvSpPr>
            <a:spLocks xmlns:a="http://schemas.openxmlformats.org/drawingml/2006/main" noGrp="1"/>
          </p:cNvSpPr>
          <p:nvPr/>
        </p:nvSpPr>
        <p:spPr>
          <a:xfrm xmlns:a="http://schemas.openxmlformats.org/drawingml/2006/main">
            <a:off x="5321808" y="1243584"/>
            <a:ext cx="3108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1">
                <a:solidFill>
                  <a:srgbClr val="006A63"/>
                </a:solidFill>
                <a:latin typeface="Aptos"/>
                <a:ea typeface="Aptos"/>
                <a:cs typeface="Aptos"/>
              </a:defRPr>
            </a:pPr>
            <a:r>
              <a:rPr sz="1275" b="1">
                <a:solidFill>
                  <a:srgbClr val="006A63"/>
                </a:solidFill>
                <a:latin typeface="Aptos"/>
                <a:ea typeface="Aptos"/>
                <a:cs typeface="Aptos"/>
              </a:rPr>
              <a:t>What the reviewer sees</a:t>
            </a:r>
            <a:endParaRPr sz="1150"/>
          </a:p>
        </p:txBody>
      </p:sp>
      <p:sp>
        <p:nvSpPr>
          <p:cNvPr id="12" name="Text 9">
            <a:extLst xmlns:a="http://schemas.openxmlformats.org/drawingml/2006/main">
              <a:ext uri="{FF2B5EF4-FFF2-40B4-BE49-F238E27FC236}">
                <a16:creationId xmlns:a16="http://schemas.microsoft.com/office/drawing/2014/main" id="{C5C8E448-FF22-4815-A76B-BA26750DB6A2}"/>
              </a:ext>
            </a:extLst>
          </p:cNvPr>
          <p:cNvSpPr>
            <a:spLocks xmlns:a="http://schemas.openxmlformats.org/drawingml/2006/main" noGrp="1"/>
          </p:cNvSpPr>
          <p:nvPr/>
        </p:nvSpPr>
        <p:spPr>
          <a:xfrm xmlns:a="http://schemas.openxmlformats.org/drawingml/2006/main">
            <a:off x="5321808" y="1664208"/>
            <a:ext cx="5943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50" b="0">
                <a:solidFill>
                  <a:srgbClr val="102A43"/>
                </a:solidFill>
                <a:latin typeface="Aptos"/>
                <a:ea typeface="Aptos"/>
                <a:cs typeface="Aptos"/>
              </a:defRPr>
            </a:pPr>
            <a:r>
              <a:rPr sz="1350" b="0">
                <a:solidFill>
                  <a:srgbClr val="102A43"/>
                </a:solidFill>
                <a:latin typeface="Aptos"/>
                <a:ea typeface="Aptos"/>
                <a:cs typeface="Aptos"/>
              </a:rPr>
              <a:t>• AI-01, its policy title, section and original passage.</a:t>
            </a:r>
            <a:endParaRPr sz="1120"/>
          </a:p>
        </p:txBody>
      </p:sp>
      <p:sp>
        <p:nvSpPr>
          <p:cNvPr id="13" name="Text 10">
            <a:extLst xmlns:a="http://schemas.openxmlformats.org/drawingml/2006/main">
              <a:ext uri="{FF2B5EF4-FFF2-40B4-BE49-F238E27FC236}">
                <a16:creationId xmlns:a16="http://schemas.microsoft.com/office/drawing/2014/main" id="{159C19BE-41B3-4512-A71F-0D32FAD5EFF8}"/>
              </a:ext>
            </a:extLst>
          </p:cNvPr>
          <p:cNvSpPr>
            <a:spLocks xmlns:a="http://schemas.openxmlformats.org/drawingml/2006/main" noGrp="1"/>
          </p:cNvSpPr>
          <p:nvPr/>
        </p:nvSpPr>
        <p:spPr>
          <a:xfrm xmlns:a="http://schemas.openxmlformats.org/drawingml/2006/main">
            <a:off x="5321808" y="2141220"/>
            <a:ext cx="5943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50" b="0">
                <a:solidFill>
                  <a:srgbClr val="102A43"/>
                </a:solidFill>
                <a:latin typeface="Aptos"/>
                <a:ea typeface="Aptos"/>
                <a:cs typeface="Aptos"/>
              </a:defRPr>
            </a:pPr>
            <a:r>
              <a:rPr sz="1350" b="0">
                <a:solidFill>
                  <a:srgbClr val="102A43"/>
                </a:solidFill>
                <a:latin typeface="Aptos"/>
                <a:ea typeface="Aptos"/>
                <a:cs typeface="Aptos"/>
              </a:rPr>
              <a:t>• Customer data must not go into a public AI chatbot.</a:t>
            </a:r>
            <a:endParaRPr sz="1120"/>
          </a:p>
        </p:txBody>
      </p:sp>
      <p:sp>
        <p:nvSpPr>
          <p:cNvPr id="14" name="Text 11">
            <a:extLst xmlns:a="http://schemas.openxmlformats.org/drawingml/2006/main">
              <a:ext uri="{FF2B5EF4-FFF2-40B4-BE49-F238E27FC236}">
                <a16:creationId xmlns:a16="http://schemas.microsoft.com/office/drawing/2014/main" id="{AA940B65-ADAB-4A69-A0EF-691B349FDECD}"/>
              </a:ext>
            </a:extLst>
          </p:cNvPr>
          <p:cNvSpPr>
            <a:spLocks xmlns:a="http://schemas.openxmlformats.org/drawingml/2006/main" noGrp="1"/>
          </p:cNvSpPr>
          <p:nvPr/>
        </p:nvSpPr>
        <p:spPr>
          <a:xfrm xmlns:a="http://schemas.openxmlformats.org/drawingml/2006/main">
            <a:off x="5321808" y="2618232"/>
            <a:ext cx="5943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50" b="0">
                <a:solidFill>
                  <a:srgbClr val="102A43"/>
                </a:solidFill>
                <a:latin typeface="Aptos"/>
                <a:ea typeface="Aptos"/>
                <a:cs typeface="Aptos"/>
              </a:defRPr>
            </a:pPr>
            <a:r>
              <a:rPr sz="1350" b="0">
                <a:solidFill>
                  <a:srgbClr val="102A43"/>
                </a:solidFill>
                <a:latin typeface="Aptos"/>
                <a:ea typeface="Aptos"/>
                <a:cs typeface="Aptos"/>
              </a:rPr>
              <a:t>• SecurityReview is the queue named in the policy.</a:t>
            </a:r>
            <a:endParaRPr sz="1120"/>
          </a:p>
        </p:txBody>
      </p:sp>
      <p:sp>
        <p:nvSpPr>
          <p:cNvPr id="15" name="Text 12">
            <a:extLst xmlns:a="http://schemas.openxmlformats.org/drawingml/2006/main">
              <a:ext uri="{FF2B5EF4-FFF2-40B4-BE49-F238E27FC236}">
                <a16:creationId xmlns:a16="http://schemas.microsoft.com/office/drawing/2014/main" id="{F5038BD7-C277-4F0B-89FB-C67DB5925A05}"/>
              </a:ext>
            </a:extLst>
          </p:cNvPr>
          <p:cNvSpPr>
            <a:spLocks xmlns:a="http://schemas.openxmlformats.org/drawingml/2006/main" noGrp="1"/>
          </p:cNvSpPr>
          <p:nvPr/>
        </p:nvSpPr>
        <p:spPr>
          <a:xfrm xmlns:a="http://schemas.openxmlformats.org/drawingml/2006/main">
            <a:off x="5321808" y="3095244"/>
            <a:ext cx="5943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350" b="0">
                <a:solidFill>
                  <a:srgbClr val="102A43"/>
                </a:solidFill>
                <a:latin typeface="Aptos"/>
                <a:ea typeface="Aptos"/>
                <a:cs typeface="Aptos"/>
              </a:defRPr>
            </a:pPr>
            <a:r>
              <a:rPr sz="1350" b="0">
                <a:solidFill>
                  <a:srgbClr val="102A43"/>
                </a:solidFill>
                <a:latin typeface="Aptos"/>
                <a:ea typeface="Aptos"/>
                <a:cs typeface="Aptos"/>
              </a:rPr>
              <a:t>• A review case does not grant a policy exception.</a:t>
            </a:r>
            <a:endParaRPr sz="1120"/>
          </a:p>
        </p:txBody>
      </p:sp>
      <p:sp>
        <p:nvSpPr>
          <p:cNvPr id="16" name="Shape 13">
            <a:extLst xmlns:a="http://schemas.openxmlformats.org/drawingml/2006/main">
              <a:ext uri="{FF2B5EF4-FFF2-40B4-BE49-F238E27FC236}">
                <a16:creationId xmlns:a16="http://schemas.microsoft.com/office/drawing/2014/main" id="{2CEC1656-F48C-4920-AB01-6F243D5BC3B4}"/>
              </a:ext>
            </a:extLst>
          </p:cNvPr>
          <p:cNvSpPr>
            <a:spLocks xmlns:a="http://schemas.openxmlformats.org/drawingml/2006/main" noGrp="1"/>
          </p:cNvSpPr>
          <p:nvPr/>
        </p:nvSpPr>
        <p:spPr>
          <a:xfrm xmlns:a="http://schemas.openxmlformats.org/drawingml/2006/main">
            <a:off x="5321808" y="3584448"/>
            <a:ext cx="5989320" cy="0"/>
          </a:xfrm>
          <a:prstGeom xmlns:a="http://schemas.openxmlformats.org/drawingml/2006/main" prst="line">
            <a:avLst/>
          </a:prstGeom>
          <a:noFill xmlns:a="http://schemas.openxmlformats.org/drawingml/2006/main"/>
          <a:ln xmlns:a="http://schemas.openxmlformats.org/drawingml/2006/main" w="9525">
            <a:solidFill>
              <a:srgbClr val="C9D7DE"/>
            </a:solidFill>
            <a:prstDash val="solid"/>
          </a:ln>
        </p:spPr>
      </p:sp>
      <p:sp>
        <p:nvSpPr>
          <p:cNvPr id="17" name="Text 14">
            <a:extLst xmlns:a="http://schemas.openxmlformats.org/drawingml/2006/main">
              <a:ext uri="{FF2B5EF4-FFF2-40B4-BE49-F238E27FC236}">
                <a16:creationId xmlns:a16="http://schemas.microsoft.com/office/drawing/2014/main" id="{CA971F26-04CF-4359-B059-4CF484BC9641}"/>
              </a:ext>
            </a:extLst>
          </p:cNvPr>
          <p:cNvSpPr>
            <a:spLocks xmlns:a="http://schemas.openxmlformats.org/drawingml/2006/main" noGrp="1"/>
          </p:cNvSpPr>
          <p:nvPr/>
        </p:nvSpPr>
        <p:spPr>
          <a:xfrm xmlns:a="http://schemas.openxmlformats.org/drawingml/2006/main">
            <a:off x="5321808" y="3840480"/>
            <a:ext cx="33337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1">
                <a:solidFill>
                  <a:srgbClr val="006A63"/>
                </a:solidFill>
                <a:latin typeface="Aptos"/>
                <a:ea typeface="Aptos"/>
                <a:cs typeface="Aptos"/>
              </a:defRPr>
            </a:pPr>
            <a:r>
              <a:rPr sz="1275" b="1">
                <a:solidFill>
                  <a:srgbClr val="006A63"/>
                </a:solidFill>
                <a:latin typeface="Aptos"/>
                <a:ea typeface="Aptos"/>
                <a:cs typeface="Aptos"/>
              </a:rPr>
              <a:t>Before a case is created</a:t>
            </a:r>
            <a:endParaRPr sz="1150"/>
          </a:p>
        </p:txBody>
      </p:sp>
      <p:sp>
        <p:nvSpPr>
          <p:cNvPr id="18" name="Text 15">
            <a:extLst xmlns:a="http://schemas.openxmlformats.org/drawingml/2006/main">
              <a:ext uri="{FF2B5EF4-FFF2-40B4-BE49-F238E27FC236}">
                <a16:creationId xmlns:a16="http://schemas.microsoft.com/office/drawing/2014/main" id="{9D68DCF6-DD51-4FAA-B7DD-0ECBB6AB70B4}"/>
              </a:ext>
            </a:extLst>
          </p:cNvPr>
          <p:cNvSpPr>
            <a:spLocks xmlns:a="http://schemas.openxmlformats.org/drawingml/2006/main" noGrp="1"/>
          </p:cNvSpPr>
          <p:nvPr/>
        </p:nvSpPr>
        <p:spPr>
          <a:xfrm xmlns:a="http://schemas.openxmlformats.org/drawingml/2006/main">
            <a:off x="5321808" y="4191000"/>
            <a:ext cx="5943600" cy="98107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425" b="0">
                <a:solidFill>
                  <a:srgbClr val="102A43"/>
                </a:solidFill>
                <a:latin typeface="Aptos"/>
                <a:ea typeface="Aptos"/>
                <a:cs typeface="Aptos"/>
              </a:defRPr>
            </a:pPr>
            <a:r>
              <a:rPr sz="1425" b="0">
                <a:solidFill>
                  <a:srgbClr val="102A43"/>
                </a:solidFill>
                <a:latin typeface="Aptos"/>
                <a:ea typeface="Aptos"/>
                <a:cs typeface="Aptos"/>
              </a:rPr>
              <a:t>The reviewer checks relevance. The API checks stored support status, explicit approval, proposal expiry, source hashes and replay state.</a:t>
            </a:r>
            <a:endParaRPr sz="1300"/>
          </a:p>
        </p:txBody>
      </p:sp>
      <p:sp>
        <p:nvSpPr>
          <p:cNvPr id="19" name="Shape 16">
            <a:extLst xmlns:a="http://schemas.openxmlformats.org/drawingml/2006/main">
              <a:ext uri="{FF2B5EF4-FFF2-40B4-BE49-F238E27FC236}">
                <a16:creationId xmlns:a16="http://schemas.microsoft.com/office/drawing/2014/main" id="{524A897F-37F9-4695-AED8-352D0FBD2955}"/>
              </a:ext>
            </a:extLst>
          </p:cNvPr>
          <p:cNvSpPr>
            <a:spLocks xmlns:a="http://schemas.openxmlformats.org/drawingml/2006/main" noGrp="1"/>
          </p:cNvSpPr>
          <p:nvPr/>
        </p:nvSpPr>
        <p:spPr>
          <a:xfrm xmlns:a="http://schemas.openxmlformats.org/drawingml/2006/main">
            <a:off x="5321808" y="5349240"/>
            <a:ext cx="1143000" cy="301752"/>
          </a:xfrm>
          <a:prstGeom xmlns:a="http://schemas.openxmlformats.org/drawingml/2006/main" prst="roundRect">
            <a:avLst>
              <a:gd name="adj" fmla="val 12121"/>
            </a:avLst>
          </a:prstGeom>
          <a:solidFill xmlns:a="http://schemas.openxmlformats.org/drawingml/2006/main">
            <a:srgbClr val="EDF4FF"/>
          </a:solidFill>
          <a:ln xmlns:a="http://schemas.openxmlformats.org/drawingml/2006/main" w="12700">
            <a:solidFill>
              <a:srgbClr val="EDF4FF"/>
            </a:solidFill>
            <a:prstDash val="solid"/>
          </a:ln>
        </p:spPr>
      </p:sp>
      <p:sp>
        <p:nvSpPr>
          <p:cNvPr id="20" name="Text 17">
            <a:extLst xmlns:a="http://schemas.openxmlformats.org/drawingml/2006/main">
              <a:ext uri="{FF2B5EF4-FFF2-40B4-BE49-F238E27FC236}">
                <a16:creationId xmlns:a16="http://schemas.microsoft.com/office/drawing/2014/main" id="{3EB8BC1A-694C-433D-9BE9-695C714B13A9}"/>
              </a:ext>
            </a:extLst>
          </p:cNvPr>
          <p:cNvSpPr>
            <a:spLocks xmlns:a="http://schemas.openxmlformats.org/drawingml/2006/main" noGrp="1"/>
          </p:cNvSpPr>
          <p:nvPr/>
        </p:nvSpPr>
        <p:spPr>
          <a:xfrm xmlns:a="http://schemas.openxmlformats.org/drawingml/2006/main">
            <a:off x="5394960" y="5413248"/>
            <a:ext cx="99669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102A43"/>
                </a:solidFill>
              </a:rPr>
              <a:t>Evidence first</a:t>
            </a:r>
            <a:endParaRPr sz="820"/>
          </a:p>
        </p:txBody>
      </p:sp>
      <p:sp>
        <p:nvSpPr>
          <p:cNvPr id="21" name="Shape 18">
            <a:extLst xmlns:a="http://schemas.openxmlformats.org/drawingml/2006/main">
              <a:ext uri="{FF2B5EF4-FFF2-40B4-BE49-F238E27FC236}">
                <a16:creationId xmlns:a16="http://schemas.microsoft.com/office/drawing/2014/main" id="{29DF58B0-C7B7-4E12-B0CE-2AF9C4412084}"/>
              </a:ext>
            </a:extLst>
          </p:cNvPr>
          <p:cNvSpPr>
            <a:spLocks xmlns:a="http://schemas.openxmlformats.org/drawingml/2006/main" noGrp="1"/>
          </p:cNvSpPr>
          <p:nvPr/>
        </p:nvSpPr>
        <p:spPr>
          <a:xfrm xmlns:a="http://schemas.openxmlformats.org/drawingml/2006/main">
            <a:off x="6693408" y="5349240"/>
            <a:ext cx="1417320" cy="301752"/>
          </a:xfrm>
          <a:prstGeom xmlns:a="http://schemas.openxmlformats.org/drawingml/2006/main" prst="roundRect">
            <a:avLst>
              <a:gd name="adj" fmla="val 12121"/>
            </a:avLst>
          </a:prstGeom>
          <a:solidFill xmlns:a="http://schemas.openxmlformats.org/drawingml/2006/main">
            <a:srgbClr val="E2F4F1"/>
          </a:solidFill>
          <a:ln xmlns:a="http://schemas.openxmlformats.org/drawingml/2006/main" w="12700">
            <a:solidFill>
              <a:srgbClr val="E2F4F1"/>
            </a:solidFill>
            <a:prstDash val="solid"/>
          </a:ln>
        </p:spPr>
      </p:sp>
      <p:sp>
        <p:nvSpPr>
          <p:cNvPr id="22" name="Text 19">
            <a:extLst xmlns:a="http://schemas.openxmlformats.org/drawingml/2006/main">
              <a:ext uri="{FF2B5EF4-FFF2-40B4-BE49-F238E27FC236}">
                <a16:creationId xmlns:a16="http://schemas.microsoft.com/office/drawing/2014/main" id="{277F472A-F3F2-4B7C-B682-AE56EA3843CB}"/>
              </a:ext>
            </a:extLst>
          </p:cNvPr>
          <p:cNvSpPr>
            <a:spLocks xmlns:a="http://schemas.openxmlformats.org/drawingml/2006/main" noGrp="1"/>
          </p:cNvSpPr>
          <p:nvPr/>
        </p:nvSpPr>
        <p:spPr>
          <a:xfrm xmlns:a="http://schemas.openxmlformats.org/drawingml/2006/main">
            <a:off x="6766560" y="5413248"/>
            <a:ext cx="127101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006A63"/>
                </a:solidFill>
              </a:rPr>
              <a:t>Human approval</a:t>
            </a:r>
            <a:endParaRPr sz="820"/>
          </a:p>
        </p:txBody>
      </p:sp>
      <p:sp>
        <p:nvSpPr>
          <p:cNvPr id="23" name="Shape 20">
            <a:extLst xmlns:a="http://schemas.openxmlformats.org/drawingml/2006/main">
              <a:ext uri="{FF2B5EF4-FFF2-40B4-BE49-F238E27FC236}">
                <a16:creationId xmlns:a16="http://schemas.microsoft.com/office/drawing/2014/main" id="{1CF79C2F-B5AD-4242-8290-107667B88FA7}"/>
              </a:ext>
            </a:extLst>
          </p:cNvPr>
          <p:cNvSpPr>
            <a:spLocks xmlns:a="http://schemas.openxmlformats.org/drawingml/2006/main" noGrp="1"/>
          </p:cNvSpPr>
          <p:nvPr/>
        </p:nvSpPr>
        <p:spPr>
          <a:xfrm xmlns:a="http://schemas.openxmlformats.org/drawingml/2006/main">
            <a:off x="8339328" y="5349240"/>
            <a:ext cx="1417320" cy="301752"/>
          </a:xfrm>
          <a:prstGeom xmlns:a="http://schemas.openxmlformats.org/drawingml/2006/main" prst="roundRect">
            <a:avLst>
              <a:gd name="adj" fmla="val 12121"/>
            </a:avLst>
          </a:prstGeom>
          <a:solidFill xmlns:a="http://schemas.openxmlformats.org/drawingml/2006/main">
            <a:srgbClr val="FFF6D6"/>
          </a:solidFill>
          <a:ln xmlns:a="http://schemas.openxmlformats.org/drawingml/2006/main" w="12700">
            <a:solidFill>
              <a:srgbClr val="FFF6D6"/>
            </a:solidFill>
            <a:prstDash val="solid"/>
          </a:ln>
        </p:spPr>
      </p:sp>
      <p:sp>
        <p:nvSpPr>
          <p:cNvPr id="24" name="Text 21">
            <a:extLst xmlns:a="http://schemas.openxmlformats.org/drawingml/2006/main">
              <a:ext uri="{FF2B5EF4-FFF2-40B4-BE49-F238E27FC236}">
                <a16:creationId xmlns:a16="http://schemas.microsoft.com/office/drawing/2014/main" id="{069B7132-CDF5-4BF0-B3F7-AA88E1D4C32E}"/>
              </a:ext>
            </a:extLst>
          </p:cNvPr>
          <p:cNvSpPr>
            <a:spLocks xmlns:a="http://schemas.openxmlformats.org/drawingml/2006/main" noGrp="1"/>
          </p:cNvSpPr>
          <p:nvPr/>
        </p:nvSpPr>
        <p:spPr>
          <a:xfrm xmlns:a="http://schemas.openxmlformats.org/drawingml/2006/main">
            <a:off x="8412480" y="5413248"/>
            <a:ext cx="127101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102A43"/>
                </a:solidFill>
              </a:rPr>
              <a:t>Server validation</a:t>
            </a:r>
            <a:endParaRPr sz="820"/>
          </a:p>
        </p:txBody>
      </p:sp>
      <p:sp>
        <p:nvSpPr>
          <p:cNvPr id="25" name="Shape 22">
            <a:extLst xmlns:a="http://schemas.openxmlformats.org/drawingml/2006/main">
              <a:ext uri="{FF2B5EF4-FFF2-40B4-BE49-F238E27FC236}">
                <a16:creationId xmlns:a16="http://schemas.microsoft.com/office/drawing/2014/main" id="{FCDA58D3-2432-4C51-A32A-84E47BB3434F}"/>
              </a:ext>
            </a:extLst>
          </p:cNvPr>
          <p:cNvSpPr>
            <a:spLocks xmlns:a="http://schemas.openxmlformats.org/drawingml/2006/main" noGrp="1"/>
          </p:cNvSpPr>
          <p:nvPr/>
        </p:nvSpPr>
        <p:spPr>
          <a:xfrm xmlns:a="http://schemas.openxmlformats.org/drawingml/2006/main">
            <a:off x="9985248" y="5349240"/>
            <a:ext cx="1234440" cy="301752"/>
          </a:xfrm>
          <a:prstGeom xmlns:a="http://schemas.openxmlformats.org/drawingml/2006/main" prst="roundRect">
            <a:avLst>
              <a:gd name="adj" fmla="val 12121"/>
            </a:avLst>
          </a:prstGeom>
          <a:solidFill xmlns:a="http://schemas.openxmlformats.org/drawingml/2006/main">
            <a:srgbClr val="ECF8F1"/>
          </a:solidFill>
          <a:ln xmlns:a="http://schemas.openxmlformats.org/drawingml/2006/main" w="12700">
            <a:solidFill>
              <a:srgbClr val="ECF8F1"/>
            </a:solidFill>
            <a:prstDash val="solid"/>
          </a:ln>
        </p:spPr>
      </p:sp>
      <p:sp>
        <p:nvSpPr>
          <p:cNvPr id="26" name="Text 23">
            <a:extLst xmlns:a="http://schemas.openxmlformats.org/drawingml/2006/main">
              <a:ext uri="{FF2B5EF4-FFF2-40B4-BE49-F238E27FC236}">
                <a16:creationId xmlns:a16="http://schemas.microsoft.com/office/drawing/2014/main" id="{45B4DA8B-6842-46E0-862A-FE9DFB28A88A}"/>
              </a:ext>
            </a:extLst>
          </p:cNvPr>
          <p:cNvSpPr>
            <a:spLocks xmlns:a="http://schemas.openxmlformats.org/drawingml/2006/main" noGrp="1"/>
          </p:cNvSpPr>
          <p:nvPr/>
        </p:nvSpPr>
        <p:spPr>
          <a:xfrm xmlns:a="http://schemas.openxmlformats.org/drawingml/2006/main">
            <a:off x="10058400" y="5413248"/>
            <a:ext cx="108813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102A43"/>
                </a:solidFill>
              </a:rPr>
              <a:t>Scoped action</a:t>
            </a:r>
            <a:endParaRPr sz="820"/>
          </a:p>
        </p:txBody>
      </p:sp>
    </p:spTree>
    <p:extLst>
      <p:ext uri="{BB962C8B-B14F-4D97-AF65-F5344CB8AC3E}">
        <p14:creationId xmlns:p14="http://schemas.microsoft.com/office/powerpoint/2010/main" val="1359525349"/>
      </p:ext>
    </p:extLst>
  </p:cSld>
</p:sld>
</file>

<file path=ppt/slides/slide5.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9F2C06-C8D5-4D30-851E-DB2F2A3C7EB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B"/>
          </a:solidFill>
          <a:ln xmlns:a="http://schemas.openxmlformats.org/drawingml/2006/main" w="12700">
            <a:solidFill>
              <a:srgbClr val="F7FAFB">
                <a:alpha val="0"/>
              </a:srgbClr>
            </a:solidFill>
            <a:prstDash val="solid"/>
          </a:ln>
        </p:spPr>
      </p:sp>
      <p:sp>
        <p:nvSpPr>
          <p:cNvPr id="3" name="Shape 1">
            <a:extLst xmlns:a="http://schemas.openxmlformats.org/drawingml/2006/main">
              <a:ext uri="{FF2B5EF4-FFF2-40B4-BE49-F238E27FC236}">
                <a16:creationId xmlns:a16="http://schemas.microsoft.com/office/drawing/2014/main" id="{CF4AA498-8D9D-4625-885B-C51EAA647EBB}"/>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00897B"/>
          </a:solidFill>
          <a:ln xmlns:a="http://schemas.openxmlformats.org/drawingml/2006/main" w="12700">
            <a:solidFill>
              <a:srgbClr val="00897B"/>
            </a:solidFill>
            <a:prstDash val="solid"/>
          </a:ln>
        </p:spPr>
      </p:sp>
      <p:sp>
        <p:nvSpPr>
          <p:cNvPr id="4" name="Text 2">
            <a:extLst xmlns:a="http://schemas.openxmlformats.org/drawingml/2006/main">
              <a:ext uri="{FF2B5EF4-FFF2-40B4-BE49-F238E27FC236}">
                <a16:creationId xmlns:a16="http://schemas.microsoft.com/office/drawing/2014/main" id="{077167F7-A62D-4235-A0A9-3C4E9D644697}"/>
              </a:ext>
            </a:extLst>
          </p:cNvPr>
          <p:cNvSpPr>
            <a:spLocks xmlns:a="http://schemas.openxmlformats.org/drawingml/2006/main" noGrp="1"/>
          </p:cNvSpPr>
          <p:nvPr/>
        </p:nvSpPr>
        <p:spPr>
          <a:xfrm xmlns:a="http://schemas.openxmlformats.org/drawingml/2006/main">
            <a:off x="438912" y="6510528"/>
            <a:ext cx="5669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536A7B"/>
                </a:solidFill>
                <a:latin typeface="Aptos"/>
                <a:ea typeface="Aptos"/>
                <a:cs typeface="Aptos"/>
              </a:rPr>
              <a:t>Jeen AI Solution Engineer Home Assignment</a:t>
            </a:r>
            <a:endParaRPr sz="850"/>
          </a:p>
        </p:txBody>
      </p:sp>
      <p:sp>
        <p:nvSpPr>
          <p:cNvPr id="5" name="Text 3">
            <a:extLst xmlns:a="http://schemas.openxmlformats.org/drawingml/2006/main">
              <a:ext uri="{FF2B5EF4-FFF2-40B4-BE49-F238E27FC236}">
                <a16:creationId xmlns:a16="http://schemas.microsoft.com/office/drawing/2014/main" id="{B35177C3-DAA1-4EE8-A89E-0F3B707A000C}"/>
              </a:ext>
            </a:extLst>
          </p:cNvPr>
          <p:cNvSpPr>
            <a:spLocks xmlns:a="http://schemas.openxmlformats.org/drawingml/2006/main" noGrp="1"/>
          </p:cNvSpPr>
          <p:nvPr/>
        </p:nvSpPr>
        <p:spPr>
          <a:xfrm xmlns:a="http://schemas.openxmlformats.org/drawingml/2006/main">
            <a:off x="9738360" y="6510528"/>
            <a:ext cx="2011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536A7B"/>
                </a:solidFill>
                <a:latin typeface="Aptos"/>
                <a:ea typeface="Aptos"/>
                <a:cs typeface="Aptos"/>
              </a:rPr>
              <a:t>Shahista Tamkeen</a:t>
            </a:r>
            <a:endParaRPr sz="850"/>
          </a:p>
        </p:txBody>
      </p:sp>
      <p:sp>
        <p:nvSpPr>
          <p:cNvPr id="6" name="Text 4">
            <a:extLst xmlns:a="http://schemas.openxmlformats.org/drawingml/2006/main">
              <a:ext uri="{FF2B5EF4-FFF2-40B4-BE49-F238E27FC236}">
                <a16:creationId xmlns:a16="http://schemas.microsoft.com/office/drawing/2014/main" id="{C582D84E-A129-4499-AED6-7182841C29D2}"/>
              </a:ext>
            </a:extLst>
          </p:cNvPr>
          <p:cNvSpPr>
            <a:spLocks xmlns:a="http://schemas.openxmlformats.org/drawingml/2006/main" noGrp="1"/>
          </p:cNvSpPr>
          <p:nvPr/>
        </p:nvSpPr>
        <p:spPr>
          <a:xfrm xmlns:a="http://schemas.openxmlformats.org/drawingml/2006/main">
            <a:off x="502920" y="320040"/>
            <a:ext cx="89611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400" b="1">
                <a:solidFill>
                  <a:srgbClr val="102A43"/>
                </a:solidFill>
                <a:latin typeface="Aptos Display"/>
                <a:ea typeface="Aptos Display"/>
                <a:cs typeface="Aptos Display"/>
              </a:defRPr>
            </a:pPr>
            <a:r>
              <a:rPr sz="2400" b="1">
                <a:solidFill>
                  <a:srgbClr val="102A43"/>
                </a:solidFill>
                <a:latin typeface="Aptos Display"/>
                <a:ea typeface="Aptos Display"/>
                <a:cs typeface="Aptos Display"/>
              </a:rPr>
              <a:t>Validation results and recorded workflow outcomes</a:t>
            </a:r>
            <a:endParaRPr sz="2400"/>
          </a:p>
        </p:txBody>
      </p:sp>
      <p:sp>
        <p:nvSpPr>
          <p:cNvPr id="7" name="Text 5">
            <a:extLst xmlns:a="http://schemas.openxmlformats.org/drawingml/2006/main">
              <a:ext uri="{FF2B5EF4-FFF2-40B4-BE49-F238E27FC236}">
                <a16:creationId xmlns:a16="http://schemas.microsoft.com/office/drawing/2014/main" id="{F2827C56-D392-47FC-881B-E74E72ED2ED3}"/>
              </a:ext>
            </a:extLst>
          </p:cNvPr>
          <p:cNvSpPr>
            <a:spLocks xmlns:a="http://schemas.openxmlformats.org/drawingml/2006/main" noGrp="1"/>
          </p:cNvSpPr>
          <p:nvPr/>
        </p:nvSpPr>
        <p:spPr>
          <a:xfrm xmlns:a="http://schemas.openxmlformats.org/drawingml/2006/main">
            <a:off x="521208" y="786384"/>
            <a:ext cx="9326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536A7B"/>
                </a:solidFill>
                <a:latin typeface="Aptos"/>
                <a:ea typeface="Aptos"/>
                <a:cs typeface="Aptos"/>
              </a:defRPr>
            </a:pPr>
            <a:r>
              <a:rPr sz="1200" b="0">
                <a:solidFill>
                  <a:srgbClr val="536A7B"/>
                </a:solidFill>
                <a:latin typeface="Aptos"/>
                <a:ea typeface="Aptos"/>
                <a:cs typeface="Aptos"/>
              </a:rPr>
              <a:t>Results cover the recorded test set; they do not establish general model accuracy.</a:t>
            </a:r>
            <a:endParaRPr sz="1050"/>
          </a:p>
        </p:txBody>
      </p:sp>
      <p:sp>
        <p:nvSpPr>
          <p:cNvPr id="8" name="Shape 6">
            <a:extLst xmlns:a="http://schemas.openxmlformats.org/drawingml/2006/main">
              <a:ext uri="{FF2B5EF4-FFF2-40B4-BE49-F238E27FC236}">
                <a16:creationId xmlns:a16="http://schemas.microsoft.com/office/drawing/2014/main" id="{DE312E47-6EE8-4AAC-BF4A-38507EC0D606}"/>
              </a:ext>
            </a:extLst>
          </p:cNvPr>
          <p:cNvSpPr>
            <a:spLocks xmlns:a="http://schemas.openxmlformats.org/drawingml/2006/main" noGrp="1"/>
          </p:cNvSpPr>
          <p:nvPr/>
        </p:nvSpPr>
        <p:spPr>
          <a:xfrm xmlns:a="http://schemas.openxmlformats.org/drawingml/2006/main">
            <a:off x="594360" y="1143000"/>
            <a:ext cx="5394960" cy="141732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8890">
            <a:solidFill>
              <a:srgbClr val="C9D7DE"/>
            </a:solidFill>
            <a:prstDash val="solid"/>
          </a:ln>
        </p:spPr>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8b87ed9c3d2043f3"/>
          <a:stretch xmlns:a="http://schemas.openxmlformats.org/drawingml/2006/main">
            <a:fillRect l="0" t="0" r="0" b="0"/>
          </a:stretch>
        </p:blipFill>
        <p:spPr>
          <a:xfrm xmlns:a="http://schemas.openxmlformats.org/drawingml/2006/main">
            <a:off x="630936" y="1360660"/>
            <a:ext cx="5321808" cy="982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908E8632-80FD-4830-90A7-E0A4A1C98832}"/>
              </a:ext>
            </a:extLst>
          </p:cNvPr>
          <p:cNvSpPr>
            <a:spLocks xmlns:a="http://schemas.openxmlformats.org/drawingml/2006/main" noGrp="1"/>
          </p:cNvSpPr>
          <p:nvPr/>
        </p:nvSpPr>
        <p:spPr>
          <a:xfrm xmlns:a="http://schemas.openxmlformats.org/drawingml/2006/main">
            <a:off x="621792" y="2676525"/>
            <a:ext cx="4000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0">
                <a:solidFill>
                  <a:srgbClr val="536A7B"/>
                </a:solidFill>
                <a:latin typeface="Aptos"/>
                <a:ea typeface="Aptos"/>
                <a:cs typeface="Aptos"/>
              </a:defRPr>
            </a:pPr>
            <a:r>
              <a:rPr sz="1050" b="0">
                <a:solidFill>
                  <a:srgbClr val="536A7B"/>
                </a:solidFill>
                <a:latin typeface="Aptos"/>
                <a:ea typeface="Aptos"/>
                <a:cs typeface="Aptos"/>
              </a:rPr>
              <a:t>Recorded live-model evaluation</a:t>
            </a:r>
            <a:endParaRPr sz="920"/>
          </a:p>
        </p:txBody>
      </p:sp>
      <p:sp>
        <p:nvSpPr>
          <p:cNvPr id="11" name="Text 8">
            <a:extLst xmlns:a="http://schemas.openxmlformats.org/drawingml/2006/main">
              <a:ext uri="{FF2B5EF4-FFF2-40B4-BE49-F238E27FC236}">
                <a16:creationId xmlns:a16="http://schemas.microsoft.com/office/drawing/2014/main" id="{CCBED5C3-E9F9-4822-A883-334DC78783D6}"/>
              </a:ext>
            </a:extLst>
          </p:cNvPr>
          <p:cNvSpPr>
            <a:spLocks xmlns:a="http://schemas.openxmlformats.org/drawingml/2006/main" noGrp="1"/>
          </p:cNvSpPr>
          <p:nvPr/>
        </p:nvSpPr>
        <p:spPr>
          <a:xfrm xmlns:a="http://schemas.openxmlformats.org/drawingml/2006/main">
            <a:off x="6263640" y="1152144"/>
            <a:ext cx="132588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006A63"/>
                </a:solidFill>
              </a:rPr>
              <a:t>27/27</a:t>
            </a:r>
            <a:endParaRPr sz="2400"/>
          </a:p>
        </p:txBody>
      </p:sp>
      <p:sp>
        <p:nvSpPr>
          <p:cNvPr id="12" name="Text 9">
            <a:extLst xmlns:a="http://schemas.openxmlformats.org/drawingml/2006/main">
              <a:ext uri="{FF2B5EF4-FFF2-40B4-BE49-F238E27FC236}">
                <a16:creationId xmlns:a16="http://schemas.microsoft.com/office/drawing/2014/main" id="{4316A1CE-3E96-4877-B150-E0CA0D3B1B49}"/>
              </a:ext>
            </a:extLst>
          </p:cNvPr>
          <p:cNvSpPr>
            <a:spLocks xmlns:a="http://schemas.openxmlformats.org/drawingml/2006/main" noGrp="1"/>
          </p:cNvSpPr>
          <p:nvPr/>
        </p:nvSpPr>
        <p:spPr>
          <a:xfrm xmlns:a="http://schemas.openxmlformats.org/drawingml/2006/main">
            <a:off x="6263640" y="1714500"/>
            <a:ext cx="150495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125" b="0">
                <a:solidFill>
                  <a:srgbClr val="536A7B"/>
                </a:solidFill>
                <a:latin typeface="Aptos"/>
                <a:ea typeface="Aptos"/>
                <a:cs typeface="Aptos"/>
              </a:defRPr>
            </a:pPr>
            <a:r>
              <a:rPr sz="1125" b="0">
                <a:solidFill>
                  <a:srgbClr val="536A7B"/>
                </a:solidFill>
                <a:latin typeface="Aptos"/>
                <a:ea typeface="Aptos"/>
                <a:cs typeface="Aptos"/>
              </a:rPr>
              <a:t>Application tests</a:t>
            </a:r>
            <a:endParaRPr sz="860"/>
          </a:p>
          <a:p xmlns:a="http://schemas.openxmlformats.org/drawingml/2006/main">
            <a:pPr marL="0" indent="0" algn="ctr">
              <a:buNone/>
              <a:defRPr sz="1125" b="0">
                <a:solidFill>
                  <a:srgbClr val="536A7B"/>
                </a:solidFill>
                <a:latin typeface="Aptos"/>
                <a:ea typeface="Aptos"/>
                <a:cs typeface="Aptos"/>
              </a:defRPr>
            </a:pPr>
            <a:r>
              <a:rPr sz="1125" b="0">
                <a:solidFill>
                  <a:srgbClr val="536A7B"/>
                </a:solidFill>
                <a:latin typeface="Aptos"/>
                <a:ea typeface="Aptos"/>
                <a:cs typeface="Aptos"/>
              </a:rPr>
              <a:t>Fixed model responses</a:t>
            </a:r>
            <a:endParaRPr sz="860"/>
          </a:p>
        </p:txBody>
      </p:sp>
      <p:sp>
        <p:nvSpPr>
          <p:cNvPr id="13" name="Text 10">
            <a:extLst xmlns:a="http://schemas.openxmlformats.org/drawingml/2006/main">
              <a:ext uri="{FF2B5EF4-FFF2-40B4-BE49-F238E27FC236}">
                <a16:creationId xmlns:a16="http://schemas.microsoft.com/office/drawing/2014/main" id="{1883DF59-A4FD-4D98-AA28-D33DD0C95198}"/>
              </a:ext>
            </a:extLst>
          </p:cNvPr>
          <p:cNvSpPr>
            <a:spLocks xmlns:a="http://schemas.openxmlformats.org/drawingml/2006/main" noGrp="1"/>
          </p:cNvSpPr>
          <p:nvPr/>
        </p:nvSpPr>
        <p:spPr>
          <a:xfrm xmlns:a="http://schemas.openxmlformats.org/drawingml/2006/main">
            <a:off x="7818120" y="1152144"/>
            <a:ext cx="132588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400" b="1">
                <a:solidFill>
                  <a:srgbClr val="006A63"/>
                </a:solidFill>
              </a:rPr>
              <a:t>10/10</a:t>
            </a:r>
            <a:endParaRPr sz="2400"/>
          </a:p>
        </p:txBody>
      </p:sp>
      <p:sp>
        <p:nvSpPr>
          <p:cNvPr id="14" name="Text 11">
            <a:extLst xmlns:a="http://schemas.openxmlformats.org/drawingml/2006/main">
              <a:ext uri="{FF2B5EF4-FFF2-40B4-BE49-F238E27FC236}">
                <a16:creationId xmlns:a16="http://schemas.microsoft.com/office/drawing/2014/main" id="{4CCF23B8-74E2-4798-8E19-3464D1115B77}"/>
              </a:ext>
            </a:extLst>
          </p:cNvPr>
          <p:cNvSpPr>
            <a:spLocks xmlns:a="http://schemas.openxmlformats.org/drawingml/2006/main" noGrp="1"/>
          </p:cNvSpPr>
          <p:nvPr/>
        </p:nvSpPr>
        <p:spPr>
          <a:xfrm xmlns:a="http://schemas.openxmlformats.org/drawingml/2006/main">
            <a:off x="7818120" y="1714500"/>
            <a:ext cx="150495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125" b="0">
                <a:solidFill>
                  <a:srgbClr val="536A7B"/>
                </a:solidFill>
                <a:latin typeface="Aptos"/>
                <a:ea typeface="Aptos"/>
                <a:cs typeface="Aptos"/>
              </a:defRPr>
            </a:pPr>
            <a:r>
              <a:rPr sz="1125" b="0">
                <a:solidFill>
                  <a:srgbClr val="536A7B"/>
                </a:solidFill>
                <a:latin typeface="Aptos"/>
                <a:ea typeface="Aptos"/>
                <a:cs typeface="Aptos"/>
              </a:rPr>
              <a:t>Curated live-model</a:t>
            </a:r>
            <a:endParaRPr sz="860"/>
          </a:p>
          <a:p xmlns:a="http://schemas.openxmlformats.org/drawingml/2006/main">
            <a:pPr marL="0" indent="0" algn="ctr">
              <a:buNone/>
              <a:defRPr sz="1125" b="0">
                <a:solidFill>
                  <a:srgbClr val="536A7B"/>
                </a:solidFill>
                <a:latin typeface="Aptos"/>
                <a:ea typeface="Aptos"/>
                <a:cs typeface="Aptos"/>
              </a:defRPr>
            </a:pPr>
            <a:r>
              <a:rPr sz="1125" b="0">
                <a:solidFill>
                  <a:srgbClr val="536A7B"/>
                </a:solidFill>
                <a:latin typeface="Aptos"/>
                <a:ea typeface="Aptos"/>
                <a:cs typeface="Aptos"/>
              </a:rPr>
              <a:t>checks</a:t>
            </a:r>
            <a:endParaRPr sz="860"/>
          </a:p>
        </p:txBody>
      </p:sp>
      <p:sp>
        <p:nvSpPr>
          <p:cNvPr id="15" name="Text 12">
            <a:extLst xmlns:a="http://schemas.openxmlformats.org/drawingml/2006/main">
              <a:ext uri="{FF2B5EF4-FFF2-40B4-BE49-F238E27FC236}">
                <a16:creationId xmlns:a16="http://schemas.microsoft.com/office/drawing/2014/main" id="{A3B86FFC-609D-4001-B744-DC4DA92F21AB}"/>
              </a:ext>
            </a:extLst>
          </p:cNvPr>
          <p:cNvSpPr>
            <a:spLocks xmlns:a="http://schemas.openxmlformats.org/drawingml/2006/main" noGrp="1"/>
          </p:cNvSpPr>
          <p:nvPr/>
        </p:nvSpPr>
        <p:spPr>
          <a:xfrm xmlns:a="http://schemas.openxmlformats.org/drawingml/2006/main">
            <a:off x="9372600" y="1152144"/>
            <a:ext cx="132588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2400" b="1">
                <a:solidFill>
                  <a:srgbClr val="006A63"/>
                </a:solidFill>
                <a:latin typeface="Aptos"/>
                <a:ea typeface="Aptos"/>
                <a:cs typeface="Aptos"/>
              </a:defRPr>
            </a:pPr>
            <a:r>
              <a:rPr sz="2400" b="1">
                <a:solidFill>
                  <a:srgbClr val="006A63"/>
                </a:solidFill>
                <a:latin typeface="Aptos"/>
                <a:ea typeface="Aptos"/>
                <a:cs typeface="Aptos"/>
              </a:rPr>
              <a:t>3</a:t>
            </a:r>
            <a:endParaRPr sz="2400"/>
          </a:p>
        </p:txBody>
      </p:sp>
      <p:sp>
        <p:nvSpPr>
          <p:cNvPr id="16" name="Text 13">
            <a:extLst xmlns:a="http://schemas.openxmlformats.org/drawingml/2006/main">
              <a:ext uri="{FF2B5EF4-FFF2-40B4-BE49-F238E27FC236}">
                <a16:creationId xmlns:a16="http://schemas.microsoft.com/office/drawing/2014/main" id="{8467FBF7-D5D9-4B9D-9C63-5DCD76988724}"/>
              </a:ext>
            </a:extLst>
          </p:cNvPr>
          <p:cNvSpPr>
            <a:spLocks xmlns:a="http://schemas.openxmlformats.org/drawingml/2006/main" noGrp="1"/>
          </p:cNvSpPr>
          <p:nvPr/>
        </p:nvSpPr>
        <p:spPr>
          <a:xfrm xmlns:a="http://schemas.openxmlformats.org/drawingml/2006/main">
            <a:off x="9372600" y="1714500"/>
            <a:ext cx="180975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125" b="0">
                <a:solidFill>
                  <a:srgbClr val="536A7B"/>
                </a:solidFill>
                <a:latin typeface="Aptos"/>
                <a:ea typeface="Aptos"/>
                <a:cs typeface="Aptos"/>
              </a:defRPr>
            </a:pPr>
            <a:r>
              <a:rPr sz="1125" b="0">
                <a:solidFill>
                  <a:srgbClr val="536A7B"/>
                </a:solidFill>
                <a:latin typeface="Aptos"/>
                <a:ea typeface="Aptos"/>
                <a:cs typeface="Aptos"/>
              </a:rPr>
              <a:t>Recorded n8n</a:t>
            </a:r>
            <a:endParaRPr sz="860"/>
          </a:p>
          <a:p xmlns:a="http://schemas.openxmlformats.org/drawingml/2006/main">
            <a:pPr marL="0" indent="0" algn="ctr">
              <a:buNone/>
              <a:defRPr sz="1125" b="0">
                <a:solidFill>
                  <a:srgbClr val="536A7B"/>
                </a:solidFill>
                <a:latin typeface="Aptos"/>
                <a:ea typeface="Aptos"/>
                <a:cs typeface="Aptos"/>
              </a:defRPr>
            </a:pPr>
            <a:r>
              <a:rPr sz="1125" b="0">
                <a:solidFill>
                  <a:srgbClr val="536A7B"/>
                </a:solidFill>
                <a:latin typeface="Aptos"/>
                <a:ea typeface="Aptos"/>
                <a:cs typeface="Aptos"/>
              </a:rPr>
              <a:t>outcomes</a:t>
            </a:r>
            <a:endParaRPr sz="860"/>
          </a:p>
        </p:txBody>
      </p:sp>
      <p:sp>
        <p:nvSpPr>
          <p:cNvPr id="17" name="Shape 14">
            <a:extLst xmlns:a="http://schemas.openxmlformats.org/drawingml/2006/main">
              <a:ext uri="{FF2B5EF4-FFF2-40B4-BE49-F238E27FC236}">
                <a16:creationId xmlns:a16="http://schemas.microsoft.com/office/drawing/2014/main" id="{D9A6E518-D6C8-4E0F-8576-7769A45E7CF5}"/>
              </a:ext>
            </a:extLst>
          </p:cNvPr>
          <p:cNvSpPr>
            <a:spLocks xmlns:a="http://schemas.openxmlformats.org/drawingml/2006/main" noGrp="1"/>
          </p:cNvSpPr>
          <p:nvPr/>
        </p:nvSpPr>
        <p:spPr>
          <a:xfrm xmlns:a="http://schemas.openxmlformats.org/drawingml/2006/main">
            <a:off x="594360" y="3072384"/>
            <a:ext cx="10881360" cy="0"/>
          </a:xfrm>
          <a:prstGeom xmlns:a="http://schemas.openxmlformats.org/drawingml/2006/main" prst="line">
            <a:avLst/>
          </a:prstGeom>
          <a:noFill xmlns:a="http://schemas.openxmlformats.org/drawingml/2006/main"/>
          <a:ln xmlns:a="http://schemas.openxmlformats.org/drawingml/2006/main" w="9525">
            <a:solidFill>
              <a:srgbClr val="C9D7DE"/>
            </a:solidFill>
            <a:prstDash val="solid"/>
          </a:ln>
        </p:spPr>
      </p:sp>
      <p:sp>
        <p:nvSpPr>
          <p:cNvPr id="18" name="Text 15">
            <a:extLst xmlns:a="http://schemas.openxmlformats.org/drawingml/2006/main">
              <a:ext uri="{FF2B5EF4-FFF2-40B4-BE49-F238E27FC236}">
                <a16:creationId xmlns:a16="http://schemas.microsoft.com/office/drawing/2014/main" id="{30A396F6-65FD-4309-8E2B-18FB59C44129}"/>
              </a:ext>
            </a:extLst>
          </p:cNvPr>
          <p:cNvSpPr>
            <a:spLocks xmlns:a="http://schemas.openxmlformats.org/drawingml/2006/main" noGrp="1"/>
          </p:cNvSpPr>
          <p:nvPr/>
        </p:nvSpPr>
        <p:spPr>
          <a:xfrm xmlns:a="http://schemas.openxmlformats.org/drawingml/2006/main">
            <a:off x="594360" y="3319272"/>
            <a:ext cx="40005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75" b="1">
                <a:solidFill>
                  <a:srgbClr val="006A63"/>
                </a:solidFill>
                <a:latin typeface="Aptos"/>
                <a:ea typeface="Aptos"/>
                <a:cs typeface="Aptos"/>
              </a:defRPr>
            </a:pPr>
            <a:r>
              <a:rPr sz="1275" b="1">
                <a:solidFill>
                  <a:srgbClr val="006A63"/>
                </a:solidFill>
                <a:latin typeface="Aptos"/>
                <a:ea typeface="Aptos"/>
                <a:cs typeface="Aptos"/>
              </a:rPr>
              <a:t>Three separate n8n runs</a:t>
            </a:r>
            <a:endParaRPr sz="1150"/>
          </a:p>
        </p:txBody>
      </p:sp>
      <p:sp>
        <p:nvSpPr>
          <p:cNvPr id="19" name="Shape 16">
            <a:extLst xmlns:a="http://schemas.openxmlformats.org/drawingml/2006/main">
              <a:ext uri="{FF2B5EF4-FFF2-40B4-BE49-F238E27FC236}">
                <a16:creationId xmlns:a16="http://schemas.microsoft.com/office/drawing/2014/main" id="{13D4BBFE-0F24-48EA-B8F3-71368F4F6C10}"/>
              </a:ext>
            </a:extLst>
          </p:cNvPr>
          <p:cNvSpPr>
            <a:spLocks xmlns:a="http://schemas.openxmlformats.org/drawingml/2006/main" noGrp="1"/>
          </p:cNvSpPr>
          <p:nvPr/>
        </p:nvSpPr>
        <p:spPr>
          <a:xfrm xmlns:a="http://schemas.openxmlformats.org/drawingml/2006/main">
            <a:off x="594360" y="3703320"/>
            <a:ext cx="3429000" cy="1170432"/>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8890">
            <a:solidFill>
              <a:srgbClr val="C9D7DE"/>
            </a:solidFill>
            <a:prstDash val="solid"/>
          </a:ln>
        </p:spPr>
      </p:sp>
      <p:pic>
        <p:nvPicPr>
          <p:cNvPr id="52" name="Image 1"/>
          <p:cNvPicPr>
            <a:picLocks xmlns:a="http://schemas.openxmlformats.org/drawingml/2006/main" noChangeAspect="1"/>
          </p:cNvPicPr>
          <p:nvPr/>
        </p:nvPicPr>
        <p:blipFill>
          <a:blip xmlns:r="http://schemas.openxmlformats.org/officeDocument/2006/relationships" xmlns:a="http://schemas.openxmlformats.org/drawingml/2006/main" r:embed="Rec31f24c61124f51"/>
          <a:stretch xmlns:a="http://schemas.openxmlformats.org/drawingml/2006/main"/>
        </p:blipFill>
        <p:spPr>
          <a:xfrm xmlns:a="http://schemas.openxmlformats.org/drawingml/2006/main">
            <a:off x="638175" y="3755457"/>
            <a:ext cx="3333750" cy="1061585"/>
          </a:xfrm>
          <a:prstGeom xmlns:a="http://schemas.openxmlformats.org/drawingml/2006/main" prst="rect">
            <a:avLst/>
          </a:prstGeom>
        </p:spPr>
      </p:pic>
      <p:sp>
        <p:nvSpPr>
          <p:cNvPr id="21" name="Shape 17">
            <a:extLst xmlns:a="http://schemas.openxmlformats.org/drawingml/2006/main">
              <a:ext uri="{FF2B5EF4-FFF2-40B4-BE49-F238E27FC236}">
                <a16:creationId xmlns:a16="http://schemas.microsoft.com/office/drawing/2014/main" id="{A8023990-CFE8-4866-BFFD-41E670DAF7EE}"/>
              </a:ext>
            </a:extLst>
          </p:cNvPr>
          <p:cNvSpPr>
            <a:spLocks xmlns:a="http://schemas.openxmlformats.org/drawingml/2006/main" noGrp="1"/>
          </p:cNvSpPr>
          <p:nvPr/>
        </p:nvSpPr>
        <p:spPr>
          <a:xfrm xmlns:a="http://schemas.openxmlformats.org/drawingml/2006/main">
            <a:off x="4343400" y="3703320"/>
            <a:ext cx="3429000" cy="1170432"/>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8890">
            <a:solidFill>
              <a:srgbClr val="C9D7DE"/>
            </a:solidFill>
            <a:prstDash val="solid"/>
          </a:ln>
        </p:spPr>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950d4a0b237744fa"/>
          <a:stretch xmlns:a="http://schemas.openxmlformats.org/drawingml/2006/main"/>
        </p:blipFill>
        <p:spPr>
          <a:xfrm xmlns:a="http://schemas.openxmlformats.org/drawingml/2006/main">
            <a:off x="4391025" y="3829955"/>
            <a:ext cx="3333750" cy="912591"/>
          </a:xfrm>
          <a:prstGeom xmlns:a="http://schemas.openxmlformats.org/drawingml/2006/main" prst="rect">
            <a:avLst/>
          </a:prstGeom>
        </p:spPr>
      </p:pic>
      <p:sp>
        <p:nvSpPr>
          <p:cNvPr id="23" name="Shape 18">
            <a:extLst xmlns:a="http://schemas.openxmlformats.org/drawingml/2006/main">
              <a:ext uri="{FF2B5EF4-FFF2-40B4-BE49-F238E27FC236}">
                <a16:creationId xmlns:a16="http://schemas.microsoft.com/office/drawing/2014/main" id="{8CF3FC35-4AB9-4DF2-A659-00C4027C409E}"/>
              </a:ext>
            </a:extLst>
          </p:cNvPr>
          <p:cNvSpPr>
            <a:spLocks xmlns:a="http://schemas.openxmlformats.org/drawingml/2006/main" noGrp="1"/>
          </p:cNvSpPr>
          <p:nvPr/>
        </p:nvSpPr>
        <p:spPr>
          <a:xfrm xmlns:a="http://schemas.openxmlformats.org/drawingml/2006/main">
            <a:off x="8092440" y="3703320"/>
            <a:ext cx="3429000" cy="1170432"/>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8890">
            <a:solidFill>
              <a:srgbClr val="C9D7DE"/>
            </a:solidFill>
            <a:prstDash val="solid"/>
          </a:ln>
        </p:spPr>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3c72de46ce1d43a5"/>
          <a:stretch xmlns:a="http://schemas.openxmlformats.org/drawingml/2006/main"/>
        </p:blipFill>
        <p:spPr>
          <a:xfrm xmlns:a="http://schemas.openxmlformats.org/drawingml/2006/main">
            <a:off x="8134350" y="3829955"/>
            <a:ext cx="3333750" cy="912591"/>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D45D80C0-2556-400D-9E84-3C8EF5D7D926}"/>
              </a:ext>
            </a:extLst>
          </p:cNvPr>
          <p:cNvSpPr>
            <a:spLocks xmlns:a="http://schemas.openxmlformats.org/drawingml/2006/main" noGrp="1"/>
          </p:cNvSpPr>
          <p:nvPr/>
        </p:nvSpPr>
        <p:spPr>
          <a:xfrm xmlns:a="http://schemas.openxmlformats.org/drawingml/2006/main">
            <a:off x="621792" y="4983480"/>
            <a:ext cx="33375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102A43"/>
                </a:solidFill>
                <a:latin typeface="Aptos"/>
                <a:ea typeface="Aptos"/>
                <a:cs typeface="Aptos"/>
              </a:defRPr>
            </a:pPr>
            <a:r>
              <a:rPr sz="1050" b="1">
                <a:solidFill>
                  <a:srgbClr val="102A43"/>
                </a:solidFill>
                <a:latin typeface="Aptos"/>
                <a:ea typeface="Aptos"/>
                <a:cs typeface="Aptos"/>
              </a:rPr>
              <a:t>Supported + approved → case created</a:t>
            </a:r>
            <a:endParaRPr sz="960"/>
          </a:p>
        </p:txBody>
      </p:sp>
      <p:sp>
        <p:nvSpPr>
          <p:cNvPr id="26" name="Text 20">
            <a:extLst xmlns:a="http://schemas.openxmlformats.org/drawingml/2006/main">
              <a:ext uri="{FF2B5EF4-FFF2-40B4-BE49-F238E27FC236}">
                <a16:creationId xmlns:a16="http://schemas.microsoft.com/office/drawing/2014/main" id="{36803C40-18DE-4E8D-964B-F124E13BA0E5}"/>
              </a:ext>
            </a:extLst>
          </p:cNvPr>
          <p:cNvSpPr>
            <a:spLocks xmlns:a="http://schemas.openxmlformats.org/drawingml/2006/main" noGrp="1"/>
          </p:cNvSpPr>
          <p:nvPr/>
        </p:nvSpPr>
        <p:spPr>
          <a:xfrm xmlns:a="http://schemas.openxmlformats.org/drawingml/2006/main">
            <a:off x="4370832" y="4983480"/>
            <a:ext cx="33375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102A43"/>
                </a:solidFill>
                <a:latin typeface="Aptos"/>
                <a:ea typeface="Aptos"/>
                <a:cs typeface="Aptos"/>
              </a:defRPr>
            </a:pPr>
            <a:r>
              <a:rPr sz="1050" b="1">
                <a:solidFill>
                  <a:srgbClr val="102A43"/>
                </a:solidFill>
                <a:latin typeface="Aptos"/>
                <a:ea typeface="Aptos"/>
                <a:cs typeface="Aptos"/>
              </a:rPr>
              <a:t>Supported + rejected → no case</a:t>
            </a:r>
            <a:endParaRPr sz="960"/>
          </a:p>
        </p:txBody>
      </p:sp>
      <p:sp>
        <p:nvSpPr>
          <p:cNvPr id="27" name="Text 21">
            <a:extLst xmlns:a="http://schemas.openxmlformats.org/drawingml/2006/main">
              <a:ext uri="{FF2B5EF4-FFF2-40B4-BE49-F238E27FC236}">
                <a16:creationId xmlns:a16="http://schemas.microsoft.com/office/drawing/2014/main" id="{53365D67-299F-44E3-B2B1-EEFB45486C61}"/>
              </a:ext>
            </a:extLst>
          </p:cNvPr>
          <p:cNvSpPr>
            <a:spLocks xmlns:a="http://schemas.openxmlformats.org/drawingml/2006/main" noGrp="1"/>
          </p:cNvSpPr>
          <p:nvPr/>
        </p:nvSpPr>
        <p:spPr>
          <a:xfrm xmlns:a="http://schemas.openxmlformats.org/drawingml/2006/main">
            <a:off x="8119872" y="4983480"/>
            <a:ext cx="33375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050" b="1">
                <a:solidFill>
                  <a:srgbClr val="102A43"/>
                </a:solidFill>
                <a:latin typeface="Aptos"/>
                <a:ea typeface="Aptos"/>
                <a:cs typeface="Aptos"/>
              </a:defRPr>
            </a:pPr>
            <a:r>
              <a:rPr sz="1050" b="1">
                <a:solidFill>
                  <a:srgbClr val="102A43"/>
                </a:solidFill>
                <a:latin typeface="Aptos"/>
                <a:ea typeface="Aptos"/>
                <a:cs typeface="Aptos"/>
              </a:rPr>
              <a:t>Insufficient + approved → no case</a:t>
            </a:r>
            <a:endParaRPr sz="960"/>
          </a:p>
        </p:txBody>
      </p:sp>
      <p:sp>
        <p:nvSpPr>
          <p:cNvPr id="28" name="Text 22">
            <a:extLst xmlns:a="http://schemas.openxmlformats.org/drawingml/2006/main">
              <a:ext uri="{FF2B5EF4-FFF2-40B4-BE49-F238E27FC236}">
                <a16:creationId xmlns:a16="http://schemas.microsoft.com/office/drawing/2014/main" id="{7DD6F59D-69E3-4294-800D-7D5C734F136C}"/>
              </a:ext>
            </a:extLst>
          </p:cNvPr>
          <p:cNvSpPr>
            <a:spLocks xmlns:a="http://schemas.openxmlformats.org/drawingml/2006/main" noGrp="1"/>
          </p:cNvSpPr>
          <p:nvPr/>
        </p:nvSpPr>
        <p:spPr>
          <a:xfrm xmlns:a="http://schemas.openxmlformats.org/drawingml/2006/main">
            <a:off x="594360" y="5733288"/>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050" b="1">
                <a:solidFill>
                  <a:srgbClr val="006A63"/>
                </a:solidFill>
                <a:latin typeface="Aptos"/>
                <a:ea typeface="Aptos"/>
                <a:cs typeface="Aptos"/>
              </a:defRPr>
            </a:pPr>
            <a:r>
              <a:rPr sz="1050" b="1">
                <a:solidFill>
                  <a:srgbClr val="006A63"/>
                </a:solidFill>
                <a:latin typeface="Aptos"/>
                <a:ea typeface="Aptos"/>
                <a:cs typeface="Aptos"/>
              </a:rPr>
              <a:t>Next: production</a:t>
            </a:r>
            <a:endParaRPr sz="1000"/>
          </a:p>
        </p:txBody>
      </p:sp>
      <p:sp>
        <p:nvSpPr>
          <p:cNvPr id="29" name="Text 23">
            <a:extLst xmlns:a="http://schemas.openxmlformats.org/drawingml/2006/main">
              <a:ext uri="{FF2B5EF4-FFF2-40B4-BE49-F238E27FC236}">
                <a16:creationId xmlns:a16="http://schemas.microsoft.com/office/drawing/2014/main" id="{EDAB4AAA-CF47-4D89-A532-EECC53A790E6}"/>
              </a:ext>
            </a:extLst>
          </p:cNvPr>
          <p:cNvSpPr>
            <a:spLocks xmlns:a="http://schemas.openxmlformats.org/drawingml/2006/main" noGrp="1"/>
          </p:cNvSpPr>
          <p:nvPr/>
        </p:nvSpPr>
        <p:spPr>
          <a:xfrm xmlns:a="http://schemas.openxmlformats.org/drawingml/2006/main">
            <a:off x="2057400" y="5657850"/>
            <a:ext cx="9344025" cy="4000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1200" b="0">
                <a:solidFill>
                  <a:srgbClr val="536A7B"/>
                </a:solidFill>
                <a:latin typeface="Aptos"/>
                <a:ea typeface="Aptos"/>
                <a:cs typeface="Aptos"/>
              </a:defRPr>
            </a:pPr>
            <a:r>
              <a:rPr sz="1200" b="0">
                <a:solidFill>
                  <a:srgbClr val="536A7B"/>
                </a:solidFill>
                <a:latin typeface="Aptos"/>
                <a:ea typeface="Aptos"/>
                <a:cs typeface="Aptos"/>
              </a:rPr>
              <a:t>SSO/RBAC • Document permissions • Case-system connector • Protected audit storage</a:t>
            </a:r>
            <a:endParaRPr sz="1050"/>
          </a:p>
        </p:txBody>
      </p:sp>
    </p:spTree>
    <p:extLst>
      <p:ext uri="{BB962C8B-B14F-4D97-AF65-F5344CB8AC3E}">
        <p14:creationId xmlns:p14="http://schemas.microsoft.com/office/powerpoint/2010/main" val="7129911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2026-09-21T20:25:47.8950000Z</dcterms:created>
  <dcterms:modified xsi:type="dcterms:W3CDTF">2026-09-21T20:25:47.8950000Z</dcterms:modified>
</coreProperties>
</file>