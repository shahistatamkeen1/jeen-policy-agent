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1d8eda2b6774156" /><Relationship Type="http://schemas.openxmlformats.org/officeDocument/2006/relationships/extended-properties" Target="/docProps/app.xml" Id="R19472e75fafa4f0e" /><Relationship Type="http://schemas.openxmlformats.org/officeDocument/2006/relationships/officeDocument" Target="/ppt/presentation.xml" Id="Rc706bf240f084c31" /></Relationships>
</file>

<file path=ppt/presentation.xml><?xml version="1.0" encoding="utf-8"?>
<p:presentation xmlns:p="http://schemas.openxmlformats.org/presentationml/2006/main">
  <p:sldMasterIdLst>
    <p:sldMasterId xmlns:r="http://schemas.openxmlformats.org/officeDocument/2006/relationships" id="2147483648" r:id="Ref59a0006747465c"/>
  </p:sldMasterIdLst>
  <p:notesMasterIdLst>
    <p:notesMasterId xmlns:r="http://schemas.openxmlformats.org/officeDocument/2006/relationships" r:id="Rc591b5e21d754b45"/>
  </p:notesMasterIdLst>
  <p:sldIdLst>
    <p:sldId xmlns:r="http://schemas.openxmlformats.org/officeDocument/2006/relationships" id="256" r:id="R67fee3f428854841"/>
    <p:sldId xmlns:r="http://schemas.openxmlformats.org/officeDocument/2006/relationships" id="257" r:id="R5e41cec0975340f3"/>
    <p:sldId xmlns:r="http://schemas.openxmlformats.org/officeDocument/2006/relationships" id="258" r:id="R9bc482ad9ee946ee"/>
    <p:sldId xmlns:r="http://schemas.openxmlformats.org/officeDocument/2006/relationships" id="259" r:id="Ra9b2ead28e5e4850"/>
    <p:sldId xmlns:r="http://schemas.openxmlformats.org/officeDocument/2006/relationships" id="260" r:id="R3738a3ae7e8246e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fe7a47b3584637" /><Relationship Type="http://schemas.openxmlformats.org/officeDocument/2006/relationships/slideMaster" Target="/ppt/slideMasters/slideMaster1.xml" Id="Ref59a0006747465c" /><Relationship Type="http://schemas.openxmlformats.org/officeDocument/2006/relationships/notesMaster" Target="/ppt/notesMasters/notesMaster1.xml" Id="Rc591b5e21d754b45" /><Relationship Type="http://schemas.openxmlformats.org/officeDocument/2006/relationships/presProps" Target="/ppt/presProps.xml" Id="Rca968aa26fc645aa" /><Relationship Type="http://schemas.openxmlformats.org/officeDocument/2006/relationships/tableStyles" Target="/ppt/tableStyles.xml" Id="R8764bbb8ef434f62" /><Relationship Type="http://schemas.openxmlformats.org/officeDocument/2006/relationships/slide" Target="/ppt/slides/slide1.xml" Id="R67fee3f428854841" /><Relationship Type="http://schemas.openxmlformats.org/officeDocument/2006/relationships/slide" Target="/ppt/slides/slide2.xml" Id="R5e41cec0975340f3" /><Relationship Type="http://schemas.openxmlformats.org/officeDocument/2006/relationships/slide" Target="/ppt/slides/slide3.xml" Id="R9bc482ad9ee946ee" /><Relationship Type="http://schemas.openxmlformats.org/officeDocument/2006/relationships/slide" Target="/ppt/slides/slide4.xml" Id="Ra9b2ead28e5e4850" /><Relationship Type="http://schemas.openxmlformats.org/officeDocument/2006/relationships/slide" Target="/ppt/slides/slide5.xml" Id="R3738a3ae7e8246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a38e5554b342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ac446e50ec459b" /><Relationship Type="http://schemas.openxmlformats.org/officeDocument/2006/relationships/notesMaster" Target="/ppt/notesMasters/notesMaster1.xml" Id="R883c525db0084a1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3ebb45610943a3" /><Relationship Type="http://schemas.openxmlformats.org/officeDocument/2006/relationships/notesMaster" Target="/ppt/notesMasters/notesMaster1.xml" Id="R5321cb101e6444b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d63d0a3e5284c18" /><Relationship Type="http://schemas.openxmlformats.org/officeDocument/2006/relationships/notesMaster" Target="/ppt/notesMasters/notesMaster1.xml" Id="R8f9171247b68430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bdf87cfb684254" /><Relationship Type="http://schemas.openxmlformats.org/officeDocument/2006/relationships/notesMaster" Target="/ppt/notesMasters/notesMaster1.xml" Id="Re2ba42dc9ba845a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b2f53c4a4c54070" /><Relationship Type="http://schemas.openxmlformats.org/officeDocument/2006/relationships/notesMaster" Target="/ppt/notesMasters/notesMaster1.xml" Id="R013451ccbbcf4d0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Customer and policies are synthetic and explicitly labeled. Present this as a discovery hypothesis, not a real customer engagement. Target user: operations analyst; reviewer: policy triage lead; sponsor: operations or risk leader. Sources: supplied Jeen home assignment and documents/01_ai_use_policy.md, 02_vendor_intake_policy.md, 03_review_procedure.md.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proposed benefits, not measured savings. Establish a manual baseline on 20 representative questions and compare assisted median handling time, evidence relevance, queue accuracy, abstention quality, and reviewer overrides. Include ambiguous and unsupported questions. Treat zero unapproved case creation as an acceptance gate. Do not quote invented ROI. Discovery: what queues exist, who owns policy versions, what minimum evidence is sufficient, who may approve?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Platform: n8n. Python standard-library integration has /retrieve, /propose, /decisions, /cases and /audit endpoints. RAG uses heading-based chunks, BM25 top-4 retrieval, LLM selection of 1–3 evidence IDs, metadata checks, and deterministic rendering of original excerpts. The LLM is not a free-text policy author. Explain why lexical search is appropriate for this small, exact-policy corpus and when hybrid retrieval would be needed. n8n Form documentation: https://docs.n8n.io/integrations/builtin/core-nodes/n8n-nodes-base.form/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claim zero hallucinations or production compliance. Exact excerpts stop the model inventing policy prose, but evidence selection and routing remain fallible. Semantic entailment and malicious instructions are evaluated through adversarial questions and human review. Synthetic documents only. SQLite audit entries are not tamper-proof. The same browser performs requester and reviewer roles for the demo; separation of duties is not enforced. No Kubernetes, Terraform, private cloud, or air-gapped implementation is included.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transparent: the supplied automated tests inject model fixtures and do not establish live LLM accuracy. Before presenting, run all questions in docs/evaluation_cases.json, capture a full workflow screenshot plus successful approval and case screenshots, and update this slide with actual results. Run the reject path too. Have a local screen recording as backup. The assignment permits up to 5 slides and expects a 4–5 hour scope; this deck has exactly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3e38ba31a5437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102afe5fb69488b" /><Relationship Type="http://schemas.openxmlformats.org/officeDocument/2006/relationships/slideLayout" Target="/ppt/slideLayouts/slideLayout1.xml" Id="R97ecfa09b49f464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7ecfa09b49f46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25c1ba8138a4a26" /><Relationship Type="http://schemas.openxmlformats.org/officeDocument/2006/relationships/notesSlide" Target="/ppt/notesSlides/notesSlide1.xml" Id="R2cf25b6d67e14e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570b1d6a64041ec" /><Relationship Type="http://schemas.openxmlformats.org/officeDocument/2006/relationships/notesSlide" Target="/ppt/notesSlides/notesSlide2.xml" Id="Rc9421556d1bd47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ee6d532244c4ea0" /><Relationship Type="http://schemas.openxmlformats.org/officeDocument/2006/relationships/notesSlide" Target="/ppt/notesSlides/notesSlide3.xml" Id="R7047c8ef06f245c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181df24603340c9" /><Relationship Type="http://schemas.openxmlformats.org/officeDocument/2006/relationships/notesSlide" Target="/ppt/notesSlides/notesSlide4.xml" Id="R9751001dcbe64a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12bc0c2a57f4a82" /><Relationship Type="http://schemas.openxmlformats.org/officeDocument/2006/relationships/notesSlide" Target="/ppt/notesSlides/notesSlide5.xml" Id="R832c978f74d0486d" /></Relationships>
</file>

<file path=ppt/slides/slide1.xml><?xml version="1.0" encoding="utf-8"?>
<p:sld xmlns:p="http://schemas.openxmlformats.org/presentationml/2006/main">
  <p:cSld>
    <p:bg>
      <p:bgPr>
        <a:solidFill xmlns:a="http://schemas.openxmlformats.org/drawingml/2006/main">
          <a:srgbClr val="F8FA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0759041-DA33-4C95-903F-724148CE4F4A}"/>
              </a:ext>
            </a:extLst>
          </p:cNvPr>
          <p:cNvSpPr>
            <a:spLocks xmlns:a="http://schemas.openxmlformats.org/drawingml/2006/main" noGrp="1"/>
          </p:cNvSpPr>
          <p:nvPr/>
        </p:nvSpPr>
        <p:spPr>
          <a:xfrm xmlns:a="http://schemas.openxmlformats.org/drawingml/2006/main">
            <a:off x="609600" y="514350"/>
            <a:ext cx="95250" cy="523875"/>
          </a:xfrm>
          <a:prstGeom xmlns:a="http://schemas.openxmlformats.org/drawingml/2006/main" prst="rect">
            <a:avLst/>
          </a:prstGeom>
          <a:solidFill xmlns:a="http://schemas.openxmlformats.org/drawingml/2006/main">
            <a:srgbClr val="047A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9AF6BA-3A60-4E2C-98A8-C505F87A292A}"/>
              </a:ext>
            </a:extLst>
          </p:cNvPr>
          <p:cNvSpPr>
            <a:spLocks xmlns:a="http://schemas.openxmlformats.org/drawingml/2006/main" noGrp="1"/>
          </p:cNvSpPr>
          <p:nvPr/>
        </p:nvSpPr>
        <p:spPr>
          <a:xfrm xmlns:a="http://schemas.openxmlformats.org/drawingml/2006/main">
            <a:off x="914400" y="495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B38"/>
                </a:solidFill>
                <a:latin typeface="Bitstream Charter"/>
                <a:ea typeface="Bitstream Charter"/>
                <a:cs typeface="Bitstream Charter"/>
              </a:defRPr>
            </a:pPr>
            <a:r>
              <a:rPr sz="3000" b="1">
                <a:solidFill>
                  <a:srgbClr val="142B38"/>
                </a:solidFill>
                <a:latin typeface="Bitstream Charter"/>
                <a:ea typeface="Bitstream Charter"/>
                <a:cs typeface="Bitstream Charter"/>
              </a:rPr>
              <a:t>Policy answers that lead to a reviewed action</a:t>
            </a:r>
          </a:p>
        </p:txBody>
      </p:sp>
      <p:sp>
        <p:nvSpPr>
          <p:cNvPr id="3" name="">
            <a:extLst xmlns:a="http://schemas.openxmlformats.org/drawingml/2006/main">
              <a:ext uri="{FF2B5EF4-FFF2-40B4-BE49-F238E27FC236}">
                <a16:creationId xmlns:a16="http://schemas.microsoft.com/office/drawing/2014/main" id="{35E8DC3D-1A46-43F7-8320-809517368290}"/>
              </a:ext>
            </a:extLst>
          </p:cNvPr>
          <p:cNvSpPr>
            <a:spLocks xmlns:a="http://schemas.openxmlformats.org/drawingml/2006/main" noGrp="1"/>
          </p:cNvSpPr>
          <p:nvPr/>
        </p:nvSpPr>
        <p:spPr>
          <a:xfrm xmlns:a="http://schemas.openxmlformats.org/drawingml/2006/main">
            <a:off x="914400" y="1638300"/>
            <a:ext cx="952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050" b="1">
                <a:solidFill>
                  <a:srgbClr val="142B38"/>
                </a:solidFill>
                <a:latin typeface="Bitstream Charter"/>
                <a:ea typeface="Bitstream Charter"/>
                <a:cs typeface="Bitstream Charter"/>
              </a:defRPr>
            </a:pPr>
            <a:r>
              <a:rPr sz="4050" b="1">
                <a:solidFill>
                  <a:srgbClr val="142B38"/>
                </a:solidFill>
                <a:latin typeface="Bitstream Charter"/>
                <a:ea typeface="Bitstream Charter"/>
                <a:cs typeface="Bitstream Charter"/>
              </a:rPr>
              <a:t>Cedarbridge Bank</a:t>
            </a:r>
          </a:p>
        </p:txBody>
      </p:sp>
      <p:sp>
        <p:nvSpPr>
          <p:cNvPr id="4" name="">
            <a:extLst xmlns:a="http://schemas.openxmlformats.org/drawingml/2006/main">
              <a:ext uri="{FF2B5EF4-FFF2-40B4-BE49-F238E27FC236}">
                <a16:creationId xmlns:a16="http://schemas.microsoft.com/office/drawing/2014/main" id="{4058ED4D-05CB-4287-B421-C26FE54D95B0}"/>
              </a:ext>
            </a:extLst>
          </p:cNvPr>
          <p:cNvSpPr>
            <a:spLocks xmlns:a="http://schemas.openxmlformats.org/drawingml/2006/main" noGrp="1"/>
          </p:cNvSpPr>
          <p:nvPr/>
        </p:nvSpPr>
        <p:spPr>
          <a:xfrm xmlns:a="http://schemas.openxmlformats.org/drawingml/2006/main">
            <a:off x="933450" y="2409825"/>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06673"/>
                </a:solidFill>
                <a:latin typeface="Bitstream Charter"/>
                <a:ea typeface="Bitstream Charter"/>
                <a:cs typeface="Bitstream Charter"/>
              </a:defRPr>
            </a:pPr>
            <a:r>
              <a:rPr sz="1800" b="0">
                <a:solidFill>
                  <a:srgbClr val="506673"/>
                </a:solidFill>
                <a:latin typeface="Bitstream Charter"/>
                <a:ea typeface="Bitstream Charter"/>
                <a:cs typeface="Bitstream Charter"/>
              </a:rPr>
              <a:t>A fictional financial-services customer</a:t>
            </a:r>
          </a:p>
        </p:txBody>
      </p:sp>
      <p:sp>
        <p:nvSpPr>
          <p:cNvPr id="5" name="">
            <a:extLst xmlns:a="http://schemas.openxmlformats.org/drawingml/2006/main">
              <a:ext uri="{FF2B5EF4-FFF2-40B4-BE49-F238E27FC236}">
                <a16:creationId xmlns:a16="http://schemas.microsoft.com/office/drawing/2014/main" id="{DD4CA23B-A836-4EC5-BD0B-559D4259091E}"/>
              </a:ext>
            </a:extLst>
          </p:cNvPr>
          <p:cNvSpPr>
            <a:spLocks xmlns:a="http://schemas.openxmlformats.org/drawingml/2006/main" noGrp="1"/>
          </p:cNvSpPr>
          <p:nvPr/>
        </p:nvSpPr>
        <p:spPr>
          <a:xfrm xmlns:a="http://schemas.openxmlformats.org/drawingml/2006/main">
            <a:off x="914400" y="3114675"/>
            <a:ext cx="10363200" cy="19050"/>
          </a:xfrm>
          <a:prstGeom xmlns:a="http://schemas.openxmlformats.org/drawingml/2006/main" prst="rect">
            <a:avLst/>
          </a:prstGeom>
          <a:solidFill xmlns:a="http://schemas.openxmlformats.org/drawingml/2006/main">
            <a:srgbClr val="C7D8D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BA61200-1651-49A1-8EAD-26E03D937663}"/>
              </a:ext>
            </a:extLst>
          </p:cNvPr>
          <p:cNvSpPr>
            <a:spLocks xmlns:a="http://schemas.openxmlformats.org/drawingml/2006/main" noGrp="1"/>
          </p:cNvSpPr>
          <p:nvPr/>
        </p:nvSpPr>
        <p:spPr>
          <a:xfrm xmlns:a="http://schemas.openxmlformats.org/drawingml/2006/main">
            <a:off x="914400" y="3543300"/>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047A78"/>
                </a:solidFill>
                <a:latin typeface="Bitstream Charter"/>
                <a:ea typeface="Bitstream Charter"/>
                <a:cs typeface="Bitstream Charter"/>
              </a:defRPr>
            </a:pPr>
            <a:r>
              <a:rPr sz="1950" b="1">
                <a:solidFill>
                  <a:srgbClr val="047A78"/>
                </a:solidFill>
                <a:latin typeface="Bitstream Charter"/>
                <a:ea typeface="Bitstream Charter"/>
                <a:cs typeface="Bitstream Charter"/>
              </a:rPr>
              <a:t>The problem</a:t>
            </a:r>
          </a:p>
        </p:txBody>
      </p:sp>
      <p:sp>
        <p:nvSpPr>
          <p:cNvPr id="7" name="">
            <a:extLst xmlns:a="http://schemas.openxmlformats.org/drawingml/2006/main">
              <a:ext uri="{FF2B5EF4-FFF2-40B4-BE49-F238E27FC236}">
                <a16:creationId xmlns:a16="http://schemas.microsoft.com/office/drawing/2014/main" id="{2B4CF0D5-3BEC-4EC5-B9D4-0379A7E72903}"/>
              </a:ext>
            </a:extLst>
          </p:cNvPr>
          <p:cNvSpPr>
            <a:spLocks xmlns:a="http://schemas.openxmlformats.org/drawingml/2006/main" noGrp="1"/>
          </p:cNvSpPr>
          <p:nvPr/>
        </p:nvSpPr>
        <p:spPr>
          <a:xfrm xmlns:a="http://schemas.openxmlformats.org/drawingml/2006/main">
            <a:off x="4095750" y="3486150"/>
            <a:ext cx="69342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B38"/>
                </a:solidFill>
                <a:latin typeface="Bitstream Charter"/>
                <a:ea typeface="Bitstream Charter"/>
                <a:cs typeface="Bitstream Charter"/>
              </a:defRPr>
            </a:pPr>
            <a:r>
              <a:rPr sz="2325" b="0">
                <a:solidFill>
                  <a:srgbClr val="142B38"/>
                </a:solidFill>
                <a:latin typeface="Bitstream Charter"/>
                <a:ea typeface="Bitstream Charter"/>
                <a:cs typeface="Bitstream Charter"/>
              </a:rPr>
              <a:t>Operations staff search separate policies and manually route AI-use and vendor-risk questions.</a:t>
            </a:r>
          </a:p>
        </p:txBody>
      </p:sp>
      <p:sp>
        <p:nvSpPr>
          <p:cNvPr id="8" name="">
            <a:extLst xmlns:a="http://schemas.openxmlformats.org/drawingml/2006/main">
              <a:ext uri="{FF2B5EF4-FFF2-40B4-BE49-F238E27FC236}">
                <a16:creationId xmlns:a16="http://schemas.microsoft.com/office/drawing/2014/main" id="{A87D93A6-DC4B-4CA1-B952-6F2F3812FC3F}"/>
              </a:ext>
            </a:extLst>
          </p:cNvPr>
          <p:cNvSpPr>
            <a:spLocks xmlns:a="http://schemas.openxmlformats.org/drawingml/2006/main" noGrp="1"/>
          </p:cNvSpPr>
          <p:nvPr/>
        </p:nvSpPr>
        <p:spPr>
          <a:xfrm xmlns:a="http://schemas.openxmlformats.org/drawingml/2006/main">
            <a:off x="914400" y="496252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047A78"/>
                </a:solidFill>
                <a:latin typeface="Bitstream Charter"/>
                <a:ea typeface="Bitstream Charter"/>
                <a:cs typeface="Bitstream Charter"/>
              </a:defRPr>
            </a:pPr>
            <a:r>
              <a:rPr sz="1950" b="1">
                <a:solidFill>
                  <a:srgbClr val="047A78"/>
                </a:solidFill>
                <a:latin typeface="Bitstream Charter"/>
                <a:ea typeface="Bitstream Charter"/>
                <a:cs typeface="Bitstream Charter"/>
              </a:rPr>
              <a:t>The proposed workflow</a:t>
            </a:r>
          </a:p>
        </p:txBody>
      </p:sp>
      <p:sp>
        <p:nvSpPr>
          <p:cNvPr id="9" name="">
            <a:extLst xmlns:a="http://schemas.openxmlformats.org/drawingml/2006/main">
              <a:ext uri="{FF2B5EF4-FFF2-40B4-BE49-F238E27FC236}">
                <a16:creationId xmlns:a16="http://schemas.microsoft.com/office/drawing/2014/main" id="{FFD38A28-B639-41D8-B275-B074ADA9E397}"/>
              </a:ext>
            </a:extLst>
          </p:cNvPr>
          <p:cNvSpPr>
            <a:spLocks xmlns:a="http://schemas.openxmlformats.org/drawingml/2006/main" noGrp="1"/>
          </p:cNvSpPr>
          <p:nvPr/>
        </p:nvSpPr>
        <p:spPr>
          <a:xfrm xmlns:a="http://schemas.openxmlformats.org/drawingml/2006/main">
            <a:off x="4095750" y="4905375"/>
            <a:ext cx="6934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B38"/>
                </a:solidFill>
                <a:latin typeface="Bitstream Charter"/>
                <a:ea typeface="Bitstream Charter"/>
                <a:cs typeface="Bitstream Charter"/>
              </a:defRPr>
            </a:pPr>
            <a:r>
              <a:rPr sz="2325" b="0">
                <a:solidFill>
                  <a:srgbClr val="142B38"/>
                </a:solidFill>
                <a:latin typeface="Bitstream Charter"/>
                <a:ea typeface="Bitstream Charter"/>
                <a:cs typeface="Bitstream Charter"/>
              </a:rPr>
              <a:t>Retrieve the policy, recommend a queue, then let a human approve creation of a review case.</a:t>
            </a:r>
          </a:p>
        </p:txBody>
      </p:sp>
    </p:spTree>
    <p:extLst>
      <p:ext uri="{BB962C8B-B14F-4D97-AF65-F5344CB8AC3E}">
        <p14:creationId xmlns:p14="http://schemas.microsoft.com/office/powerpoint/2010/main" val="787007884"/>
      </p:ext>
    </p:extLst>
  </p:cSld>
</p:sld>
</file>

<file path=ppt/slides/slide2.xml><?xml version="1.0" encoding="utf-8"?>
<p:sld xmlns:p="http://schemas.openxmlformats.org/presentationml/2006/main">
  <p:cSld>
    <p:bg>
      <p:bgPr>
        <a:solidFill xmlns:a="http://schemas.openxmlformats.org/drawingml/2006/main">
          <a:srgbClr val="F8FAF9"/>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F2B4843-893C-448F-B2AB-CDF4BF567027}"/>
              </a:ext>
            </a:extLst>
          </p:cNvPr>
          <p:cNvSpPr>
            <a:spLocks xmlns:a="http://schemas.openxmlformats.org/drawingml/2006/main" noGrp="1"/>
          </p:cNvSpPr>
          <p:nvPr/>
        </p:nvSpPr>
        <p:spPr>
          <a:xfrm xmlns:a="http://schemas.openxmlformats.org/drawingml/2006/main">
            <a:off x="609600" y="514350"/>
            <a:ext cx="95250" cy="523875"/>
          </a:xfrm>
          <a:prstGeom xmlns:a="http://schemas.openxmlformats.org/drawingml/2006/main" prst="rect">
            <a:avLst/>
          </a:prstGeom>
          <a:solidFill xmlns:a="http://schemas.openxmlformats.org/drawingml/2006/main">
            <a:srgbClr val="047A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32ACBE-61CA-460D-AFA3-8A2B69C3C243}"/>
              </a:ext>
            </a:extLst>
          </p:cNvPr>
          <p:cNvSpPr>
            <a:spLocks xmlns:a="http://schemas.openxmlformats.org/drawingml/2006/main" noGrp="1"/>
          </p:cNvSpPr>
          <p:nvPr/>
        </p:nvSpPr>
        <p:spPr>
          <a:xfrm xmlns:a="http://schemas.openxmlformats.org/drawingml/2006/main">
            <a:off x="914400" y="495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B38"/>
                </a:solidFill>
                <a:latin typeface="Bitstream Charter"/>
                <a:ea typeface="Bitstream Charter"/>
                <a:cs typeface="Bitstream Charter"/>
              </a:defRPr>
            </a:pPr>
            <a:r>
              <a:rPr sz="3000" b="1">
                <a:solidFill>
                  <a:srgbClr val="142B38"/>
                </a:solidFill>
                <a:latin typeface="Bitstream Charter"/>
                <a:ea typeface="Bitstream Charter"/>
                <a:cs typeface="Bitstream Charter"/>
              </a:rPr>
              <a:t>A small use case with measurable business value</a:t>
            </a:r>
          </a:p>
        </p:txBody>
      </p:sp>
      <p:sp>
        <p:nvSpPr>
          <p:cNvPr id="3" name="">
            <a:extLst xmlns:a="http://schemas.openxmlformats.org/drawingml/2006/main">
              <a:ext uri="{FF2B5EF4-FFF2-40B4-BE49-F238E27FC236}">
                <a16:creationId xmlns:a16="http://schemas.microsoft.com/office/drawing/2014/main" id="{423AA037-7306-4647-AB24-5CAC3D9E2653}"/>
              </a:ext>
            </a:extLst>
          </p:cNvPr>
          <p:cNvSpPr>
            <a:spLocks xmlns:a="http://schemas.openxmlformats.org/drawingml/2006/main" noGrp="1"/>
          </p:cNvSpPr>
          <p:nvPr/>
        </p:nvSpPr>
        <p:spPr>
          <a:xfrm xmlns:a="http://schemas.openxmlformats.org/drawingml/2006/main">
            <a:off x="914400" y="1600200"/>
            <a:ext cx="32670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047A78"/>
                </a:solidFill>
                <a:latin typeface="Bitstream Charter"/>
                <a:ea typeface="Bitstream Charter"/>
                <a:cs typeface="Bitstream Charter"/>
              </a:defRPr>
            </a:pPr>
            <a:r>
              <a:rPr sz="1800" b="1">
                <a:solidFill>
                  <a:srgbClr val="047A78"/>
                </a:solidFill>
                <a:latin typeface="Bitstream Charter"/>
                <a:ea typeface="Bitstream Charter"/>
                <a:cs typeface="Bitstream Charter"/>
              </a:rPr>
              <a:t>Current pain</a:t>
            </a:r>
          </a:p>
        </p:txBody>
      </p:sp>
      <p:sp>
        <p:nvSpPr>
          <p:cNvPr id="4" name="">
            <a:extLst xmlns:a="http://schemas.openxmlformats.org/drawingml/2006/main">
              <a:ext uri="{FF2B5EF4-FFF2-40B4-BE49-F238E27FC236}">
                <a16:creationId xmlns:a16="http://schemas.microsoft.com/office/drawing/2014/main" id="{F911BB49-F35E-45E0-BCA0-11D48580020D}"/>
              </a:ext>
            </a:extLst>
          </p:cNvPr>
          <p:cNvSpPr>
            <a:spLocks xmlns:a="http://schemas.openxmlformats.org/drawingml/2006/main" noGrp="1"/>
          </p:cNvSpPr>
          <p:nvPr/>
        </p:nvSpPr>
        <p:spPr>
          <a:xfrm xmlns:a="http://schemas.openxmlformats.org/drawingml/2006/main">
            <a:off x="4391025" y="1600200"/>
            <a:ext cx="32670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047A78"/>
                </a:solidFill>
                <a:latin typeface="Bitstream Charter"/>
                <a:ea typeface="Bitstream Charter"/>
                <a:cs typeface="Bitstream Charter"/>
              </a:defRPr>
            </a:pPr>
            <a:r>
              <a:rPr sz="1800" b="1">
                <a:solidFill>
                  <a:srgbClr val="047A78"/>
                </a:solidFill>
                <a:latin typeface="Bitstream Charter"/>
                <a:ea typeface="Bitstream Charter"/>
                <a:cs typeface="Bitstream Charter"/>
              </a:rPr>
              <a:t>Expected improvement</a:t>
            </a:r>
          </a:p>
        </p:txBody>
      </p:sp>
      <p:sp>
        <p:nvSpPr>
          <p:cNvPr id="5" name="">
            <a:extLst xmlns:a="http://schemas.openxmlformats.org/drawingml/2006/main">
              <a:ext uri="{FF2B5EF4-FFF2-40B4-BE49-F238E27FC236}">
                <a16:creationId xmlns:a16="http://schemas.microsoft.com/office/drawing/2014/main" id="{80CE0A70-602D-4F75-BD73-91102032CCDE}"/>
              </a:ext>
            </a:extLst>
          </p:cNvPr>
          <p:cNvSpPr>
            <a:spLocks xmlns:a="http://schemas.openxmlformats.org/drawingml/2006/main" noGrp="1"/>
          </p:cNvSpPr>
          <p:nvPr/>
        </p:nvSpPr>
        <p:spPr>
          <a:xfrm xmlns:a="http://schemas.openxmlformats.org/drawingml/2006/main">
            <a:off x="7867650" y="1600200"/>
            <a:ext cx="32670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047A78"/>
                </a:solidFill>
                <a:latin typeface="Bitstream Charter"/>
                <a:ea typeface="Bitstream Charter"/>
                <a:cs typeface="Bitstream Charter"/>
              </a:defRPr>
            </a:pPr>
            <a:r>
              <a:rPr sz="1800" b="1">
                <a:solidFill>
                  <a:srgbClr val="047A78"/>
                </a:solidFill>
                <a:latin typeface="Bitstream Charter"/>
                <a:ea typeface="Bitstream Charter"/>
                <a:cs typeface="Bitstream Charter"/>
              </a:rPr>
              <a:t>Pilot measure</a:t>
            </a:r>
          </a:p>
        </p:txBody>
      </p:sp>
      <p:sp>
        <p:nvSpPr>
          <p:cNvPr id="6" name="">
            <a:extLst xmlns:a="http://schemas.openxmlformats.org/drawingml/2006/main">
              <a:ext uri="{FF2B5EF4-FFF2-40B4-BE49-F238E27FC236}">
                <a16:creationId xmlns:a16="http://schemas.microsoft.com/office/drawing/2014/main" id="{ACDCA29C-12C8-43A3-A960-4E6C8BF4BABA}"/>
              </a:ext>
            </a:extLst>
          </p:cNvPr>
          <p:cNvSpPr>
            <a:spLocks xmlns:a="http://schemas.openxmlformats.org/drawingml/2006/main" noGrp="1"/>
          </p:cNvSpPr>
          <p:nvPr/>
        </p:nvSpPr>
        <p:spPr>
          <a:xfrm xmlns:a="http://schemas.openxmlformats.org/drawingml/2006/main">
            <a:off x="914400" y="2257425"/>
            <a:ext cx="10363200" cy="9525"/>
          </a:xfrm>
          <a:prstGeom xmlns:a="http://schemas.openxmlformats.org/drawingml/2006/main" prst="rect">
            <a:avLst/>
          </a:prstGeom>
          <a:solidFill xmlns:a="http://schemas.openxmlformats.org/drawingml/2006/main">
            <a:srgbClr val="C7D8D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153B2C6-AE4B-4B41-A41E-4A7B5433AD24}"/>
              </a:ext>
            </a:extLst>
          </p:cNvPr>
          <p:cNvSpPr>
            <a:spLocks xmlns:a="http://schemas.openxmlformats.org/drawingml/2006/main" noGrp="1"/>
          </p:cNvSpPr>
          <p:nvPr/>
        </p:nvSpPr>
        <p:spPr>
          <a:xfrm xmlns:a="http://schemas.openxmlformats.org/drawingml/2006/main">
            <a:off x="914400" y="2409825"/>
            <a:ext cx="31718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2B38"/>
                </a:solidFill>
                <a:latin typeface="Bitstream Charter"/>
                <a:ea typeface="Bitstream Charter"/>
                <a:cs typeface="Bitstream Charter"/>
              </a:defRPr>
            </a:pPr>
            <a:r>
              <a:rPr sz="1950" b="1">
                <a:solidFill>
                  <a:srgbClr val="142B38"/>
                </a:solidFill>
                <a:latin typeface="Bitstream Charter"/>
                <a:ea typeface="Bitstream Charter"/>
                <a:cs typeface="Bitstream Charter"/>
              </a:rPr>
              <a:t>Policy lookup</a:t>
            </a:r>
          </a:p>
        </p:txBody>
      </p:sp>
      <p:sp>
        <p:nvSpPr>
          <p:cNvPr id="8" name="">
            <a:extLst xmlns:a="http://schemas.openxmlformats.org/drawingml/2006/main">
              <a:ext uri="{FF2B5EF4-FFF2-40B4-BE49-F238E27FC236}">
                <a16:creationId xmlns:a16="http://schemas.microsoft.com/office/drawing/2014/main" id="{3610D3C3-6ECC-4E32-9023-C8619052671E}"/>
              </a:ext>
            </a:extLst>
          </p:cNvPr>
          <p:cNvSpPr>
            <a:spLocks xmlns:a="http://schemas.openxmlformats.org/drawingml/2006/main" noGrp="1"/>
          </p:cNvSpPr>
          <p:nvPr/>
        </p:nvSpPr>
        <p:spPr>
          <a:xfrm xmlns:a="http://schemas.openxmlformats.org/drawingml/2006/main">
            <a:off x="4391025" y="2409825"/>
            <a:ext cx="31718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38"/>
                </a:solidFill>
                <a:latin typeface="Bitstream Charter"/>
                <a:ea typeface="Bitstream Charter"/>
                <a:cs typeface="Bitstream Charter"/>
              </a:defRPr>
            </a:pPr>
            <a:r>
              <a:rPr sz="1950" b="0">
                <a:solidFill>
                  <a:srgbClr val="142B38"/>
                </a:solidFill>
                <a:latin typeface="Bitstream Charter"/>
                <a:ea typeface="Bitstream Charter"/>
                <a:cs typeface="Bitstream Charter"/>
              </a:rPr>
              <a:t>One view of relevant, cited excerpts</a:t>
            </a:r>
          </a:p>
        </p:txBody>
      </p:sp>
      <p:sp>
        <p:nvSpPr>
          <p:cNvPr id="9" name="">
            <a:extLst xmlns:a="http://schemas.openxmlformats.org/drawingml/2006/main">
              <a:ext uri="{FF2B5EF4-FFF2-40B4-BE49-F238E27FC236}">
                <a16:creationId xmlns:a16="http://schemas.microsoft.com/office/drawing/2014/main" id="{AE5382D8-E6C5-45AB-B00A-FEA6738E06CA}"/>
              </a:ext>
            </a:extLst>
          </p:cNvPr>
          <p:cNvSpPr>
            <a:spLocks xmlns:a="http://schemas.openxmlformats.org/drawingml/2006/main" noGrp="1"/>
          </p:cNvSpPr>
          <p:nvPr/>
        </p:nvSpPr>
        <p:spPr>
          <a:xfrm xmlns:a="http://schemas.openxmlformats.org/drawingml/2006/main">
            <a:off x="7867650" y="2409825"/>
            <a:ext cx="31718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38"/>
                </a:solidFill>
                <a:latin typeface="Bitstream Charter"/>
                <a:ea typeface="Bitstream Charter"/>
                <a:cs typeface="Bitstream Charter"/>
              </a:defRPr>
            </a:pPr>
            <a:r>
              <a:rPr sz="1950" b="0">
                <a:solidFill>
                  <a:srgbClr val="142B38"/>
                </a:solidFill>
                <a:latin typeface="Bitstream Charter"/>
                <a:ea typeface="Bitstream Charter"/>
                <a:cs typeface="Bitstream Charter"/>
              </a:rPr>
              <a:t>Time to locate supporting evidence</a:t>
            </a:r>
          </a:p>
        </p:txBody>
      </p:sp>
      <p:sp>
        <p:nvSpPr>
          <p:cNvPr id="10" name="">
            <a:extLst xmlns:a="http://schemas.openxmlformats.org/drawingml/2006/main">
              <a:ext uri="{FF2B5EF4-FFF2-40B4-BE49-F238E27FC236}">
                <a16:creationId xmlns:a16="http://schemas.microsoft.com/office/drawing/2014/main" id="{3AC69059-7FF4-496A-9DF9-563C5AFE0864}"/>
              </a:ext>
            </a:extLst>
          </p:cNvPr>
          <p:cNvSpPr>
            <a:spLocks xmlns:a="http://schemas.openxmlformats.org/drawingml/2006/main" noGrp="1"/>
          </p:cNvSpPr>
          <p:nvPr/>
        </p:nvSpPr>
        <p:spPr>
          <a:xfrm xmlns:a="http://schemas.openxmlformats.org/drawingml/2006/main">
            <a:off x="914400" y="3409950"/>
            <a:ext cx="10363200" cy="9525"/>
          </a:xfrm>
          <a:prstGeom xmlns:a="http://schemas.openxmlformats.org/drawingml/2006/main" prst="rect">
            <a:avLst/>
          </a:prstGeom>
          <a:solidFill xmlns:a="http://schemas.openxmlformats.org/drawingml/2006/main">
            <a:srgbClr val="C7D8D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5FEAE44-33CF-457E-B9B2-C348DF62CECA}"/>
              </a:ext>
            </a:extLst>
          </p:cNvPr>
          <p:cNvSpPr>
            <a:spLocks xmlns:a="http://schemas.openxmlformats.org/drawingml/2006/main" noGrp="1"/>
          </p:cNvSpPr>
          <p:nvPr/>
        </p:nvSpPr>
        <p:spPr>
          <a:xfrm xmlns:a="http://schemas.openxmlformats.org/drawingml/2006/main">
            <a:off x="914400" y="3562350"/>
            <a:ext cx="31718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2B38"/>
                </a:solidFill>
                <a:latin typeface="Bitstream Charter"/>
                <a:ea typeface="Bitstream Charter"/>
                <a:cs typeface="Bitstream Charter"/>
              </a:defRPr>
            </a:pPr>
            <a:r>
              <a:rPr sz="1950" b="1">
                <a:solidFill>
                  <a:srgbClr val="142B38"/>
                </a:solidFill>
                <a:latin typeface="Bitstream Charter"/>
                <a:ea typeface="Bitstream Charter"/>
                <a:cs typeface="Bitstream Charter"/>
              </a:rPr>
              <a:t>Routing consistency</a:t>
            </a:r>
          </a:p>
        </p:txBody>
      </p:sp>
      <p:sp>
        <p:nvSpPr>
          <p:cNvPr id="12" name="">
            <a:extLst xmlns:a="http://schemas.openxmlformats.org/drawingml/2006/main">
              <a:ext uri="{FF2B5EF4-FFF2-40B4-BE49-F238E27FC236}">
                <a16:creationId xmlns:a16="http://schemas.microsoft.com/office/drawing/2014/main" id="{E825FBDC-D335-4EFC-8825-626CD25AAECF}"/>
              </a:ext>
            </a:extLst>
          </p:cNvPr>
          <p:cNvSpPr>
            <a:spLocks xmlns:a="http://schemas.openxmlformats.org/drawingml/2006/main" noGrp="1"/>
          </p:cNvSpPr>
          <p:nvPr/>
        </p:nvSpPr>
        <p:spPr>
          <a:xfrm xmlns:a="http://schemas.openxmlformats.org/drawingml/2006/main">
            <a:off x="4391025" y="3562350"/>
            <a:ext cx="31718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38"/>
                </a:solidFill>
                <a:latin typeface="Bitstream Charter"/>
                <a:ea typeface="Bitstream Charter"/>
                <a:cs typeface="Bitstream Charter"/>
              </a:defRPr>
            </a:pPr>
            <a:r>
              <a:rPr sz="1950" b="0">
                <a:solidFill>
                  <a:srgbClr val="142B38"/>
                </a:solidFill>
                <a:latin typeface="Bitstream Charter"/>
                <a:ea typeface="Bitstream Charter"/>
                <a:cs typeface="Bitstream Charter"/>
              </a:rPr>
              <a:t>A queue constrained by the policy</a:t>
            </a:r>
          </a:p>
        </p:txBody>
      </p:sp>
      <p:sp>
        <p:nvSpPr>
          <p:cNvPr id="13" name="">
            <a:extLst xmlns:a="http://schemas.openxmlformats.org/drawingml/2006/main">
              <a:ext uri="{FF2B5EF4-FFF2-40B4-BE49-F238E27FC236}">
                <a16:creationId xmlns:a16="http://schemas.microsoft.com/office/drawing/2014/main" id="{25EF3F22-98E1-4A59-87B1-2A2195748ECB}"/>
              </a:ext>
            </a:extLst>
          </p:cNvPr>
          <p:cNvSpPr>
            <a:spLocks xmlns:a="http://schemas.openxmlformats.org/drawingml/2006/main" noGrp="1"/>
          </p:cNvSpPr>
          <p:nvPr/>
        </p:nvSpPr>
        <p:spPr>
          <a:xfrm xmlns:a="http://schemas.openxmlformats.org/drawingml/2006/main">
            <a:off x="7867650" y="3562350"/>
            <a:ext cx="31718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38"/>
                </a:solidFill>
                <a:latin typeface="Bitstream Charter"/>
                <a:ea typeface="Bitstream Charter"/>
                <a:cs typeface="Bitstream Charter"/>
              </a:defRPr>
            </a:pPr>
            <a:r>
              <a:rPr sz="1950" b="0">
                <a:solidFill>
                  <a:srgbClr val="142B38"/>
                </a:solidFill>
                <a:latin typeface="Bitstream Charter"/>
                <a:ea typeface="Bitstream Charter"/>
                <a:cs typeface="Bitstream Charter"/>
              </a:rPr>
              <a:t>Correct queue and reviewer override rate</a:t>
            </a:r>
          </a:p>
        </p:txBody>
      </p:sp>
      <p:sp>
        <p:nvSpPr>
          <p:cNvPr id="14" name="">
            <a:extLst xmlns:a="http://schemas.openxmlformats.org/drawingml/2006/main">
              <a:ext uri="{FF2B5EF4-FFF2-40B4-BE49-F238E27FC236}">
                <a16:creationId xmlns:a16="http://schemas.microsoft.com/office/drawing/2014/main" id="{669649CA-B339-4997-8AA1-5CF9519034DB}"/>
              </a:ext>
            </a:extLst>
          </p:cNvPr>
          <p:cNvSpPr>
            <a:spLocks xmlns:a="http://schemas.openxmlformats.org/drawingml/2006/main" noGrp="1"/>
          </p:cNvSpPr>
          <p:nvPr/>
        </p:nvSpPr>
        <p:spPr>
          <a:xfrm xmlns:a="http://schemas.openxmlformats.org/drawingml/2006/main">
            <a:off x="914400" y="4562475"/>
            <a:ext cx="10363200" cy="9525"/>
          </a:xfrm>
          <a:prstGeom xmlns:a="http://schemas.openxmlformats.org/drawingml/2006/main" prst="rect">
            <a:avLst/>
          </a:prstGeom>
          <a:solidFill xmlns:a="http://schemas.openxmlformats.org/drawingml/2006/main">
            <a:srgbClr val="C7D8DC"/>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B58E6E7-FE05-44AD-A862-795E7C8A0CF7}"/>
              </a:ext>
            </a:extLst>
          </p:cNvPr>
          <p:cNvSpPr>
            <a:spLocks xmlns:a="http://schemas.openxmlformats.org/drawingml/2006/main" noGrp="1"/>
          </p:cNvSpPr>
          <p:nvPr/>
        </p:nvSpPr>
        <p:spPr>
          <a:xfrm xmlns:a="http://schemas.openxmlformats.org/drawingml/2006/main">
            <a:off x="914400" y="4714875"/>
            <a:ext cx="31718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2B38"/>
                </a:solidFill>
                <a:latin typeface="Bitstream Charter"/>
                <a:ea typeface="Bitstream Charter"/>
                <a:cs typeface="Bitstream Charter"/>
              </a:defRPr>
            </a:pPr>
            <a:r>
              <a:rPr sz="1950" b="1">
                <a:solidFill>
                  <a:srgbClr val="142B38"/>
                </a:solidFill>
                <a:latin typeface="Bitstream Charter"/>
                <a:ea typeface="Bitstream Charter"/>
                <a:cs typeface="Bitstream Charter"/>
              </a:rPr>
              <a:t>Controlled handoff</a:t>
            </a:r>
          </a:p>
        </p:txBody>
      </p:sp>
      <p:sp>
        <p:nvSpPr>
          <p:cNvPr id="16" name="">
            <a:extLst xmlns:a="http://schemas.openxmlformats.org/drawingml/2006/main">
              <a:ext uri="{FF2B5EF4-FFF2-40B4-BE49-F238E27FC236}">
                <a16:creationId xmlns:a16="http://schemas.microsoft.com/office/drawing/2014/main" id="{B9AAF2B2-E6D9-4A60-BBF5-404D5E29A3C5}"/>
              </a:ext>
            </a:extLst>
          </p:cNvPr>
          <p:cNvSpPr>
            <a:spLocks xmlns:a="http://schemas.openxmlformats.org/drawingml/2006/main" noGrp="1"/>
          </p:cNvSpPr>
          <p:nvPr/>
        </p:nvSpPr>
        <p:spPr>
          <a:xfrm xmlns:a="http://schemas.openxmlformats.org/drawingml/2006/main">
            <a:off x="4391025" y="4714875"/>
            <a:ext cx="31718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38"/>
                </a:solidFill>
                <a:latin typeface="Bitstream Charter"/>
                <a:ea typeface="Bitstream Charter"/>
                <a:cs typeface="Bitstream Charter"/>
              </a:defRPr>
            </a:pPr>
            <a:r>
              <a:rPr sz="1950" b="0">
                <a:solidFill>
                  <a:srgbClr val="142B38"/>
                </a:solidFill>
                <a:latin typeface="Bitstream Charter"/>
                <a:ea typeface="Bitstream Charter"/>
                <a:cs typeface="Bitstream Charter"/>
              </a:rPr>
              <a:t>An approved, traceable review case</a:t>
            </a:r>
          </a:p>
        </p:txBody>
      </p:sp>
      <p:sp>
        <p:nvSpPr>
          <p:cNvPr id="17" name="">
            <a:extLst xmlns:a="http://schemas.openxmlformats.org/drawingml/2006/main">
              <a:ext uri="{FF2B5EF4-FFF2-40B4-BE49-F238E27FC236}">
                <a16:creationId xmlns:a16="http://schemas.microsoft.com/office/drawing/2014/main" id="{0BE41253-9478-4282-BFC2-DF1B3B828E62}"/>
              </a:ext>
            </a:extLst>
          </p:cNvPr>
          <p:cNvSpPr>
            <a:spLocks xmlns:a="http://schemas.openxmlformats.org/drawingml/2006/main" noGrp="1"/>
          </p:cNvSpPr>
          <p:nvPr/>
        </p:nvSpPr>
        <p:spPr>
          <a:xfrm xmlns:a="http://schemas.openxmlformats.org/drawingml/2006/main">
            <a:off x="7867650" y="4714875"/>
            <a:ext cx="31718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38"/>
                </a:solidFill>
                <a:latin typeface="Bitstream Charter"/>
                <a:ea typeface="Bitstream Charter"/>
                <a:cs typeface="Bitstream Charter"/>
              </a:defRPr>
            </a:pPr>
            <a:r>
              <a:rPr sz="1950" b="0">
                <a:solidFill>
                  <a:srgbClr val="142B38"/>
                </a:solidFill>
                <a:latin typeface="Bitstream Charter"/>
                <a:ea typeface="Bitstream Charter"/>
                <a:cs typeface="Bitstream Charter"/>
              </a:rPr>
              <a:t>Cases created without approval: zero</a:t>
            </a:r>
          </a:p>
        </p:txBody>
      </p:sp>
      <p:sp>
        <p:nvSpPr>
          <p:cNvPr id="18" name="">
            <a:extLst xmlns:a="http://schemas.openxmlformats.org/drawingml/2006/main">
              <a:ext uri="{FF2B5EF4-FFF2-40B4-BE49-F238E27FC236}">
                <a16:creationId xmlns:a16="http://schemas.microsoft.com/office/drawing/2014/main" id="{71261C35-C8DC-4CD5-90BA-5F4A1F2DB13F}"/>
              </a:ext>
            </a:extLst>
          </p:cNvPr>
          <p:cNvSpPr>
            <a:spLocks xmlns:a="http://schemas.openxmlformats.org/drawingml/2006/main" noGrp="1"/>
          </p:cNvSpPr>
          <p:nvPr/>
        </p:nvSpPr>
        <p:spPr>
          <a:xfrm xmlns:a="http://schemas.openxmlformats.org/drawingml/2006/main">
            <a:off x="914400" y="6115050"/>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3"/>
                </a:solidFill>
                <a:latin typeface="Bitstream Charter"/>
                <a:ea typeface="Bitstream Charter"/>
                <a:cs typeface="Bitstream Charter"/>
              </a:defRPr>
            </a:pPr>
            <a:r>
              <a:rPr sz="1725" b="0">
                <a:solidFill>
                  <a:srgbClr val="506673"/>
                </a:solidFill>
                <a:latin typeface="Bitstream Charter"/>
                <a:ea typeface="Bitstream Charter"/>
                <a:cs typeface="Bitstream Charter"/>
              </a:rPr>
              <a:t>Prioritize: one policy owner, a small corpus, and a reversible case-creation action.</a:t>
            </a:r>
          </a:p>
        </p:txBody>
      </p:sp>
    </p:spTree>
    <p:extLst>
      <p:ext uri="{BB962C8B-B14F-4D97-AF65-F5344CB8AC3E}">
        <p14:creationId xmlns:p14="http://schemas.microsoft.com/office/powerpoint/2010/main" val="573244468"/>
      </p:ext>
    </p:extLst>
  </p:cSld>
</p:sld>
</file>

<file path=ppt/slides/slide3.xml><?xml version="1.0" encoding="utf-8"?>
<p:sld xmlns:p="http://schemas.openxmlformats.org/presentationml/2006/main">
  <p:cSld>
    <p:bg>
      <p:bgPr>
        <a:solidFill xmlns:a="http://schemas.openxmlformats.org/drawingml/2006/main">
          <a:srgbClr val="F8FAF9"/>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C2FC95C-53BC-4B8A-9E96-E350BBBC5906}"/>
              </a:ext>
            </a:extLst>
          </p:cNvPr>
          <p:cNvSpPr>
            <a:spLocks xmlns:a="http://schemas.openxmlformats.org/drawingml/2006/main" noGrp="1"/>
          </p:cNvSpPr>
          <p:nvPr/>
        </p:nvSpPr>
        <p:spPr>
          <a:xfrm xmlns:a="http://schemas.openxmlformats.org/drawingml/2006/main">
            <a:off x="609600" y="514350"/>
            <a:ext cx="95250" cy="523875"/>
          </a:xfrm>
          <a:prstGeom xmlns:a="http://schemas.openxmlformats.org/drawingml/2006/main" prst="rect">
            <a:avLst/>
          </a:prstGeom>
          <a:solidFill xmlns:a="http://schemas.openxmlformats.org/drawingml/2006/main">
            <a:srgbClr val="047A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9F2218-B174-4205-B33F-3F066A239AEF}"/>
              </a:ext>
            </a:extLst>
          </p:cNvPr>
          <p:cNvSpPr>
            <a:spLocks xmlns:a="http://schemas.openxmlformats.org/drawingml/2006/main" noGrp="1"/>
          </p:cNvSpPr>
          <p:nvPr/>
        </p:nvSpPr>
        <p:spPr>
          <a:xfrm xmlns:a="http://schemas.openxmlformats.org/drawingml/2006/main">
            <a:off x="914400" y="495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B38"/>
                </a:solidFill>
                <a:latin typeface="Bitstream Charter"/>
                <a:ea typeface="Bitstream Charter"/>
                <a:cs typeface="Bitstream Charter"/>
              </a:defRPr>
            </a:pPr>
            <a:r>
              <a:rPr sz="3000" b="1">
                <a:solidFill>
                  <a:srgbClr val="142B38"/>
                </a:solidFill>
                <a:latin typeface="Bitstream Charter"/>
                <a:ea typeface="Bitstream Charter"/>
                <a:cs typeface="Bitstream Charter"/>
              </a:rPr>
              <a:t>The agent workflow, end to end</a:t>
            </a:r>
          </a:p>
        </p:txBody>
      </p:sp>
      <p:sp>
        <p:nvSpPr>
          <p:cNvPr id="3" name="">
            <a:extLst xmlns:a="http://schemas.openxmlformats.org/drawingml/2006/main">
              <a:ext uri="{FF2B5EF4-FFF2-40B4-BE49-F238E27FC236}">
                <a16:creationId xmlns:a16="http://schemas.microsoft.com/office/drawing/2014/main" id="{74AB9076-CC60-4CB9-96CA-E95F3B5621B3}"/>
              </a:ext>
            </a:extLst>
          </p:cNvPr>
          <p:cNvSpPr>
            <a:spLocks xmlns:a="http://schemas.openxmlformats.org/drawingml/2006/main" noGrp="1"/>
          </p:cNvSpPr>
          <p:nvPr/>
        </p:nvSpPr>
        <p:spPr>
          <a:xfrm xmlns:a="http://schemas.openxmlformats.org/drawingml/2006/main">
            <a:off x="914400" y="1657350"/>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47A78"/>
                </a:solidFill>
                <a:latin typeface="Bitstream Charter"/>
                <a:ea typeface="Bitstream Charter"/>
                <a:cs typeface="Bitstream Charter"/>
              </a:defRPr>
            </a:pPr>
            <a:r>
              <a:rPr sz="2025" b="1">
                <a:solidFill>
                  <a:srgbClr val="047A78"/>
                </a:solidFill>
                <a:latin typeface="Bitstream Charter"/>
                <a:ea typeface="Bitstream Charter"/>
                <a:cs typeface="Bitstream Charter"/>
              </a:rPr>
              <a:t>1</a:t>
            </a:r>
          </a:p>
        </p:txBody>
      </p:sp>
      <p:sp>
        <p:nvSpPr>
          <p:cNvPr id="4" name="">
            <a:extLst xmlns:a="http://schemas.openxmlformats.org/drawingml/2006/main">
              <a:ext uri="{FF2B5EF4-FFF2-40B4-BE49-F238E27FC236}">
                <a16:creationId xmlns:a16="http://schemas.microsoft.com/office/drawing/2014/main" id="{12CCD592-0038-47AE-81D4-751D489F1FB5}"/>
              </a:ext>
            </a:extLst>
          </p:cNvPr>
          <p:cNvSpPr>
            <a:spLocks xmlns:a="http://schemas.openxmlformats.org/drawingml/2006/main" noGrp="1"/>
          </p:cNvSpPr>
          <p:nvPr/>
        </p:nvSpPr>
        <p:spPr>
          <a:xfrm xmlns:a="http://schemas.openxmlformats.org/drawingml/2006/main">
            <a:off x="1400175" y="1657350"/>
            <a:ext cx="2581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2B38"/>
                </a:solidFill>
                <a:latin typeface="Bitstream Charter"/>
                <a:ea typeface="Bitstream Charter"/>
                <a:cs typeface="Bitstream Charter"/>
              </a:defRPr>
            </a:pPr>
            <a:r>
              <a:rPr sz="2025" b="1">
                <a:solidFill>
                  <a:srgbClr val="142B38"/>
                </a:solidFill>
                <a:latin typeface="Bitstream Charter"/>
                <a:ea typeface="Bitstream Charter"/>
                <a:cs typeface="Bitstream Charter"/>
              </a:rPr>
              <a:t>Request</a:t>
            </a:r>
          </a:p>
        </p:txBody>
      </p:sp>
      <p:sp>
        <p:nvSpPr>
          <p:cNvPr id="5" name="">
            <a:extLst xmlns:a="http://schemas.openxmlformats.org/drawingml/2006/main">
              <a:ext uri="{FF2B5EF4-FFF2-40B4-BE49-F238E27FC236}">
                <a16:creationId xmlns:a16="http://schemas.microsoft.com/office/drawing/2014/main" id="{51DCC8E4-471F-4A1D-8194-0B19C6C18E0A}"/>
              </a:ext>
            </a:extLst>
          </p:cNvPr>
          <p:cNvSpPr>
            <a:spLocks xmlns:a="http://schemas.openxmlformats.org/drawingml/2006/main" noGrp="1"/>
          </p:cNvSpPr>
          <p:nvPr/>
        </p:nvSpPr>
        <p:spPr>
          <a:xfrm xmlns:a="http://schemas.openxmlformats.org/drawingml/2006/main">
            <a:off x="1400175" y="2200275"/>
            <a:ext cx="26098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3"/>
                </a:solidFill>
                <a:latin typeface="Bitstream Charter"/>
                <a:ea typeface="Bitstream Charter"/>
                <a:cs typeface="Bitstream Charter"/>
              </a:defRPr>
            </a:pPr>
            <a:r>
              <a:rPr sz="1650" b="0">
                <a:solidFill>
                  <a:srgbClr val="506673"/>
                </a:solidFill>
                <a:latin typeface="Bitstream Charter"/>
                <a:ea typeface="Bitstream Charter"/>
                <a:cs typeface="Bitstream Charter"/>
              </a:rPr>
              <a:t>n8n form captures a question and request ID.</a:t>
            </a:r>
          </a:p>
        </p:txBody>
      </p:sp>
      <p:sp>
        <p:nvSpPr>
          <p:cNvPr id="6" name="">
            <a:extLst xmlns:a="http://schemas.openxmlformats.org/drawingml/2006/main">
              <a:ext uri="{FF2B5EF4-FFF2-40B4-BE49-F238E27FC236}">
                <a16:creationId xmlns:a16="http://schemas.microsoft.com/office/drawing/2014/main" id="{D6834DC4-BDC4-4233-B18F-7C89EEFCCF37}"/>
              </a:ext>
            </a:extLst>
          </p:cNvPr>
          <p:cNvSpPr>
            <a:spLocks xmlns:a="http://schemas.openxmlformats.org/drawingml/2006/main" noGrp="1"/>
          </p:cNvSpPr>
          <p:nvPr/>
        </p:nvSpPr>
        <p:spPr>
          <a:xfrm xmlns:a="http://schemas.openxmlformats.org/drawingml/2006/main">
            <a:off x="4438650" y="1657350"/>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47A78"/>
                </a:solidFill>
                <a:latin typeface="Bitstream Charter"/>
                <a:ea typeface="Bitstream Charter"/>
                <a:cs typeface="Bitstream Charter"/>
              </a:defRPr>
            </a:pPr>
            <a:r>
              <a:rPr sz="2025" b="1">
                <a:solidFill>
                  <a:srgbClr val="047A78"/>
                </a:solidFill>
                <a:latin typeface="Bitstream Charter"/>
                <a:ea typeface="Bitstream Charter"/>
                <a:cs typeface="Bitstream Charter"/>
              </a:rPr>
              <a:t>2</a:t>
            </a:r>
          </a:p>
        </p:txBody>
      </p:sp>
      <p:sp>
        <p:nvSpPr>
          <p:cNvPr id="7" name="">
            <a:extLst xmlns:a="http://schemas.openxmlformats.org/drawingml/2006/main">
              <a:ext uri="{FF2B5EF4-FFF2-40B4-BE49-F238E27FC236}">
                <a16:creationId xmlns:a16="http://schemas.microsoft.com/office/drawing/2014/main" id="{4CA36F37-417C-4AFE-9B3D-48B1E30BDDEF}"/>
              </a:ext>
            </a:extLst>
          </p:cNvPr>
          <p:cNvSpPr>
            <a:spLocks xmlns:a="http://schemas.openxmlformats.org/drawingml/2006/main" noGrp="1"/>
          </p:cNvSpPr>
          <p:nvPr/>
        </p:nvSpPr>
        <p:spPr>
          <a:xfrm xmlns:a="http://schemas.openxmlformats.org/drawingml/2006/main">
            <a:off x="4924425" y="1657350"/>
            <a:ext cx="2581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2B38"/>
                </a:solidFill>
                <a:latin typeface="Bitstream Charter"/>
                <a:ea typeface="Bitstream Charter"/>
                <a:cs typeface="Bitstream Charter"/>
              </a:defRPr>
            </a:pPr>
            <a:r>
              <a:rPr sz="2025" b="1">
                <a:solidFill>
                  <a:srgbClr val="142B38"/>
                </a:solidFill>
                <a:latin typeface="Bitstream Charter"/>
                <a:ea typeface="Bitstream Charter"/>
                <a:cs typeface="Bitstream Charter"/>
              </a:rPr>
              <a:t>Retrieve</a:t>
            </a:r>
          </a:p>
        </p:txBody>
      </p:sp>
      <p:sp>
        <p:nvSpPr>
          <p:cNvPr id="8" name="">
            <a:extLst xmlns:a="http://schemas.openxmlformats.org/drawingml/2006/main">
              <a:ext uri="{FF2B5EF4-FFF2-40B4-BE49-F238E27FC236}">
                <a16:creationId xmlns:a16="http://schemas.microsoft.com/office/drawing/2014/main" id="{D1A5B08B-368A-4213-9622-DF1B1D7663BE}"/>
              </a:ext>
            </a:extLst>
          </p:cNvPr>
          <p:cNvSpPr>
            <a:spLocks xmlns:a="http://schemas.openxmlformats.org/drawingml/2006/main" noGrp="1"/>
          </p:cNvSpPr>
          <p:nvPr/>
        </p:nvSpPr>
        <p:spPr>
          <a:xfrm xmlns:a="http://schemas.openxmlformats.org/drawingml/2006/main">
            <a:off x="4924425" y="2200275"/>
            <a:ext cx="26098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3"/>
                </a:solidFill>
                <a:latin typeface="Bitstream Charter"/>
                <a:ea typeface="Bitstream Charter"/>
                <a:cs typeface="Bitstream Charter"/>
              </a:defRPr>
            </a:pPr>
            <a:r>
              <a:rPr sz="1650" b="0">
                <a:solidFill>
                  <a:srgbClr val="506673"/>
                </a:solidFill>
                <a:latin typeface="Bitstream Charter"/>
                <a:ea typeface="Bitstream Charter"/>
                <a:cs typeface="Bitstream Charter"/>
              </a:rPr>
              <a:t>Python BM25 ranks sections from 3 synthetic policies.</a:t>
            </a:r>
          </a:p>
        </p:txBody>
      </p:sp>
      <p:sp>
        <p:nvSpPr>
          <p:cNvPr id="9" name="">
            <a:extLst xmlns:a="http://schemas.openxmlformats.org/drawingml/2006/main">
              <a:ext uri="{FF2B5EF4-FFF2-40B4-BE49-F238E27FC236}">
                <a16:creationId xmlns:a16="http://schemas.microsoft.com/office/drawing/2014/main" id="{7800B332-2599-4E9F-B36F-F4A1208470C7}"/>
              </a:ext>
            </a:extLst>
          </p:cNvPr>
          <p:cNvSpPr>
            <a:spLocks xmlns:a="http://schemas.openxmlformats.org/drawingml/2006/main" noGrp="1"/>
          </p:cNvSpPr>
          <p:nvPr/>
        </p:nvSpPr>
        <p:spPr>
          <a:xfrm xmlns:a="http://schemas.openxmlformats.org/drawingml/2006/main">
            <a:off x="7962900" y="1657350"/>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47A78"/>
                </a:solidFill>
                <a:latin typeface="Bitstream Charter"/>
                <a:ea typeface="Bitstream Charter"/>
                <a:cs typeface="Bitstream Charter"/>
              </a:defRPr>
            </a:pPr>
            <a:r>
              <a:rPr sz="2025" b="1">
                <a:solidFill>
                  <a:srgbClr val="047A78"/>
                </a:solidFill>
                <a:latin typeface="Bitstream Charter"/>
                <a:ea typeface="Bitstream Charter"/>
                <a:cs typeface="Bitstream Charter"/>
              </a:rPr>
              <a:t>3</a:t>
            </a:r>
          </a:p>
        </p:txBody>
      </p:sp>
      <p:sp>
        <p:nvSpPr>
          <p:cNvPr id="10" name="">
            <a:extLst xmlns:a="http://schemas.openxmlformats.org/drawingml/2006/main">
              <a:ext uri="{FF2B5EF4-FFF2-40B4-BE49-F238E27FC236}">
                <a16:creationId xmlns:a16="http://schemas.microsoft.com/office/drawing/2014/main" id="{67FF2E60-D58A-4AC9-9D1A-131B06766727}"/>
              </a:ext>
            </a:extLst>
          </p:cNvPr>
          <p:cNvSpPr>
            <a:spLocks xmlns:a="http://schemas.openxmlformats.org/drawingml/2006/main" noGrp="1"/>
          </p:cNvSpPr>
          <p:nvPr/>
        </p:nvSpPr>
        <p:spPr>
          <a:xfrm xmlns:a="http://schemas.openxmlformats.org/drawingml/2006/main">
            <a:off x="8448675" y="1657350"/>
            <a:ext cx="2581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2B38"/>
                </a:solidFill>
                <a:latin typeface="Bitstream Charter"/>
                <a:ea typeface="Bitstream Charter"/>
                <a:cs typeface="Bitstream Charter"/>
              </a:defRPr>
            </a:pPr>
            <a:r>
              <a:rPr sz="2025" b="1">
                <a:solidFill>
                  <a:srgbClr val="142B38"/>
                </a:solidFill>
                <a:latin typeface="Bitstream Charter"/>
                <a:ea typeface="Bitstream Charter"/>
                <a:cs typeface="Bitstream Charter"/>
              </a:rPr>
              <a:t>LLM decision</a:t>
            </a:r>
          </a:p>
        </p:txBody>
      </p:sp>
      <p:sp>
        <p:nvSpPr>
          <p:cNvPr id="11" name="">
            <a:extLst xmlns:a="http://schemas.openxmlformats.org/drawingml/2006/main">
              <a:ext uri="{FF2B5EF4-FFF2-40B4-BE49-F238E27FC236}">
                <a16:creationId xmlns:a16="http://schemas.microsoft.com/office/drawing/2014/main" id="{3B37D979-F55F-4D3A-82D9-DF4F4EAD029F}"/>
              </a:ext>
            </a:extLst>
          </p:cNvPr>
          <p:cNvSpPr>
            <a:spLocks xmlns:a="http://schemas.openxmlformats.org/drawingml/2006/main" noGrp="1"/>
          </p:cNvSpPr>
          <p:nvPr/>
        </p:nvSpPr>
        <p:spPr>
          <a:xfrm xmlns:a="http://schemas.openxmlformats.org/drawingml/2006/main">
            <a:off x="8448675" y="2200275"/>
            <a:ext cx="26098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3"/>
                </a:solidFill>
                <a:latin typeface="Bitstream Charter"/>
                <a:ea typeface="Bitstream Charter"/>
                <a:cs typeface="Bitstream Charter"/>
              </a:defRPr>
            </a:pPr>
            <a:r>
              <a:rPr sz="1650" b="0">
                <a:solidFill>
                  <a:srgbClr val="506673"/>
                </a:solidFill>
                <a:latin typeface="Bitstream Charter"/>
                <a:ea typeface="Bitstream Charter"/>
                <a:cs typeface="Bitstream Charter"/>
              </a:rPr>
              <a:t>Select relevant citations and a supported review queue.</a:t>
            </a:r>
          </a:p>
        </p:txBody>
      </p:sp>
      <p:sp>
        <p:nvSpPr>
          <p:cNvPr id="12" name="">
            <a:extLst xmlns:a="http://schemas.openxmlformats.org/drawingml/2006/main">
              <a:ext uri="{FF2B5EF4-FFF2-40B4-BE49-F238E27FC236}">
                <a16:creationId xmlns:a16="http://schemas.microsoft.com/office/drawing/2014/main" id="{72CF0B48-15A4-439E-9725-26F630A60E8B}"/>
              </a:ext>
            </a:extLst>
          </p:cNvPr>
          <p:cNvSpPr>
            <a:spLocks xmlns:a="http://schemas.openxmlformats.org/drawingml/2006/main" noGrp="1"/>
          </p:cNvSpPr>
          <p:nvPr/>
        </p:nvSpPr>
        <p:spPr>
          <a:xfrm xmlns:a="http://schemas.openxmlformats.org/drawingml/2006/main">
            <a:off x="914400" y="3324225"/>
            <a:ext cx="10363200" cy="19050"/>
          </a:xfrm>
          <a:prstGeom xmlns:a="http://schemas.openxmlformats.org/drawingml/2006/main" prst="rect">
            <a:avLst/>
          </a:prstGeom>
          <a:solidFill xmlns:a="http://schemas.openxmlformats.org/drawingml/2006/main">
            <a:srgbClr val="C7D8D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EF7A743-04F4-4B91-BBCC-876409B966CB}"/>
              </a:ext>
            </a:extLst>
          </p:cNvPr>
          <p:cNvSpPr>
            <a:spLocks xmlns:a="http://schemas.openxmlformats.org/drawingml/2006/main" noGrp="1"/>
          </p:cNvSpPr>
          <p:nvPr/>
        </p:nvSpPr>
        <p:spPr>
          <a:xfrm xmlns:a="http://schemas.openxmlformats.org/drawingml/2006/main">
            <a:off x="914400" y="3705225"/>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47A78"/>
                </a:solidFill>
                <a:latin typeface="Bitstream Charter"/>
                <a:ea typeface="Bitstream Charter"/>
                <a:cs typeface="Bitstream Charter"/>
              </a:defRPr>
            </a:pPr>
            <a:r>
              <a:rPr sz="2025" b="1">
                <a:solidFill>
                  <a:srgbClr val="047A78"/>
                </a:solidFill>
                <a:latin typeface="Bitstream Charter"/>
                <a:ea typeface="Bitstream Charter"/>
                <a:cs typeface="Bitstream Charter"/>
              </a:rPr>
              <a:t>4</a:t>
            </a:r>
          </a:p>
        </p:txBody>
      </p:sp>
      <p:sp>
        <p:nvSpPr>
          <p:cNvPr id="14" name="">
            <a:extLst xmlns:a="http://schemas.openxmlformats.org/drawingml/2006/main">
              <a:ext uri="{FF2B5EF4-FFF2-40B4-BE49-F238E27FC236}">
                <a16:creationId xmlns:a16="http://schemas.microsoft.com/office/drawing/2014/main" id="{CA4BD203-A090-4611-B451-86858C01E400}"/>
              </a:ext>
            </a:extLst>
          </p:cNvPr>
          <p:cNvSpPr>
            <a:spLocks xmlns:a="http://schemas.openxmlformats.org/drawingml/2006/main" noGrp="1"/>
          </p:cNvSpPr>
          <p:nvPr/>
        </p:nvSpPr>
        <p:spPr>
          <a:xfrm xmlns:a="http://schemas.openxmlformats.org/drawingml/2006/main">
            <a:off x="1400175" y="3705225"/>
            <a:ext cx="2581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2B38"/>
                </a:solidFill>
                <a:latin typeface="Bitstream Charter"/>
                <a:ea typeface="Bitstream Charter"/>
                <a:cs typeface="Bitstream Charter"/>
              </a:defRPr>
            </a:pPr>
            <a:r>
              <a:rPr sz="2025" b="1">
                <a:solidFill>
                  <a:srgbClr val="142B38"/>
                </a:solidFill>
                <a:latin typeface="Bitstream Charter"/>
                <a:ea typeface="Bitstream Charter"/>
                <a:cs typeface="Bitstream Charter"/>
              </a:rPr>
              <a:t>Validate</a:t>
            </a:r>
          </a:p>
        </p:txBody>
      </p:sp>
      <p:sp>
        <p:nvSpPr>
          <p:cNvPr id="15" name="">
            <a:extLst xmlns:a="http://schemas.openxmlformats.org/drawingml/2006/main">
              <a:ext uri="{FF2B5EF4-FFF2-40B4-BE49-F238E27FC236}">
                <a16:creationId xmlns:a16="http://schemas.microsoft.com/office/drawing/2014/main" id="{0A4DEC07-CA37-4FC3-832A-EFA4CD5303A7}"/>
              </a:ext>
            </a:extLst>
          </p:cNvPr>
          <p:cNvSpPr>
            <a:spLocks xmlns:a="http://schemas.openxmlformats.org/drawingml/2006/main" noGrp="1"/>
          </p:cNvSpPr>
          <p:nvPr/>
        </p:nvSpPr>
        <p:spPr>
          <a:xfrm xmlns:a="http://schemas.openxmlformats.org/drawingml/2006/main">
            <a:off x="1400175" y="4248150"/>
            <a:ext cx="26098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3"/>
                </a:solidFill>
                <a:latin typeface="Bitstream Charter"/>
                <a:ea typeface="Bitstream Charter"/>
                <a:cs typeface="Bitstream Charter"/>
              </a:defRPr>
            </a:pPr>
            <a:r>
              <a:rPr sz="1650" b="0">
                <a:solidFill>
                  <a:srgbClr val="506673"/>
                </a:solidFill>
                <a:latin typeface="Bitstream Charter"/>
                <a:ea typeface="Bitstream Charter"/>
                <a:cs typeface="Bitstream Charter"/>
              </a:rPr>
              <a:t>Reject unknown citations or queues; render exact excerpts.</a:t>
            </a:r>
          </a:p>
        </p:txBody>
      </p:sp>
      <p:sp>
        <p:nvSpPr>
          <p:cNvPr id="16" name="">
            <a:extLst xmlns:a="http://schemas.openxmlformats.org/drawingml/2006/main">
              <a:ext uri="{FF2B5EF4-FFF2-40B4-BE49-F238E27FC236}">
                <a16:creationId xmlns:a16="http://schemas.microsoft.com/office/drawing/2014/main" id="{867B2DF4-E650-4F25-98C5-5AF055048425}"/>
              </a:ext>
            </a:extLst>
          </p:cNvPr>
          <p:cNvSpPr>
            <a:spLocks xmlns:a="http://schemas.openxmlformats.org/drawingml/2006/main" noGrp="1"/>
          </p:cNvSpPr>
          <p:nvPr/>
        </p:nvSpPr>
        <p:spPr>
          <a:xfrm xmlns:a="http://schemas.openxmlformats.org/drawingml/2006/main">
            <a:off x="4438650" y="3705225"/>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47A78"/>
                </a:solidFill>
                <a:latin typeface="Bitstream Charter"/>
                <a:ea typeface="Bitstream Charter"/>
                <a:cs typeface="Bitstream Charter"/>
              </a:defRPr>
            </a:pPr>
            <a:r>
              <a:rPr sz="2025" b="1">
                <a:solidFill>
                  <a:srgbClr val="047A78"/>
                </a:solidFill>
                <a:latin typeface="Bitstream Charter"/>
                <a:ea typeface="Bitstream Charter"/>
                <a:cs typeface="Bitstream Charter"/>
              </a:rPr>
              <a:t>5</a:t>
            </a:r>
          </a:p>
        </p:txBody>
      </p:sp>
      <p:sp>
        <p:nvSpPr>
          <p:cNvPr id="17" name="">
            <a:extLst xmlns:a="http://schemas.openxmlformats.org/drawingml/2006/main">
              <a:ext uri="{FF2B5EF4-FFF2-40B4-BE49-F238E27FC236}">
                <a16:creationId xmlns:a16="http://schemas.microsoft.com/office/drawing/2014/main" id="{45F8CE54-F54B-494A-A0ED-7F96E1589392}"/>
              </a:ext>
            </a:extLst>
          </p:cNvPr>
          <p:cNvSpPr>
            <a:spLocks xmlns:a="http://schemas.openxmlformats.org/drawingml/2006/main" noGrp="1"/>
          </p:cNvSpPr>
          <p:nvPr/>
        </p:nvSpPr>
        <p:spPr>
          <a:xfrm xmlns:a="http://schemas.openxmlformats.org/drawingml/2006/main">
            <a:off x="4924425" y="3705225"/>
            <a:ext cx="2581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2B38"/>
                </a:solidFill>
                <a:latin typeface="Bitstream Charter"/>
                <a:ea typeface="Bitstream Charter"/>
                <a:cs typeface="Bitstream Charter"/>
              </a:defRPr>
            </a:pPr>
            <a:r>
              <a:rPr sz="2025" b="1">
                <a:solidFill>
                  <a:srgbClr val="142B38"/>
                </a:solidFill>
                <a:latin typeface="Bitstream Charter"/>
                <a:ea typeface="Bitstream Charter"/>
                <a:cs typeface="Bitstream Charter"/>
              </a:rPr>
              <a:t>Human approval</a:t>
            </a:r>
          </a:p>
        </p:txBody>
      </p:sp>
      <p:sp>
        <p:nvSpPr>
          <p:cNvPr id="18" name="">
            <a:extLst xmlns:a="http://schemas.openxmlformats.org/drawingml/2006/main">
              <a:ext uri="{FF2B5EF4-FFF2-40B4-BE49-F238E27FC236}">
                <a16:creationId xmlns:a16="http://schemas.microsoft.com/office/drawing/2014/main" id="{295997A3-6CDE-4B2D-BDB2-A39640B2B78A}"/>
              </a:ext>
            </a:extLst>
          </p:cNvPr>
          <p:cNvSpPr>
            <a:spLocks xmlns:a="http://schemas.openxmlformats.org/drawingml/2006/main" noGrp="1"/>
          </p:cNvSpPr>
          <p:nvPr/>
        </p:nvSpPr>
        <p:spPr>
          <a:xfrm xmlns:a="http://schemas.openxmlformats.org/drawingml/2006/main">
            <a:off x="4924425" y="4248150"/>
            <a:ext cx="26098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3"/>
                </a:solidFill>
                <a:latin typeface="Bitstream Charter"/>
                <a:ea typeface="Bitstream Charter"/>
                <a:cs typeface="Bitstream Charter"/>
              </a:defRPr>
            </a:pPr>
            <a:r>
              <a:rPr sz="1650" b="0">
                <a:solidFill>
                  <a:srgbClr val="506673"/>
                </a:solidFill>
                <a:latin typeface="Bitstream Charter"/>
                <a:ea typeface="Bitstream Charter"/>
                <a:cs typeface="Bitstream Charter"/>
              </a:rPr>
              <a:t>Reviewer checks evidence and explicitly approves or rejects.</a:t>
            </a:r>
          </a:p>
        </p:txBody>
      </p:sp>
      <p:sp>
        <p:nvSpPr>
          <p:cNvPr id="19" name="">
            <a:extLst xmlns:a="http://schemas.openxmlformats.org/drawingml/2006/main">
              <a:ext uri="{FF2B5EF4-FFF2-40B4-BE49-F238E27FC236}">
                <a16:creationId xmlns:a16="http://schemas.microsoft.com/office/drawing/2014/main" id="{BEE085BB-2C3C-42FE-8150-89AF3DB19181}"/>
              </a:ext>
            </a:extLst>
          </p:cNvPr>
          <p:cNvSpPr>
            <a:spLocks xmlns:a="http://schemas.openxmlformats.org/drawingml/2006/main" noGrp="1"/>
          </p:cNvSpPr>
          <p:nvPr/>
        </p:nvSpPr>
        <p:spPr>
          <a:xfrm xmlns:a="http://schemas.openxmlformats.org/drawingml/2006/main">
            <a:off x="7962900" y="3705225"/>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47A78"/>
                </a:solidFill>
                <a:latin typeface="Bitstream Charter"/>
                <a:ea typeface="Bitstream Charter"/>
                <a:cs typeface="Bitstream Charter"/>
              </a:defRPr>
            </a:pPr>
            <a:r>
              <a:rPr sz="2025" b="1">
                <a:solidFill>
                  <a:srgbClr val="047A78"/>
                </a:solidFill>
                <a:latin typeface="Bitstream Charter"/>
                <a:ea typeface="Bitstream Charter"/>
                <a:cs typeface="Bitstream Charter"/>
              </a:rPr>
              <a:t>6</a:t>
            </a:r>
          </a:p>
        </p:txBody>
      </p:sp>
      <p:sp>
        <p:nvSpPr>
          <p:cNvPr id="20" name="">
            <a:extLst xmlns:a="http://schemas.openxmlformats.org/drawingml/2006/main">
              <a:ext uri="{FF2B5EF4-FFF2-40B4-BE49-F238E27FC236}">
                <a16:creationId xmlns:a16="http://schemas.microsoft.com/office/drawing/2014/main" id="{36A0C872-5D77-47BE-A362-F6B1CD5DA5AB}"/>
              </a:ext>
            </a:extLst>
          </p:cNvPr>
          <p:cNvSpPr>
            <a:spLocks xmlns:a="http://schemas.openxmlformats.org/drawingml/2006/main" noGrp="1"/>
          </p:cNvSpPr>
          <p:nvPr/>
        </p:nvSpPr>
        <p:spPr>
          <a:xfrm xmlns:a="http://schemas.openxmlformats.org/drawingml/2006/main">
            <a:off x="8448675" y="3705225"/>
            <a:ext cx="25812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2B38"/>
                </a:solidFill>
                <a:latin typeface="Bitstream Charter"/>
                <a:ea typeface="Bitstream Charter"/>
                <a:cs typeface="Bitstream Charter"/>
              </a:defRPr>
            </a:pPr>
            <a:r>
              <a:rPr sz="2025" b="1">
                <a:solidFill>
                  <a:srgbClr val="142B38"/>
                </a:solidFill>
                <a:latin typeface="Bitstream Charter"/>
                <a:ea typeface="Bitstream Charter"/>
                <a:cs typeface="Bitstream Charter"/>
              </a:rPr>
              <a:t>Create case</a:t>
            </a:r>
          </a:p>
        </p:txBody>
      </p:sp>
      <p:sp>
        <p:nvSpPr>
          <p:cNvPr id="21" name="">
            <a:extLst xmlns:a="http://schemas.openxmlformats.org/drawingml/2006/main">
              <a:ext uri="{FF2B5EF4-FFF2-40B4-BE49-F238E27FC236}">
                <a16:creationId xmlns:a16="http://schemas.microsoft.com/office/drawing/2014/main" id="{4461A8EA-FA86-4D8A-B89A-BD90EF0D9131}"/>
              </a:ext>
            </a:extLst>
          </p:cNvPr>
          <p:cNvSpPr>
            <a:spLocks xmlns:a="http://schemas.openxmlformats.org/drawingml/2006/main" noGrp="1"/>
          </p:cNvSpPr>
          <p:nvPr/>
        </p:nvSpPr>
        <p:spPr>
          <a:xfrm xmlns:a="http://schemas.openxmlformats.org/drawingml/2006/main">
            <a:off x="8448675" y="4248150"/>
            <a:ext cx="26098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3"/>
                </a:solidFill>
                <a:latin typeface="Bitstream Charter"/>
                <a:ea typeface="Bitstream Charter"/>
                <a:cs typeface="Bitstream Charter"/>
              </a:defRPr>
            </a:pPr>
            <a:r>
              <a:rPr sz="1650" b="0">
                <a:solidFill>
                  <a:srgbClr val="506673"/>
                </a:solidFill>
                <a:latin typeface="Bitstream Charter"/>
                <a:ea typeface="Bitstream Charter"/>
                <a:cs typeface="Bitstream Charter"/>
              </a:rPr>
              <a:t>HTTP integration writes a durable SQLite case after approval.</a:t>
            </a:r>
          </a:p>
        </p:txBody>
      </p:sp>
      <p:sp>
        <p:nvSpPr>
          <p:cNvPr id="22" name="">
            <a:extLst xmlns:a="http://schemas.openxmlformats.org/drawingml/2006/main">
              <a:ext uri="{FF2B5EF4-FFF2-40B4-BE49-F238E27FC236}">
                <a16:creationId xmlns:a16="http://schemas.microsoft.com/office/drawing/2014/main" id="{743C271C-F375-4573-8665-8041F3B079A7}"/>
              </a:ext>
            </a:extLst>
          </p:cNvPr>
          <p:cNvSpPr>
            <a:spLocks xmlns:a="http://schemas.openxmlformats.org/drawingml/2006/main" noGrp="1"/>
          </p:cNvSpPr>
          <p:nvPr/>
        </p:nvSpPr>
        <p:spPr>
          <a:xfrm xmlns:a="http://schemas.openxmlformats.org/drawingml/2006/main">
            <a:off x="914400" y="5953125"/>
            <a:ext cx="1038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047A78"/>
                </a:solidFill>
                <a:latin typeface="Bitstream Charter"/>
                <a:ea typeface="Bitstream Charter"/>
                <a:cs typeface="Bitstream Charter"/>
              </a:defRPr>
            </a:pPr>
            <a:r>
              <a:rPr sz="1950" b="1">
                <a:solidFill>
                  <a:srgbClr val="047A78"/>
                </a:solidFill>
                <a:latin typeface="Bitstream Charter"/>
                <a:ea typeface="Bitstream Charter"/>
                <a:cs typeface="Bitstream Charter"/>
              </a:rPr>
              <a:t>Insufficient evidence → request more information, with no case creation.</a:t>
            </a:r>
          </a:p>
        </p:txBody>
      </p:sp>
    </p:spTree>
    <p:extLst>
      <p:ext uri="{BB962C8B-B14F-4D97-AF65-F5344CB8AC3E}">
        <p14:creationId xmlns:p14="http://schemas.microsoft.com/office/powerpoint/2010/main" val="1745453000"/>
      </p:ext>
    </p:extLst>
  </p:cSld>
</p:sld>
</file>

<file path=ppt/slides/slide4.xml><?xml version="1.0" encoding="utf-8"?>
<p:sld xmlns:p="http://schemas.openxmlformats.org/presentationml/2006/main">
  <p:cSld>
    <p:bg>
      <p:bgPr>
        <a:solidFill xmlns:a="http://schemas.openxmlformats.org/drawingml/2006/main">
          <a:srgbClr val="F8FA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26C6F0-EF12-4154-921D-53A55A102DE0}"/>
              </a:ext>
            </a:extLst>
          </p:cNvPr>
          <p:cNvSpPr>
            <a:spLocks xmlns:a="http://schemas.openxmlformats.org/drawingml/2006/main" noGrp="1"/>
          </p:cNvSpPr>
          <p:nvPr/>
        </p:nvSpPr>
        <p:spPr>
          <a:xfrm xmlns:a="http://schemas.openxmlformats.org/drawingml/2006/main">
            <a:off x="609600" y="514350"/>
            <a:ext cx="95250" cy="523875"/>
          </a:xfrm>
          <a:prstGeom xmlns:a="http://schemas.openxmlformats.org/drawingml/2006/main" prst="rect">
            <a:avLst/>
          </a:prstGeom>
          <a:solidFill xmlns:a="http://schemas.openxmlformats.org/drawingml/2006/main">
            <a:srgbClr val="047A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8A9054-D38A-4A35-AA1F-16295BCA61D4}"/>
              </a:ext>
            </a:extLst>
          </p:cNvPr>
          <p:cNvSpPr>
            <a:spLocks xmlns:a="http://schemas.openxmlformats.org/drawingml/2006/main" noGrp="1"/>
          </p:cNvSpPr>
          <p:nvPr/>
        </p:nvSpPr>
        <p:spPr>
          <a:xfrm xmlns:a="http://schemas.openxmlformats.org/drawingml/2006/main">
            <a:off x="914400" y="495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B38"/>
                </a:solidFill>
                <a:latin typeface="Bitstream Charter"/>
                <a:ea typeface="Bitstream Charter"/>
                <a:cs typeface="Bitstream Charter"/>
              </a:defRPr>
            </a:pPr>
            <a:r>
              <a:rPr sz="3000" b="1">
                <a:solidFill>
                  <a:srgbClr val="142B38"/>
                </a:solidFill>
                <a:latin typeface="Bitstream Charter"/>
                <a:ea typeface="Bitstream Charter"/>
                <a:cs typeface="Bitstream Charter"/>
              </a:rPr>
              <a:t>Evidence is checked; authority stays with the reviewer</a:t>
            </a:r>
          </a:p>
        </p:txBody>
      </p:sp>
      <p:sp>
        <p:nvSpPr>
          <p:cNvPr id="3" name="">
            <a:extLst xmlns:a="http://schemas.openxmlformats.org/drawingml/2006/main">
              <a:ext uri="{FF2B5EF4-FFF2-40B4-BE49-F238E27FC236}">
                <a16:creationId xmlns:a16="http://schemas.microsoft.com/office/drawing/2014/main" id="{B5196DFC-3F40-42F0-A165-FD1A8291424A}"/>
              </a:ext>
            </a:extLst>
          </p:cNvPr>
          <p:cNvSpPr>
            <a:spLocks xmlns:a="http://schemas.openxmlformats.org/drawingml/2006/main" noGrp="1"/>
          </p:cNvSpPr>
          <p:nvPr/>
        </p:nvSpPr>
        <p:spPr>
          <a:xfrm xmlns:a="http://schemas.openxmlformats.org/drawingml/2006/main">
            <a:off x="914400" y="1762125"/>
            <a:ext cx="276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47A78"/>
                </a:solidFill>
                <a:latin typeface="Bitstream Charter"/>
                <a:ea typeface="Bitstream Charter"/>
                <a:cs typeface="Bitstream Charter"/>
              </a:defRPr>
            </a:pPr>
            <a:r>
              <a:rPr sz="2100" b="1">
                <a:solidFill>
                  <a:srgbClr val="047A78"/>
                </a:solidFill>
                <a:latin typeface="Bitstream Charter"/>
                <a:ea typeface="Bitstream Charter"/>
                <a:cs typeface="Bitstream Charter"/>
              </a:rPr>
              <a:t>Grounding</a:t>
            </a:r>
          </a:p>
        </p:txBody>
      </p:sp>
      <p:sp>
        <p:nvSpPr>
          <p:cNvPr id="4" name="">
            <a:extLst xmlns:a="http://schemas.openxmlformats.org/drawingml/2006/main">
              <a:ext uri="{FF2B5EF4-FFF2-40B4-BE49-F238E27FC236}">
                <a16:creationId xmlns:a16="http://schemas.microsoft.com/office/drawing/2014/main" id="{FE11D9ED-5CB1-421C-8783-93C3553A9816}"/>
              </a:ext>
            </a:extLst>
          </p:cNvPr>
          <p:cNvSpPr>
            <a:spLocks xmlns:a="http://schemas.openxmlformats.org/drawingml/2006/main" noGrp="1"/>
          </p:cNvSpPr>
          <p:nvPr/>
        </p:nvSpPr>
        <p:spPr>
          <a:xfrm xmlns:a="http://schemas.openxmlformats.org/drawingml/2006/main">
            <a:off x="3943350" y="1762125"/>
            <a:ext cx="71913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38"/>
                </a:solidFill>
                <a:latin typeface="Bitstream Charter"/>
                <a:ea typeface="Bitstream Charter"/>
                <a:cs typeface="Bitstream Charter"/>
              </a:defRPr>
            </a:pPr>
            <a:r>
              <a:rPr sz="2025" b="0">
                <a:solidFill>
                  <a:srgbClr val="142B38"/>
                </a:solidFill>
                <a:latin typeface="Bitstream Charter"/>
                <a:ea typeface="Bitstream Charter"/>
                <a:cs typeface="Bitstream Charter"/>
              </a:rPr>
              <a:t>Exact source text, section IDs, versions and SHA-256 hashes. A citation can still be irrelevant; the reviewer must check it.</a:t>
            </a:r>
          </a:p>
        </p:txBody>
      </p:sp>
      <p:sp>
        <p:nvSpPr>
          <p:cNvPr id="5" name="">
            <a:extLst xmlns:a="http://schemas.openxmlformats.org/drawingml/2006/main">
              <a:ext uri="{FF2B5EF4-FFF2-40B4-BE49-F238E27FC236}">
                <a16:creationId xmlns:a16="http://schemas.microsoft.com/office/drawing/2014/main" id="{CED3949D-8E6B-4AEC-B859-C4A32900EEAF}"/>
              </a:ext>
            </a:extLst>
          </p:cNvPr>
          <p:cNvSpPr>
            <a:spLocks xmlns:a="http://schemas.openxmlformats.org/drawingml/2006/main" noGrp="1"/>
          </p:cNvSpPr>
          <p:nvPr/>
        </p:nvSpPr>
        <p:spPr>
          <a:xfrm xmlns:a="http://schemas.openxmlformats.org/drawingml/2006/main">
            <a:off x="914400" y="2847975"/>
            <a:ext cx="276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47A78"/>
                </a:solidFill>
                <a:latin typeface="Bitstream Charter"/>
                <a:ea typeface="Bitstream Charter"/>
                <a:cs typeface="Bitstream Charter"/>
              </a:defRPr>
            </a:pPr>
            <a:r>
              <a:rPr sz="2100" b="1">
                <a:solidFill>
                  <a:srgbClr val="047A78"/>
                </a:solidFill>
                <a:latin typeface="Bitstream Charter"/>
                <a:ea typeface="Bitstream Charter"/>
                <a:cs typeface="Bitstream Charter"/>
              </a:rPr>
              <a:t>Action boundary</a:t>
            </a:r>
          </a:p>
        </p:txBody>
      </p:sp>
      <p:sp>
        <p:nvSpPr>
          <p:cNvPr id="6" name="">
            <a:extLst xmlns:a="http://schemas.openxmlformats.org/drawingml/2006/main">
              <a:ext uri="{FF2B5EF4-FFF2-40B4-BE49-F238E27FC236}">
                <a16:creationId xmlns:a16="http://schemas.microsoft.com/office/drawing/2014/main" id="{F9F9D262-097E-44D1-971D-66B42152E91E}"/>
              </a:ext>
            </a:extLst>
          </p:cNvPr>
          <p:cNvSpPr>
            <a:spLocks xmlns:a="http://schemas.openxmlformats.org/drawingml/2006/main" noGrp="1"/>
          </p:cNvSpPr>
          <p:nvPr/>
        </p:nvSpPr>
        <p:spPr>
          <a:xfrm xmlns:a="http://schemas.openxmlformats.org/drawingml/2006/main">
            <a:off x="3943350" y="2847975"/>
            <a:ext cx="71913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38"/>
                </a:solidFill>
                <a:latin typeface="Bitstream Charter"/>
                <a:ea typeface="Bitstream Charter"/>
                <a:cs typeface="Bitstream Charter"/>
              </a:defRPr>
            </a:pPr>
            <a:r>
              <a:rPr sz="2025" b="0">
                <a:solidFill>
                  <a:srgbClr val="142B38"/>
                </a:solidFill>
                <a:latin typeface="Bitstream Charter"/>
                <a:ea typeface="Bitstream Charter"/>
                <a:cs typeface="Bitstream Charter"/>
              </a:rPr>
              <a:t>The model recommends. Only an explicit human approval can create a case. It cannot grant a policy exception.</a:t>
            </a:r>
          </a:p>
        </p:txBody>
      </p:sp>
      <p:sp>
        <p:nvSpPr>
          <p:cNvPr id="7" name="">
            <a:extLst xmlns:a="http://schemas.openxmlformats.org/drawingml/2006/main">
              <a:ext uri="{FF2B5EF4-FFF2-40B4-BE49-F238E27FC236}">
                <a16:creationId xmlns:a16="http://schemas.microsoft.com/office/drawing/2014/main" id="{EB09FC8A-A469-4BBD-9956-81DFD1A63C1A}"/>
              </a:ext>
            </a:extLst>
          </p:cNvPr>
          <p:cNvSpPr>
            <a:spLocks xmlns:a="http://schemas.openxmlformats.org/drawingml/2006/main" noGrp="1"/>
          </p:cNvSpPr>
          <p:nvPr/>
        </p:nvSpPr>
        <p:spPr>
          <a:xfrm xmlns:a="http://schemas.openxmlformats.org/drawingml/2006/main">
            <a:off x="914400" y="3933825"/>
            <a:ext cx="276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47A78"/>
                </a:solidFill>
                <a:latin typeface="Bitstream Charter"/>
                <a:ea typeface="Bitstream Charter"/>
                <a:cs typeface="Bitstream Charter"/>
              </a:defRPr>
            </a:pPr>
            <a:r>
              <a:rPr sz="2100" b="1">
                <a:solidFill>
                  <a:srgbClr val="047A78"/>
                </a:solidFill>
                <a:latin typeface="Bitstream Charter"/>
                <a:ea typeface="Bitstream Charter"/>
                <a:cs typeface="Bitstream Charter"/>
              </a:rPr>
              <a:t>Operational controls</a:t>
            </a:r>
          </a:p>
        </p:txBody>
      </p:sp>
      <p:sp>
        <p:nvSpPr>
          <p:cNvPr id="8" name="">
            <a:extLst xmlns:a="http://schemas.openxmlformats.org/drawingml/2006/main">
              <a:ext uri="{FF2B5EF4-FFF2-40B4-BE49-F238E27FC236}">
                <a16:creationId xmlns:a16="http://schemas.microsoft.com/office/drawing/2014/main" id="{418FE3EE-C4AA-4740-8505-C97A762586D9}"/>
              </a:ext>
            </a:extLst>
          </p:cNvPr>
          <p:cNvSpPr>
            <a:spLocks xmlns:a="http://schemas.openxmlformats.org/drawingml/2006/main" noGrp="1"/>
          </p:cNvSpPr>
          <p:nvPr/>
        </p:nvSpPr>
        <p:spPr>
          <a:xfrm xmlns:a="http://schemas.openxmlformats.org/drawingml/2006/main">
            <a:off x="3943350" y="3933825"/>
            <a:ext cx="7191375"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38"/>
                </a:solidFill>
                <a:latin typeface="Bitstream Charter"/>
                <a:ea typeface="Bitstream Charter"/>
                <a:cs typeface="Bitstream Charter"/>
              </a:defRPr>
            </a:pPr>
            <a:r>
              <a:rPr sz="2025" b="0">
                <a:solidFill>
                  <a:srgbClr val="142B38"/>
                </a:solidFill>
                <a:latin typeface="Bitstream Charter"/>
                <a:ea typeface="Bitstream Charter"/>
                <a:cs typeface="Bitstream Charter"/>
              </a:rPr>
              <a:t>Persistent audit records, one-hour proposal expiry, changed-policy checks, and duplicate-approval protection.</a:t>
            </a:r>
          </a:p>
        </p:txBody>
      </p:sp>
      <p:sp>
        <p:nvSpPr>
          <p:cNvPr id="9" name="">
            <a:extLst xmlns:a="http://schemas.openxmlformats.org/drawingml/2006/main">
              <a:ext uri="{FF2B5EF4-FFF2-40B4-BE49-F238E27FC236}">
                <a16:creationId xmlns:a16="http://schemas.microsoft.com/office/drawing/2014/main" id="{634CFA5D-0622-4C54-BC89-A1A41D03BB07}"/>
              </a:ext>
            </a:extLst>
          </p:cNvPr>
          <p:cNvSpPr>
            <a:spLocks xmlns:a="http://schemas.openxmlformats.org/drawingml/2006/main" noGrp="1"/>
          </p:cNvSpPr>
          <p:nvPr/>
        </p:nvSpPr>
        <p:spPr>
          <a:xfrm xmlns:a="http://schemas.openxmlformats.org/drawingml/2006/main">
            <a:off x="914400" y="5334000"/>
            <a:ext cx="10363200" cy="19050"/>
          </a:xfrm>
          <a:prstGeom xmlns:a="http://schemas.openxmlformats.org/drawingml/2006/main" prst="rect">
            <a:avLst/>
          </a:prstGeom>
          <a:solidFill xmlns:a="http://schemas.openxmlformats.org/drawingml/2006/main">
            <a:srgbClr val="C7D8D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C3F6304-46E9-4356-8A56-774126FF1BF6}"/>
              </a:ext>
            </a:extLst>
          </p:cNvPr>
          <p:cNvSpPr>
            <a:spLocks xmlns:a="http://schemas.openxmlformats.org/drawingml/2006/main" noGrp="1"/>
          </p:cNvSpPr>
          <p:nvPr/>
        </p:nvSpPr>
        <p:spPr>
          <a:xfrm xmlns:a="http://schemas.openxmlformats.org/drawingml/2006/main">
            <a:off x="914400" y="5629275"/>
            <a:ext cx="2809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42B38"/>
                </a:solidFill>
                <a:latin typeface="Bitstream Charter"/>
                <a:ea typeface="Bitstream Charter"/>
                <a:cs typeface="Bitstream Charter"/>
              </a:defRPr>
            </a:pPr>
            <a:r>
              <a:rPr sz="1875" b="1">
                <a:solidFill>
                  <a:srgbClr val="142B38"/>
                </a:solidFill>
                <a:latin typeface="Bitstream Charter"/>
                <a:ea typeface="Bitstream Charter"/>
                <a:cs typeface="Bitstream Charter"/>
              </a:rPr>
              <a:t>Demo boundary</a:t>
            </a:r>
          </a:p>
        </p:txBody>
      </p:sp>
      <p:sp>
        <p:nvSpPr>
          <p:cNvPr id="11" name="">
            <a:extLst xmlns:a="http://schemas.openxmlformats.org/drawingml/2006/main">
              <a:ext uri="{FF2B5EF4-FFF2-40B4-BE49-F238E27FC236}">
                <a16:creationId xmlns:a16="http://schemas.microsoft.com/office/drawing/2014/main" id="{CA74E4F5-D970-4E7C-813B-02EBB3DC41A7}"/>
              </a:ext>
            </a:extLst>
          </p:cNvPr>
          <p:cNvSpPr>
            <a:spLocks xmlns:a="http://schemas.openxmlformats.org/drawingml/2006/main" noGrp="1"/>
          </p:cNvSpPr>
          <p:nvPr/>
        </p:nvSpPr>
        <p:spPr>
          <a:xfrm xmlns:a="http://schemas.openxmlformats.org/drawingml/2006/main">
            <a:off x="3943350" y="5562600"/>
            <a:ext cx="7191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06673"/>
                </a:solidFill>
                <a:latin typeface="Bitstream Charter"/>
                <a:ea typeface="Bitstream Charter"/>
                <a:cs typeface="Bitstream Charter"/>
              </a:defRPr>
            </a:pPr>
            <a:r>
              <a:rPr sz="1875" b="0">
                <a:solidFill>
                  <a:srgbClr val="506673"/>
                </a:solidFill>
                <a:latin typeface="Bitstream Charter"/>
                <a:ea typeface="Bitstream Charter"/>
                <a:cs typeface="Bitstream Charter"/>
              </a:rPr>
              <a:t>Local token auth and self-declared reviewer identity. Enterprise SSO, RBAC and immutable audit storage are next steps.</a:t>
            </a:r>
          </a:p>
        </p:txBody>
      </p:sp>
    </p:spTree>
    <p:extLst>
      <p:ext uri="{BB962C8B-B14F-4D97-AF65-F5344CB8AC3E}">
        <p14:creationId xmlns:p14="http://schemas.microsoft.com/office/powerpoint/2010/main" val="1723584088"/>
      </p:ext>
    </p:extLst>
  </p:cSld>
</p:sld>
</file>

<file path=ppt/slides/slide5.xml><?xml version="1.0" encoding="utf-8"?>
<p:sld xmlns:p="http://schemas.openxmlformats.org/presentationml/2006/main">
  <p:cSld>
    <p:bg>
      <p:bgPr>
        <a:solidFill xmlns:a="http://schemas.openxmlformats.org/drawingml/2006/main">
          <a:srgbClr val="F8FA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66C0D5-2D7E-4DDD-8C02-37CAD4BD3FD6}"/>
              </a:ext>
            </a:extLst>
          </p:cNvPr>
          <p:cNvSpPr>
            <a:spLocks xmlns:a="http://schemas.openxmlformats.org/drawingml/2006/main" noGrp="1"/>
          </p:cNvSpPr>
          <p:nvPr/>
        </p:nvSpPr>
        <p:spPr>
          <a:xfrm xmlns:a="http://schemas.openxmlformats.org/drawingml/2006/main">
            <a:off x="609600" y="514350"/>
            <a:ext cx="95250" cy="523875"/>
          </a:xfrm>
          <a:prstGeom xmlns:a="http://schemas.openxmlformats.org/drawingml/2006/main" prst="rect">
            <a:avLst/>
          </a:prstGeom>
          <a:solidFill xmlns:a="http://schemas.openxmlformats.org/drawingml/2006/main">
            <a:srgbClr val="047A7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347522-17A0-4020-B12D-E554930C0E20}"/>
              </a:ext>
            </a:extLst>
          </p:cNvPr>
          <p:cNvSpPr>
            <a:spLocks xmlns:a="http://schemas.openxmlformats.org/drawingml/2006/main" noGrp="1"/>
          </p:cNvSpPr>
          <p:nvPr/>
        </p:nvSpPr>
        <p:spPr>
          <a:xfrm xmlns:a="http://schemas.openxmlformats.org/drawingml/2006/main">
            <a:off x="914400" y="495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42B38"/>
                </a:solidFill>
                <a:latin typeface="Bitstream Charter"/>
                <a:ea typeface="Bitstream Charter"/>
                <a:cs typeface="Bitstream Charter"/>
              </a:defRPr>
            </a:pPr>
            <a:r>
              <a:rPr sz="3000" b="1">
                <a:solidFill>
                  <a:srgbClr val="142B38"/>
                </a:solidFill>
                <a:latin typeface="Bitstream Charter"/>
                <a:ea typeface="Bitstream Charter"/>
                <a:cs typeface="Bitstream Charter"/>
              </a:rPr>
              <a:t>Demonstrate the decision, then prove the action</a:t>
            </a:r>
          </a:p>
        </p:txBody>
      </p:sp>
      <p:sp>
        <p:nvSpPr>
          <p:cNvPr id="3" name="">
            <a:extLst xmlns:a="http://schemas.openxmlformats.org/drawingml/2006/main">
              <a:ext uri="{FF2B5EF4-FFF2-40B4-BE49-F238E27FC236}">
                <a16:creationId xmlns:a16="http://schemas.microsoft.com/office/drawing/2014/main" id="{B8DB1B77-F46F-4BFA-AAAF-34EA22BDBDC4}"/>
              </a:ext>
            </a:extLst>
          </p:cNvPr>
          <p:cNvSpPr>
            <a:spLocks xmlns:a="http://schemas.openxmlformats.org/drawingml/2006/main" noGrp="1"/>
          </p:cNvSpPr>
          <p:nvPr/>
        </p:nvSpPr>
        <p:spPr>
          <a:xfrm xmlns:a="http://schemas.openxmlformats.org/drawingml/2006/main">
            <a:off x="914400" y="160972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047A78"/>
                </a:solidFill>
                <a:latin typeface="Bitstream Charter"/>
                <a:ea typeface="Bitstream Charter"/>
                <a:cs typeface="Bitstream Charter"/>
              </a:defRPr>
            </a:pPr>
            <a:r>
              <a:rPr sz="2100" b="1">
                <a:solidFill>
                  <a:srgbClr val="047A78"/>
                </a:solidFill>
                <a:latin typeface="Bitstream Charter"/>
                <a:ea typeface="Bitstream Charter"/>
                <a:cs typeface="Bitstream Charter"/>
              </a:rPr>
              <a:t>Live demo sequence</a:t>
            </a:r>
          </a:p>
        </p:txBody>
      </p:sp>
      <p:sp>
        <p:nvSpPr>
          <p:cNvPr id="4" name="">
            <a:extLst xmlns:a="http://schemas.openxmlformats.org/drawingml/2006/main">
              <a:ext uri="{FF2B5EF4-FFF2-40B4-BE49-F238E27FC236}">
                <a16:creationId xmlns:a16="http://schemas.microsoft.com/office/drawing/2014/main" id="{C8B9C726-0514-46A1-93D6-E570986D8466}"/>
              </a:ext>
            </a:extLst>
          </p:cNvPr>
          <p:cNvSpPr>
            <a:spLocks xmlns:a="http://schemas.openxmlformats.org/drawingml/2006/main" noGrp="1"/>
          </p:cNvSpPr>
          <p:nvPr/>
        </p:nvSpPr>
        <p:spPr>
          <a:xfrm xmlns:a="http://schemas.openxmlformats.org/drawingml/2006/main">
            <a:off x="914400" y="2276475"/>
            <a:ext cx="5810250" cy="3162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B38"/>
                </a:solidFill>
                <a:latin typeface="Bitstream Charter"/>
                <a:ea typeface="Bitstream Charter"/>
                <a:cs typeface="Bitstream Charter"/>
              </a:defRPr>
            </a:pPr>
            <a:r>
              <a:rPr sz="2025" b="0">
                <a:solidFill>
                  <a:srgbClr val="142B38"/>
                </a:solidFill>
                <a:latin typeface="Bitstream Charter"/>
                <a:ea typeface="Bitstream Charter"/>
                <a:cs typeface="Bitstream Charter"/>
              </a:rPr>
              <a:t>1  Ask about customer data in a public AI chatbot.</a:t>
            </a:r>
          </a:p>
          <a:p xmlns:a="http://schemas.openxmlformats.org/drawingml/2006/main">
            <a:r>
              <a:t/>
            </a:r>
          </a:p>
          <a:p xmlns:a="http://schemas.openxmlformats.org/drawingml/2006/main">
            <a:pPr>
              <a:defRPr sz="2025" b="0">
                <a:solidFill>
                  <a:srgbClr val="142B38"/>
                </a:solidFill>
                <a:latin typeface="Bitstream Charter"/>
                <a:ea typeface="Bitstream Charter"/>
                <a:cs typeface="Bitstream Charter"/>
              </a:defRPr>
            </a:pPr>
            <a:r>
              <a:rPr sz="2025" b="0">
                <a:solidFill>
                  <a:srgbClr val="142B38"/>
                </a:solidFill>
                <a:latin typeface="Bitstream Charter"/>
                <a:ea typeface="Bitstream Charter"/>
                <a:cs typeface="Bitstream Charter"/>
              </a:rPr>
              <a:t>2  Inspect AI-01 and the SecurityReview queue.</a:t>
            </a:r>
          </a:p>
          <a:p xmlns:a="http://schemas.openxmlformats.org/drawingml/2006/main">
            <a:r>
              <a:t/>
            </a:r>
          </a:p>
          <a:p xmlns:a="http://schemas.openxmlformats.org/drawingml/2006/main">
            <a:pPr>
              <a:defRPr sz="2025" b="0">
                <a:solidFill>
                  <a:srgbClr val="142B38"/>
                </a:solidFill>
                <a:latin typeface="Bitstream Charter"/>
                <a:ea typeface="Bitstream Charter"/>
                <a:cs typeface="Bitstream Charter"/>
              </a:defRPr>
            </a:pPr>
            <a:r>
              <a:rPr sz="2025" b="0">
                <a:solidFill>
                  <a:srgbClr val="142B38"/>
                </a:solidFill>
                <a:latin typeface="Bitstream Charter"/>
                <a:ea typeface="Bitstream Charter"/>
                <a:cs typeface="Bitstream Charter"/>
              </a:rPr>
              <a:t>3  Approve and show the persisted case ID.</a:t>
            </a:r>
          </a:p>
          <a:p xmlns:a="http://schemas.openxmlformats.org/drawingml/2006/main">
            <a:r>
              <a:t/>
            </a:r>
          </a:p>
          <a:p xmlns:a="http://schemas.openxmlformats.org/drawingml/2006/main">
            <a:pPr>
              <a:defRPr sz="2025" b="0">
                <a:solidFill>
                  <a:srgbClr val="142B38"/>
                </a:solidFill>
                <a:latin typeface="Bitstream Charter"/>
                <a:ea typeface="Bitstream Charter"/>
                <a:cs typeface="Bitstream Charter"/>
              </a:defRPr>
            </a:pPr>
            <a:r>
              <a:rPr sz="2025" b="0">
                <a:solidFill>
                  <a:srgbClr val="142B38"/>
                </a:solidFill>
                <a:latin typeface="Bitstream Charter"/>
                <a:ea typeface="Bitstream Charter"/>
                <a:cs typeface="Bitstream Charter"/>
              </a:rPr>
              <a:t>4  Ask an unsupported retention question.</a:t>
            </a:r>
          </a:p>
          <a:p xmlns:a="http://schemas.openxmlformats.org/drawingml/2006/main">
            <a:r>
              <a:t/>
            </a:r>
          </a:p>
          <a:p xmlns:a="http://schemas.openxmlformats.org/drawingml/2006/main">
            <a:pPr>
              <a:defRPr sz="2025" b="0">
                <a:solidFill>
                  <a:srgbClr val="142B38"/>
                </a:solidFill>
                <a:latin typeface="Bitstream Charter"/>
                <a:ea typeface="Bitstream Charter"/>
                <a:cs typeface="Bitstream Charter"/>
              </a:defRPr>
            </a:pPr>
            <a:r>
              <a:rPr sz="2025" b="0">
                <a:solidFill>
                  <a:srgbClr val="142B38"/>
                </a:solidFill>
                <a:latin typeface="Bitstream Charter"/>
                <a:ea typeface="Bitstream Charter"/>
                <a:cs typeface="Bitstream Charter"/>
              </a:rPr>
              <a:t>5  Show abstention and no new case.</a:t>
            </a:r>
          </a:p>
        </p:txBody>
      </p:sp>
      <p:sp>
        <p:nvSpPr>
          <p:cNvPr id="5" name="">
            <a:extLst xmlns:a="http://schemas.openxmlformats.org/drawingml/2006/main">
              <a:ext uri="{FF2B5EF4-FFF2-40B4-BE49-F238E27FC236}">
                <a16:creationId xmlns:a16="http://schemas.microsoft.com/office/drawing/2014/main" id="{DE77F850-75CC-462C-89D4-8F9F23CBABA7}"/>
              </a:ext>
            </a:extLst>
          </p:cNvPr>
          <p:cNvSpPr>
            <a:spLocks xmlns:a="http://schemas.openxmlformats.org/drawingml/2006/main" noGrp="1"/>
          </p:cNvSpPr>
          <p:nvPr/>
        </p:nvSpPr>
        <p:spPr>
          <a:xfrm xmlns:a="http://schemas.openxmlformats.org/drawingml/2006/main">
            <a:off x="7277100" y="1628775"/>
            <a:ext cx="19050" cy="3857625"/>
          </a:xfrm>
          <a:prstGeom xmlns:a="http://schemas.openxmlformats.org/drawingml/2006/main" prst="rect">
            <a:avLst/>
          </a:prstGeom>
          <a:solidFill xmlns:a="http://schemas.openxmlformats.org/drawingml/2006/main">
            <a:srgbClr val="C7D8D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E8B4284-AE7A-47E3-8C47-D4813D32FEB1}"/>
              </a:ext>
            </a:extLst>
          </p:cNvPr>
          <p:cNvSpPr>
            <a:spLocks xmlns:a="http://schemas.openxmlformats.org/drawingml/2006/main" noGrp="1"/>
          </p:cNvSpPr>
          <p:nvPr/>
        </p:nvSpPr>
        <p:spPr>
          <a:xfrm xmlns:a="http://schemas.openxmlformats.org/drawingml/2006/main">
            <a:off x="7753350" y="1666875"/>
            <a:ext cx="3543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47A78"/>
                </a:solidFill>
                <a:latin typeface="Bitstream Charter"/>
                <a:ea typeface="Bitstream Charter"/>
                <a:cs typeface="Bitstream Charter"/>
              </a:defRPr>
            </a:pPr>
            <a:r>
              <a:rPr sz="2025" b="1">
                <a:solidFill>
                  <a:srgbClr val="047A78"/>
                </a:solidFill>
                <a:latin typeface="Bitstream Charter"/>
                <a:ea typeface="Bitstream Charter"/>
                <a:cs typeface="Bitstream Charter"/>
              </a:rPr>
              <a:t>What has been verified</a:t>
            </a:r>
          </a:p>
        </p:txBody>
      </p:sp>
      <p:sp>
        <p:nvSpPr>
          <p:cNvPr id="7" name="">
            <a:extLst xmlns:a="http://schemas.openxmlformats.org/drawingml/2006/main">
              <a:ext uri="{FF2B5EF4-FFF2-40B4-BE49-F238E27FC236}">
                <a16:creationId xmlns:a16="http://schemas.microsoft.com/office/drawing/2014/main" id="{9915D7C7-810A-4BA5-8351-E7C11AF69ED4}"/>
              </a:ext>
            </a:extLst>
          </p:cNvPr>
          <p:cNvSpPr>
            <a:spLocks xmlns:a="http://schemas.openxmlformats.org/drawingml/2006/main" noGrp="1"/>
          </p:cNvSpPr>
          <p:nvPr/>
        </p:nvSpPr>
        <p:spPr>
          <a:xfrm xmlns:a="http://schemas.openxmlformats.org/drawingml/2006/main">
            <a:off x="7753350" y="2343150"/>
            <a:ext cx="3476625" cy="2705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B38"/>
                </a:solidFill>
                <a:latin typeface="Bitstream Charter"/>
                <a:ea typeface="Bitstream Charter"/>
                <a:cs typeface="Bitstream Charter"/>
              </a:defRPr>
            </a:pPr>
            <a:r>
              <a:rPr sz="1950" b="0">
                <a:solidFill>
                  <a:srgbClr val="142B38"/>
                </a:solidFill>
                <a:latin typeface="Bitstream Charter"/>
                <a:ea typeface="Bitstream Charter"/>
                <a:cs typeface="Bitstream Charter"/>
              </a:rPr>
              <a:t>Automated application tests cover approval, rejection, citations, persistence, expiry and replay.</a:t>
            </a:r>
          </a:p>
          <a:p xmlns:a="http://schemas.openxmlformats.org/drawingml/2006/main">
            <a:r>
              <a:t/>
            </a:r>
          </a:p>
          <a:p xmlns:a="http://schemas.openxmlformats.org/drawingml/2006/main">
            <a:pPr>
              <a:defRPr sz="1950" b="0">
                <a:solidFill>
                  <a:srgbClr val="142B38"/>
                </a:solidFill>
                <a:latin typeface="Bitstream Charter"/>
                <a:ea typeface="Bitstream Charter"/>
                <a:cs typeface="Bitstream Charter"/>
              </a:defRPr>
            </a:pPr>
            <a:r>
              <a:rPr sz="1950" b="0">
                <a:solidFill>
                  <a:srgbClr val="142B38"/>
                </a:solidFill>
                <a:latin typeface="Bitstream Charter"/>
                <a:ea typeface="Bitstream Charter"/>
                <a:cs typeface="Bitstream Charter"/>
              </a:rPr>
              <a:t>Live model evaluation and final n8n run screenshots must be completed before submission.</a:t>
            </a:r>
          </a:p>
        </p:txBody>
      </p:sp>
      <p:sp>
        <p:nvSpPr>
          <p:cNvPr id="8" name="">
            <a:extLst xmlns:a="http://schemas.openxmlformats.org/drawingml/2006/main">
              <a:ext uri="{FF2B5EF4-FFF2-40B4-BE49-F238E27FC236}">
                <a16:creationId xmlns:a16="http://schemas.microsoft.com/office/drawing/2014/main" id="{6E9F97CB-989E-407F-AC66-FB10AB6F45DE}"/>
              </a:ext>
            </a:extLst>
          </p:cNvPr>
          <p:cNvSpPr>
            <a:spLocks xmlns:a="http://schemas.openxmlformats.org/drawingml/2006/main" noGrp="1"/>
          </p:cNvSpPr>
          <p:nvPr/>
        </p:nvSpPr>
        <p:spPr>
          <a:xfrm xmlns:a="http://schemas.openxmlformats.org/drawingml/2006/main">
            <a:off x="914400" y="60388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3"/>
                </a:solidFill>
                <a:latin typeface="Bitstream Charter"/>
                <a:ea typeface="Bitstream Charter"/>
                <a:cs typeface="Bitstream Charter"/>
              </a:defRPr>
            </a:pPr>
            <a:r>
              <a:rPr sz="1725" b="0">
                <a:solidFill>
                  <a:srgbClr val="506673"/>
                </a:solidFill>
                <a:latin typeface="Bitstream Charter"/>
                <a:ea typeface="Bitstream Charter"/>
                <a:cs typeface="Bitstream Charter"/>
              </a:rPr>
              <a:t>Production path: SSO / RBAC → document ACLs → case-system connector → monitored pilot</a:t>
            </a:r>
          </a:p>
        </p:txBody>
      </p:sp>
    </p:spTree>
    <p:extLst>
      <p:ext uri="{BB962C8B-B14F-4D97-AF65-F5344CB8AC3E}">
        <p14:creationId xmlns:p14="http://schemas.microsoft.com/office/powerpoint/2010/main" val="13846035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2026-09-10T18:17:01.4370000Z</dcterms:created>
  <dcterms:modified xsi:type="dcterms:W3CDTF">2026-09-10T18:17:01.4380000Z</dcterms:modified>
</coreProperties>
</file>